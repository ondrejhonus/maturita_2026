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75" r:id="rId6"/>
    <p:sldId id="276" r:id="rId7"/>
    <p:sldId id="273" r:id="rId8"/>
    <p:sldId id="278" r:id="rId9"/>
    <p:sldId id="265" r:id="rId10"/>
    <p:sldId id="266" r:id="rId11"/>
    <p:sldId id="268" r:id="rId12"/>
    <p:sldId id="277" r:id="rId13"/>
    <p:sldId id="270" r:id="rId14"/>
    <p:sldId id="269" r:id="rId15"/>
    <p:sldId id="274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28491B-5FD9-06C2-A217-4A1416DC15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4A19A3A-8921-D4FB-960C-EEDB55330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3FFD1C2-CF28-9A13-BD61-58D599DCF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68C2-FBBC-448E-A848-FDF112BE312F}" type="datetimeFigureOut">
              <a:rPr lang="cs-CZ" smtClean="0"/>
              <a:t>19.11.2024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860EAD8-7FAF-39D0-359C-065EA4676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58C9EE8-F4E0-A9B1-44F2-ED625C553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95C1-0DC7-4C07-99D7-69938C7C93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1230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045BAD-EFB8-7C6E-B664-56B2E1F81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824E40-A532-70E5-32F4-36D6A5880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76B7F1-3923-5AE2-3E37-E71A6E8B8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68C2-FBBC-448E-A848-FDF112BE312F}" type="datetimeFigureOut">
              <a:rPr lang="cs-CZ" smtClean="0"/>
              <a:t>19.11.2024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E523AE6-A671-A874-2735-FD3E5A61B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6B279E5-98C3-8703-2ED1-F9292CBC5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95C1-0DC7-4C07-99D7-69938C7C93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72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0B30DE-71C1-266E-10ED-306A9D3F5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5977276-43DB-FAF8-D125-8CB322A8FB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888DE3F-B4D7-7644-6719-7A749CB6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68C2-FBBC-448E-A848-FDF112BE312F}" type="datetimeFigureOut">
              <a:rPr lang="cs-CZ" smtClean="0"/>
              <a:t>19.11.2024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885FC85-4518-C267-C4C6-8B964CD39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341EE8C-9F8B-61E6-5DFD-6FF02732A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95C1-0DC7-4C07-99D7-69938C7C93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2420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89EE0E-080E-263D-281E-378283EB3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50E81BF-8BE2-5273-E909-EED725CFA1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AD657AB-2E18-B44D-1904-D13BC046E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A79E01C-3C97-1DEA-9426-554891156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68C2-FBBC-448E-A848-FDF112BE312F}" type="datetimeFigureOut">
              <a:rPr lang="cs-CZ" smtClean="0"/>
              <a:t>19.11.2024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4B3AFF6-F3E1-6909-EB41-3112C41D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47D9D62-57B0-259E-ADD1-8537624D9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95C1-0DC7-4C07-99D7-69938C7C93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763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7C4224-3186-1498-1447-415BE92A3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55251D1-D58D-234E-3644-7F26A897F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4022E63D-DD49-8A81-0123-53833ECAC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AB31364-56B0-B9BF-2289-781E1F98D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899B677-DE9E-2247-4749-26546DB9F6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89AF1578-329F-1856-90AE-B4CC58C0E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68C2-FBBC-448E-A848-FDF112BE312F}" type="datetimeFigureOut">
              <a:rPr lang="cs-CZ" smtClean="0"/>
              <a:t>19.11.2024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7BE78B7-C57D-9909-9B5C-AB8AD9072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1C90C19A-33FD-7BBD-2F2D-8CB68A708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95C1-0DC7-4C07-99D7-69938C7C93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7254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F0FC42-3792-012F-7C90-9CA01B006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020FB27-A6F3-5320-4B9E-84E77DDDB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68C2-FBBC-448E-A848-FDF112BE312F}" type="datetimeFigureOut">
              <a:rPr lang="cs-CZ" smtClean="0"/>
              <a:t>19.11.2024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621CF59-653A-91D1-99BC-1E41FD3C3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CC18CDD-B3F7-CCC6-48FB-958FA80BD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95C1-0DC7-4C07-99D7-69938C7C93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5170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BBE9AD52-20A0-102E-1BE0-8EB1D9895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68C2-FBBC-448E-A848-FDF112BE312F}" type="datetimeFigureOut">
              <a:rPr lang="cs-CZ" smtClean="0"/>
              <a:t>19.11.2024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716B6A74-3724-EBBD-9906-297774BB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D644EDE-3EBA-05DF-7771-469A9866B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95C1-0DC7-4C07-99D7-69938C7C93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802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2E1ADE-4F7B-E4DA-7BB5-834C4B7A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947EE56-83A2-10E7-04A3-B89D5CD90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E93C46B-D4F5-4A08-13C6-E3444F4B0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5B58238-FCF6-9CC2-D366-8B4E011C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68C2-FBBC-448E-A848-FDF112BE312F}" type="datetimeFigureOut">
              <a:rPr lang="cs-CZ" smtClean="0"/>
              <a:t>19.11.2024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B4D1132-04AB-D392-EEB4-CC0D6CAD4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5FA4DA7-EBBC-9EE2-0FE7-AA9DCE26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95C1-0DC7-4C07-99D7-69938C7C93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9079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BA6EC1-B565-DFD6-B039-70847AF9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DA2D3DB5-DFBD-9035-44A4-64EB3B6D0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58DF54A-9910-1D4F-9455-797C44710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6726C35-8965-7DFC-C1A3-E690979D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68C2-FBBC-448E-A848-FDF112BE312F}" type="datetimeFigureOut">
              <a:rPr lang="cs-CZ" smtClean="0"/>
              <a:t>19.11.2024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9E63171-3590-5A85-1185-EA2ACC902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F863620-C0D4-49AF-5867-66822A26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95C1-0DC7-4C07-99D7-69938C7C93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6234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6C28AA-B8DE-CF0D-B70E-5BA0E79D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FC6E2E4-2E8A-A8DA-56A5-AC7C2210D9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90A2A95-33A9-3798-BD76-5A1106ED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68C2-FBBC-448E-A848-FDF112BE312F}" type="datetimeFigureOut">
              <a:rPr lang="cs-CZ" smtClean="0"/>
              <a:t>19.11.2024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7ADDCC-1314-49C5-C2BE-3C9403BCA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3CE1395-D8CE-2023-D463-F74FFF85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95C1-0DC7-4C07-99D7-69938C7C93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52935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9795B88-22D4-B0D4-7B13-07F670F2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B64194B-0F3B-BC9D-6E23-6AF70913B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C36ADB-2833-D5C0-A335-05FF181D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268C2-FBBC-448E-A848-FDF112BE312F}" type="datetimeFigureOut">
              <a:rPr lang="cs-CZ" smtClean="0"/>
              <a:t>19.11.2024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C8BAE6D-C2BB-43CE-55A5-73B0638DF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AECA26-D0FA-E7A2-3491-CD8560EF7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95C1-0DC7-4C07-99D7-69938C7C93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0513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3245DFCA-2794-9FA1-97AA-99E6B4B4E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22F31B6-0E70-9120-8187-D5702B5A1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3E09BDE-806E-AFDE-E2E8-F603593C1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0268C2-FBBC-448E-A848-FDF112BE312F}" type="datetimeFigureOut">
              <a:rPr lang="cs-CZ" smtClean="0"/>
              <a:t>19.11.2024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0021AAE-2BAA-AD57-4BF6-73E1EA510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C583F3C-D0C9-565A-411E-FA7210F45C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695C1-0DC7-4C07-99D7-69938C7C93B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2720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text, Grafika, prostor&#10;&#10;Popis byl vytvořen automaticky">
            <a:extLst>
              <a:ext uri="{FF2B5EF4-FFF2-40B4-BE49-F238E27FC236}">
                <a16:creationId xmlns:a16="http://schemas.microsoft.com/office/drawing/2014/main" id="{FAF1C876-301D-761D-7868-4A29CA7791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66"/>
          <a:stretch/>
        </p:blipFill>
        <p:spPr>
          <a:xfrm>
            <a:off x="20" y="10"/>
            <a:ext cx="12188931" cy="685799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D8BD6312-AF69-1796-BB49-FD9174AA8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r>
              <a:rPr lang="cs-CZ" sz="6600" dirty="0">
                <a:solidFill>
                  <a:schemeClr val="bg1"/>
                </a:solidFill>
              </a:rPr>
              <a:t>Souborové systémy</a:t>
            </a:r>
          </a:p>
        </p:txBody>
      </p:sp>
      <p:sp>
        <p:nvSpPr>
          <p:cNvPr id="17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636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F6E19FC9-F7F1-EC19-79AD-2CE61B56DA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72"/>
          <a:stretch/>
        </p:blipFill>
        <p:spPr>
          <a:xfrm>
            <a:off x="2555441" y="10"/>
            <a:ext cx="966964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583165F-A458-F683-9582-314D32E5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18" y="410392"/>
            <a:ext cx="5187635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/>
              <a:t>Co je to </a:t>
            </a:r>
            <a:r>
              <a:rPr lang="en-US" sz="4000" b="1" dirty="0" err="1"/>
              <a:t>souborový</a:t>
            </a:r>
            <a:r>
              <a:rPr lang="en-US" sz="4000" b="1" dirty="0"/>
              <a:t> </a:t>
            </a:r>
            <a:r>
              <a:rPr lang="en-US" sz="4000" b="1" dirty="0" err="1"/>
              <a:t>systém</a:t>
            </a:r>
            <a:r>
              <a:rPr lang="en-US" sz="4000" b="1" dirty="0"/>
              <a:t>?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C383CF45-A599-5F07-7B07-99E0E9F87800}"/>
              </a:ext>
            </a:extLst>
          </p:cNvPr>
          <p:cNvSpPr txBox="1"/>
          <p:nvPr/>
        </p:nvSpPr>
        <p:spPr>
          <a:xfrm>
            <a:off x="307818" y="3115238"/>
            <a:ext cx="5341545" cy="3742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Data</a:t>
            </a:r>
            <a:r>
              <a:rPr lang="en-US" sz="2000" b="1" i="0" dirty="0">
                <a:solidFill>
                  <a:srgbClr val="FF0000"/>
                </a:solidFill>
                <a:effectLst/>
              </a:rPr>
              <a:t> </a:t>
            </a:r>
            <a:r>
              <a:rPr lang="en-US" sz="2000" b="0" i="0" dirty="0" err="1">
                <a:effectLst/>
              </a:rPr>
              <a:t>uložená</a:t>
            </a:r>
            <a:r>
              <a:rPr lang="en-US" sz="2000" b="0" i="0" dirty="0">
                <a:effectLst/>
              </a:rPr>
              <a:t> v </a:t>
            </a:r>
            <a:r>
              <a:rPr lang="en-US" sz="2000" b="0" i="0" dirty="0" err="1">
                <a:effectLst/>
              </a:rPr>
              <a:t>pojmenovaných</a:t>
            </a:r>
            <a:r>
              <a:rPr lang="en-US" sz="2000" b="0" i="0" dirty="0">
                <a:effectLst/>
              </a:rPr>
              <a:t> </a:t>
            </a:r>
            <a:r>
              <a:rPr lang="en-US" sz="2000" b="0" i="0" dirty="0" err="1">
                <a:effectLst/>
              </a:rPr>
              <a:t>souborech</a:t>
            </a:r>
            <a:endParaRPr lang="cs-CZ" sz="2000" dirty="0"/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dirty="0">
              <a:effectLst/>
            </a:endParaRP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Soubory</a:t>
            </a:r>
            <a:r>
              <a:rPr lang="en-US" sz="2000" b="0" i="0" dirty="0">
                <a:effectLst/>
              </a:rPr>
              <a:t> v </a:t>
            </a:r>
            <a:r>
              <a:rPr lang="en-US" sz="2000" b="0" i="0" dirty="0" err="1">
                <a:effectLst/>
              </a:rPr>
              <a:t>adresářích</a:t>
            </a:r>
            <a:endParaRPr lang="cs-CZ" sz="2000" b="0" i="0" dirty="0">
              <a:effectLst/>
            </a:endParaRP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dirty="0">
              <a:effectLst/>
            </a:endParaRP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Způsob</a:t>
            </a:r>
            <a:r>
              <a:rPr lang="en-US" sz="2000" b="0" i="0" dirty="0">
                <a:effectLst/>
              </a:rPr>
              <a:t> </a:t>
            </a:r>
            <a:r>
              <a:rPr lang="en-US" sz="2000" b="0" i="0" dirty="0" err="1">
                <a:effectLst/>
              </a:rPr>
              <a:t>organizace</a:t>
            </a:r>
            <a:r>
              <a:rPr lang="en-US" sz="2000" b="0" i="0" dirty="0">
                <a:effectLst/>
              </a:rPr>
              <a:t> </a:t>
            </a:r>
            <a:r>
              <a:rPr lang="en-US" sz="2000" b="0" i="0" dirty="0" err="1">
                <a:effectLst/>
              </a:rPr>
              <a:t>dat</a:t>
            </a:r>
            <a:r>
              <a:rPr lang="en-US" sz="2000" b="0" i="0" dirty="0">
                <a:effectLst/>
              </a:rPr>
              <a:t> </a:t>
            </a:r>
            <a:r>
              <a:rPr lang="en-US" sz="2000" b="0" i="0" dirty="0" err="1">
                <a:effectLst/>
              </a:rPr>
              <a:t>na</a:t>
            </a:r>
            <a:r>
              <a:rPr lang="en-US" sz="2000" b="0" i="0" dirty="0">
                <a:effectLst/>
              </a:rPr>
              <a:t> </a:t>
            </a:r>
            <a:r>
              <a:rPr lang="en-US" sz="2000" b="0" i="0" dirty="0" err="1">
                <a:effectLst/>
              </a:rPr>
              <a:t>disku</a:t>
            </a:r>
            <a:r>
              <a:rPr lang="en-US" sz="2000" b="0" i="0" dirty="0">
                <a:effectLst/>
              </a:rPr>
              <a:t> </a:t>
            </a:r>
            <a:endParaRPr lang="cs-CZ" sz="2000" b="0" i="0" dirty="0">
              <a:effectLst/>
            </a:endParaRP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dirty="0">
              <a:effectLst/>
            </a:endParaRP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Hierarchická </a:t>
            </a:r>
            <a:r>
              <a:rPr lang="en-US" sz="20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struktura</a:t>
            </a:r>
            <a:r>
              <a:rPr lang="en-US" sz="2000" b="0" i="0" dirty="0"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lang="en-US" sz="2000" b="0" i="0" dirty="0" err="1">
                <a:effectLst/>
              </a:rPr>
              <a:t>adresářů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89694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83165F-A458-F683-9582-314D32E5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940" y="365125"/>
            <a:ext cx="10515600" cy="1325563"/>
          </a:xfrm>
        </p:spPr>
        <p:txBody>
          <a:bodyPr/>
          <a:lstStyle/>
          <a:p>
            <a:r>
              <a:rPr lang="cs-CZ" b="1" dirty="0"/>
              <a:t>Souborové systémy v Linuxu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C383CF45-A599-5F07-7B07-99E0E9F87800}"/>
              </a:ext>
            </a:extLst>
          </p:cNvPr>
          <p:cNvSpPr txBox="1"/>
          <p:nvPr/>
        </p:nvSpPr>
        <p:spPr>
          <a:xfrm>
            <a:off x="497940" y="1857707"/>
            <a:ext cx="6446524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cs-CZ" sz="24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EXT2</a:t>
            </a:r>
            <a:r>
              <a:rPr lang="cs-CZ" sz="2400" b="0" i="0" dirty="0">
                <a:effectLst/>
              </a:rPr>
              <a:t> – </a:t>
            </a:r>
            <a:r>
              <a:rPr lang="cs-CZ" sz="1600" b="0" i="0" dirty="0">
                <a:effectLst/>
              </a:rPr>
              <a:t>Souborový systém bez </a:t>
            </a:r>
            <a:r>
              <a:rPr lang="cs-CZ" sz="1600" b="0" i="0" dirty="0" err="1">
                <a:effectLst/>
              </a:rPr>
              <a:t>žurnálování</a:t>
            </a:r>
            <a:r>
              <a:rPr lang="cs-CZ" sz="1600" b="0" i="0" dirty="0">
                <a:effectLst/>
              </a:rPr>
              <a:t>, výhodný pro menší disky, ale s menší odolností proti pádům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cs-CZ" sz="1600" b="0" i="0" dirty="0">
              <a:effectLst/>
            </a:endParaRPr>
          </a:p>
          <a:p>
            <a:pPr fontAlgn="base">
              <a:buFont typeface="Arial" panose="020B0604020202020204" pitchFamily="34" charset="0"/>
              <a:buChar char="•"/>
            </a:pPr>
            <a:r>
              <a:rPr lang="cs-CZ" sz="24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EXT3</a:t>
            </a:r>
            <a:r>
              <a:rPr lang="cs-CZ" sz="2400" b="1" i="0" dirty="0">
                <a:solidFill>
                  <a:srgbClr val="FF0000"/>
                </a:solidFill>
                <a:effectLst/>
              </a:rPr>
              <a:t> </a:t>
            </a:r>
            <a:r>
              <a:rPr lang="cs-CZ" sz="2400" b="0" i="0" dirty="0">
                <a:effectLst/>
              </a:rPr>
              <a:t>- </a:t>
            </a:r>
            <a:r>
              <a:rPr lang="cs-CZ" dirty="0"/>
              <a:t>Vylepšená verze EXT2 s podporou </a:t>
            </a:r>
            <a:r>
              <a:rPr lang="cs-CZ" dirty="0" err="1"/>
              <a:t>žurnálování</a:t>
            </a:r>
            <a:r>
              <a:rPr lang="cs-CZ" dirty="0"/>
              <a:t>, což zlepšuje bezpečnost dat a možnost obnovy po pádu.</a:t>
            </a:r>
            <a:endParaRPr lang="cs-CZ" sz="2400" b="1" i="0" dirty="0">
              <a:solidFill>
                <a:schemeClr val="accent5">
                  <a:lumMod val="75000"/>
                </a:schemeClr>
              </a:solidFill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cs-CZ" sz="2400" b="0" i="0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cs-CZ" sz="24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JFS</a:t>
            </a:r>
            <a:r>
              <a:rPr lang="cs-CZ" sz="2400" b="0" i="0" dirty="0">
                <a:effectLst/>
              </a:rPr>
              <a:t> - </a:t>
            </a:r>
            <a:r>
              <a:rPr lang="cs-CZ" dirty="0"/>
              <a:t>Souborový systém s </a:t>
            </a:r>
            <a:r>
              <a:rPr lang="cs-CZ" dirty="0" err="1"/>
              <a:t>žurnálováním</a:t>
            </a:r>
            <a:r>
              <a:rPr lang="cs-CZ" dirty="0"/>
              <a:t> od IBM, zaměřený na efektivní práci s velkými soubory a rychlou obnovu.</a:t>
            </a:r>
            <a:endParaRPr lang="cs-CZ" b="0" i="0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endParaRPr lang="cs-CZ" sz="2400" b="0" i="0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XFS</a:t>
            </a:r>
            <a:r>
              <a:rPr lang="cs-CZ" sz="2400" dirty="0"/>
              <a:t> - </a:t>
            </a:r>
            <a:r>
              <a:rPr lang="cs-CZ" dirty="0"/>
              <a:t>Výkonný souborový systém s 64bitovým adresováním, ideální pro velké servery a rozsáhlá úložiště dat.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cs-CZ" sz="2400" b="0" i="0" dirty="0">
              <a:effectLst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cs-CZ" sz="2400" b="0" i="0" dirty="0">
                <a:effectLst/>
              </a:rPr>
              <a:t>Linux umí pracovat i se souborovými systémy Windows (</a:t>
            </a:r>
            <a:r>
              <a:rPr lang="cs-CZ" sz="24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NTFS</a:t>
            </a:r>
            <a:r>
              <a:rPr lang="cs-CZ" sz="2400" b="0" i="0" dirty="0">
                <a:effectLst/>
              </a:rPr>
              <a:t> a </a:t>
            </a:r>
            <a:r>
              <a:rPr lang="cs-CZ" sz="24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FAT32</a:t>
            </a:r>
            <a:r>
              <a:rPr lang="cs-CZ" sz="2400" b="0" i="0" dirty="0">
                <a:effectLst/>
              </a:rPr>
              <a:t>) </a:t>
            </a:r>
          </a:p>
        </p:txBody>
      </p:sp>
      <p:pic>
        <p:nvPicPr>
          <p:cNvPr id="4" name="Obrázek 3" descr="Obsah obrázku hračka, pták, Postavička zvířete, tučňák&#10;&#10;Popis byl vytvořen automaticky">
            <a:extLst>
              <a:ext uri="{FF2B5EF4-FFF2-40B4-BE49-F238E27FC236}">
                <a16:creationId xmlns:a16="http://schemas.microsoft.com/office/drawing/2014/main" id="{278D9172-F7C4-A6AE-15AE-749E4B790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7757" y="1629930"/>
            <a:ext cx="4103751" cy="486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16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83165F-A458-F683-9582-314D32E5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EXT4</a:t>
            </a: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EF9CBC9E-35F9-E383-6D3E-886A145FE8A2}"/>
              </a:ext>
            </a:extLst>
          </p:cNvPr>
          <p:cNvSpPr txBox="1"/>
          <p:nvPr/>
        </p:nvSpPr>
        <p:spPr>
          <a:xfrm>
            <a:off x="551291" y="2413337"/>
            <a:ext cx="6148273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Systém 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EXT4</a:t>
            </a:r>
            <a:r>
              <a:rPr lang="cs-CZ" dirty="0"/>
              <a:t> může být použit na svazku o velikosti až 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1</a:t>
            </a:r>
            <a:r>
              <a:rPr lang="cs-CZ" b="1" dirty="0">
                <a:solidFill>
                  <a:srgbClr val="FF0000"/>
                </a:solidFill>
              </a:rPr>
              <a:t> 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EiB</a:t>
            </a:r>
            <a:r>
              <a:rPr lang="cs-CZ" dirty="0"/>
              <a:t> (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1024 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PiB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cs-CZ" dirty="0"/>
              <a:t>– 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pebibytů</a:t>
            </a:r>
            <a:r>
              <a:rPr lang="cs-CZ" dirty="0"/>
              <a:t>, přibližně 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1018 bajtů</a:t>
            </a:r>
            <a:r>
              <a:rPr lang="cs-CZ" dirty="0"/>
              <a:t>), podporuje </a:t>
            </a:r>
            <a:r>
              <a:rPr lang="cs-CZ" dirty="0" err="1"/>
              <a:t>extenty</a:t>
            </a:r>
            <a:r>
              <a:rPr lang="cs-CZ" dirty="0"/>
              <a:t> a odstraňuje limit původního systému 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EXT3</a:t>
            </a:r>
            <a:r>
              <a:rPr lang="cs-CZ" dirty="0"/>
              <a:t>, jež mohl obsahovat v adresáři maximálně</a:t>
            </a:r>
            <a:r>
              <a:rPr lang="cs-CZ" b="1" dirty="0">
                <a:solidFill>
                  <a:srgbClr val="FF0000"/>
                </a:solidFill>
              </a:rPr>
              <a:t> 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32 768</a:t>
            </a:r>
            <a:r>
              <a:rPr lang="cs-CZ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cs-CZ" dirty="0"/>
              <a:t>podadresářů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dirty="0"/>
              <a:t> </a:t>
            </a:r>
            <a:r>
              <a:rPr lang="en-US" dirty="0"/>
              <a:t>P</a:t>
            </a:r>
            <a:r>
              <a:rPr lang="cs-CZ" dirty="0" err="1"/>
              <a:t>odpora</a:t>
            </a:r>
            <a:r>
              <a:rPr lang="cs-CZ" dirty="0"/>
              <a:t> nanosekundových časových razítek.</a:t>
            </a:r>
          </a:p>
        </p:txBody>
      </p:sp>
      <p:pic>
        <p:nvPicPr>
          <p:cNvPr id="4" name="Picture 4" descr="Creating and mounting an ext4 file system - Knoldus Blogs">
            <a:extLst>
              <a:ext uri="{FF2B5EF4-FFF2-40B4-BE49-F238E27FC236}">
                <a16:creationId xmlns:a16="http://schemas.microsoft.com/office/drawing/2014/main" id="{D2DB1876-E768-EF1A-5387-20ED3C300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41536" y="2172832"/>
            <a:ext cx="4386143" cy="2667249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942600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3441F3-AAC3-0F2B-8FA7-3839FCF9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451" y="72726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cs-CZ" sz="4900" b="1" dirty="0"/>
              <a:t>Kategorie souborových systémů a zaměření na bezpečnost, </a:t>
            </a:r>
            <a:r>
              <a:rPr lang="cs-CZ" sz="4900" b="1" dirty="0" err="1"/>
              <a:t>žurnálování</a:t>
            </a:r>
            <a:r>
              <a:rPr lang="cs-CZ" sz="4900" b="1" dirty="0"/>
              <a:t>, transakční zpracování</a:t>
            </a:r>
            <a:endParaRPr lang="cs-CZ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E8FBCC71-EABC-E043-A5D6-EA9E94DD6E28}"/>
              </a:ext>
            </a:extLst>
          </p:cNvPr>
          <p:cNvSpPr txBox="1"/>
          <p:nvPr/>
        </p:nvSpPr>
        <p:spPr>
          <a:xfrm>
            <a:off x="711451" y="2821085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000" b="1" dirty="0">
                <a:solidFill>
                  <a:schemeClr val="accent5">
                    <a:lumMod val="75000"/>
                  </a:schemeClr>
                </a:solidFill>
              </a:rPr>
              <a:t>EXT4 (Linux):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6F14460-34DE-2B80-63D1-4C781A4E8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451" y="3504286"/>
            <a:ext cx="10575331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Kapacita fyzických disků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EXT4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dokáže efektivně pracovat s velkými úložišti (až do velikosti </a:t>
            </a: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1 </a:t>
            </a: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EiB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Žurnálování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Ukládá informace o dokončených operacích pro jednodušší obnovu po pádu systému.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Transakční zpracování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Zajišťuje, aby zápisy na disk byly atomické a bezpečné.</a:t>
            </a:r>
          </a:p>
        </p:txBody>
      </p:sp>
    </p:spTree>
    <p:extLst>
      <p:ext uri="{BB962C8B-B14F-4D97-AF65-F5344CB8AC3E}">
        <p14:creationId xmlns:p14="http://schemas.microsoft.com/office/powerpoint/2010/main" val="492906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3441F3-AAC3-0F2B-8FA7-3839FCF9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451" y="582409"/>
            <a:ext cx="10515600" cy="1325563"/>
          </a:xfrm>
        </p:spPr>
        <p:txBody>
          <a:bodyPr>
            <a:normAutofit/>
          </a:bodyPr>
          <a:lstStyle/>
          <a:p>
            <a:r>
              <a:rPr lang="cs-CZ" b="1" dirty="0"/>
              <a:t>Stromová struktura uložení dat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E8FBCC71-EABC-E043-A5D6-EA9E94DD6E28}"/>
              </a:ext>
            </a:extLst>
          </p:cNvPr>
          <p:cNvSpPr txBox="1"/>
          <p:nvPr/>
        </p:nvSpPr>
        <p:spPr>
          <a:xfrm>
            <a:off x="711451" y="2169235"/>
            <a:ext cx="609750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000" b="1" dirty="0">
                <a:solidFill>
                  <a:schemeClr val="accent5">
                    <a:lumMod val="75000"/>
                  </a:schemeClr>
                </a:solidFill>
              </a:rPr>
              <a:t>EXT</a:t>
            </a:r>
            <a:r>
              <a:rPr lang="cs-CZ" sz="2000" dirty="0"/>
              <a:t> používá </a:t>
            </a:r>
            <a:r>
              <a:rPr lang="cs-CZ" sz="2000" b="1" dirty="0">
                <a:solidFill>
                  <a:schemeClr val="accent5">
                    <a:lumMod val="75000"/>
                  </a:schemeClr>
                </a:solidFill>
              </a:rPr>
              <a:t>blokové skupiny</a:t>
            </a:r>
            <a:r>
              <a:rPr lang="cs-CZ" sz="2000" dirty="0"/>
              <a:t>, které mají konzistentní vnitřní strukturu. Každá bloková skupina obsahuje:</a:t>
            </a:r>
          </a:p>
          <a:p>
            <a:endParaRPr lang="cs-CZ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 err="1">
                <a:solidFill>
                  <a:schemeClr val="accent5">
                    <a:lumMod val="75000"/>
                  </a:schemeClr>
                </a:solidFill>
              </a:rPr>
              <a:t>Superblok</a:t>
            </a:r>
            <a:r>
              <a:rPr lang="cs-CZ" sz="2000" dirty="0"/>
              <a:t>: Zahrnuje metadata o celém souborovém systému.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>
                <a:solidFill>
                  <a:schemeClr val="accent5">
                    <a:lumMod val="75000"/>
                  </a:schemeClr>
                </a:solidFill>
              </a:rPr>
              <a:t>Tabulka </a:t>
            </a:r>
            <a:r>
              <a:rPr lang="cs-CZ" sz="2000" b="1" dirty="0" err="1">
                <a:solidFill>
                  <a:schemeClr val="accent5">
                    <a:lumMod val="75000"/>
                  </a:schemeClr>
                </a:solidFill>
              </a:rPr>
              <a:t>inodů</a:t>
            </a:r>
            <a:r>
              <a:rPr lang="cs-CZ" sz="2000" dirty="0"/>
              <a:t>: Ukládá informace (práva, časové značky, ukazatele na datové bloky) o souborech.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>
                <a:solidFill>
                  <a:schemeClr val="accent5">
                    <a:lumMod val="75000"/>
                  </a:schemeClr>
                </a:solidFill>
              </a:rPr>
              <a:t>Datové bloky</a:t>
            </a:r>
            <a:r>
              <a:rPr lang="cs-CZ" sz="2000" dirty="0"/>
              <a:t>: Obsahují skutečný obsah souborů a adresářů.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sz="2000" b="1" dirty="0">
                <a:solidFill>
                  <a:schemeClr val="accent5">
                    <a:lumMod val="75000"/>
                  </a:schemeClr>
                </a:solidFill>
              </a:rPr>
              <a:t>Adresáře</a:t>
            </a:r>
            <a:r>
              <a:rPr lang="cs-CZ" sz="2000" dirty="0"/>
              <a:t>: Jsou strukturovány stromově, což umožňuje hierarchickou organizaci souborů.</a:t>
            </a:r>
          </a:p>
        </p:txBody>
      </p:sp>
      <p:pic>
        <p:nvPicPr>
          <p:cNvPr id="4" name="Obrázek 3" descr="Obsah obrázku snímek obrazovky, řada/pruh, Vykreslený graf&#10;&#10;Popis byl vytvořen automaticky">
            <a:extLst>
              <a:ext uri="{FF2B5EF4-FFF2-40B4-BE49-F238E27FC236}">
                <a16:creationId xmlns:a16="http://schemas.microsoft.com/office/drawing/2014/main" id="{9B6E6DF8-2516-4CF5-5FD2-E934C58C6A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959" y="2708543"/>
            <a:ext cx="5266662" cy="239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626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83165F-A458-F683-9582-314D32E5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Základní adresářová struktura v Linuxu</a:t>
            </a: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EF9CBC9E-35F9-E383-6D3E-886A145FE8A2}"/>
              </a:ext>
            </a:extLst>
          </p:cNvPr>
          <p:cNvSpPr txBox="1"/>
          <p:nvPr/>
        </p:nvSpPr>
        <p:spPr>
          <a:xfrm>
            <a:off x="262891" y="2506688"/>
            <a:ext cx="6097508" cy="31393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/ (Kořenový adresář)  </a:t>
            </a:r>
          </a:p>
          <a:p>
            <a:pPr marL="0" indent="0">
              <a:buNone/>
            </a:pPr>
            <a:r>
              <a:rPr lang="cs-CZ" dirty="0"/>
              <a:t>Nejvyšší adresář v adresářové struktuře </a:t>
            </a:r>
          </a:p>
          <a:p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/bin (Binární soubory) </a:t>
            </a:r>
          </a:p>
          <a:p>
            <a:pPr marL="0" indent="0">
              <a:buNone/>
            </a:pPr>
            <a:r>
              <a:rPr lang="cs-CZ" dirty="0"/>
              <a:t>Obsahuje spustitelné binární soubory, které jsou potřebné pro základní funkce systému a spouštění v režimu jednoduchého uživatele. </a:t>
            </a:r>
          </a:p>
          <a:p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sbin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(Systémové binární soubory) </a:t>
            </a:r>
          </a:p>
          <a:p>
            <a:pPr marL="0" indent="0">
              <a:buNone/>
            </a:pPr>
            <a:r>
              <a:rPr lang="cs-CZ" dirty="0"/>
              <a:t>Systémové nástroje a programy, které vyžadují vyšší oprávnění pro spuštění </a:t>
            </a:r>
          </a:p>
          <a:p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etc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(Konfigurační soubory) </a:t>
            </a:r>
          </a:p>
          <a:p>
            <a:pPr marL="0" indent="0">
              <a:buNone/>
            </a:pPr>
            <a:r>
              <a:rPr lang="cs-CZ" dirty="0"/>
              <a:t>Obsahuje konfigurační soubory pro systém a různé aplikace. 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0956175-9E55-19EC-02A4-A12D036C4661}"/>
              </a:ext>
            </a:extLst>
          </p:cNvPr>
          <p:cNvSpPr txBox="1"/>
          <p:nvPr/>
        </p:nvSpPr>
        <p:spPr>
          <a:xfrm>
            <a:off x="6360399" y="2368189"/>
            <a:ext cx="6097508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buClr>
                <a:schemeClr val="accent2"/>
              </a:buClr>
            </a:pP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home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(Domovské adresáře uživatelů) </a:t>
            </a:r>
          </a:p>
          <a:p>
            <a:pPr>
              <a:buClr>
                <a:schemeClr val="accent2"/>
              </a:buClr>
            </a:pPr>
            <a:r>
              <a:rPr lang="cs-CZ" dirty="0">
                <a:solidFill>
                  <a:schemeClr val="tx2">
                    <a:lumMod val="75000"/>
                  </a:schemeClr>
                </a:solidFill>
              </a:rPr>
              <a:t>Místo, kde uživatelé ukládají své osobní soubory a konfigurace. </a:t>
            </a:r>
          </a:p>
          <a:p>
            <a:pPr>
              <a:buClr>
                <a:schemeClr val="accent2"/>
              </a:buClr>
            </a:pP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usr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(Uživatelský software) </a:t>
            </a:r>
          </a:p>
          <a:p>
            <a:pPr>
              <a:buClr>
                <a:schemeClr val="accent2"/>
              </a:buClr>
            </a:pPr>
            <a:r>
              <a:rPr lang="cs-CZ" dirty="0">
                <a:solidFill>
                  <a:schemeClr val="tx2">
                    <a:lumMod val="75000"/>
                  </a:schemeClr>
                </a:solidFill>
              </a:rPr>
              <a:t>Obsahuje většinu aplikací a datových souborů, které jsou určeny pro běžné uživatele. </a:t>
            </a:r>
          </a:p>
          <a:p>
            <a:pPr>
              <a:buClr>
                <a:schemeClr val="accent2"/>
              </a:buClr>
            </a:pP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/var (Variabilní data) </a:t>
            </a:r>
          </a:p>
          <a:p>
            <a:pPr>
              <a:buClr>
                <a:schemeClr val="accent2"/>
              </a:buClr>
            </a:pPr>
            <a:r>
              <a:rPr lang="cs-CZ" dirty="0">
                <a:solidFill>
                  <a:schemeClr val="tx2">
                    <a:lumMod val="75000"/>
                  </a:schemeClr>
                </a:solidFill>
              </a:rPr>
              <a:t>Data, která se mění během provozu systému. </a:t>
            </a:r>
          </a:p>
          <a:p>
            <a:pPr>
              <a:buClr>
                <a:schemeClr val="accent2"/>
              </a:buClr>
            </a:pP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tmp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(Dočasné soubory) </a:t>
            </a:r>
          </a:p>
          <a:p>
            <a:pPr>
              <a:buClr>
                <a:schemeClr val="accent2"/>
              </a:buClr>
            </a:pPr>
            <a:r>
              <a:rPr lang="cs-CZ" dirty="0">
                <a:solidFill>
                  <a:schemeClr val="tx2">
                    <a:lumMod val="75000"/>
                  </a:schemeClr>
                </a:solidFill>
              </a:rPr>
              <a:t>Slouží k ukládání dočasných souborů a adresářů </a:t>
            </a:r>
          </a:p>
          <a:p>
            <a:pPr>
              <a:buClr>
                <a:schemeClr val="accent2"/>
              </a:buClr>
            </a:pP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dev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(Zařízení) </a:t>
            </a:r>
          </a:p>
          <a:p>
            <a:pPr>
              <a:buClr>
                <a:schemeClr val="accent2"/>
              </a:buClr>
            </a:pPr>
            <a:r>
              <a:rPr lang="cs-CZ" dirty="0">
                <a:solidFill>
                  <a:schemeClr val="tx2">
                    <a:lumMod val="75000"/>
                  </a:schemeClr>
                </a:solidFill>
              </a:rPr>
              <a:t>Soubory reprezentující fyzická a virtuální zařízení </a:t>
            </a:r>
          </a:p>
        </p:txBody>
      </p:sp>
    </p:spTree>
    <p:extLst>
      <p:ext uri="{BB962C8B-B14F-4D97-AF65-F5344CB8AC3E}">
        <p14:creationId xmlns:p14="http://schemas.microsoft.com/office/powerpoint/2010/main" val="962934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83165F-A458-F683-9582-314D32E5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Vysvětlení fyzických disků a oddílů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1B68B65-49CA-42A3-FAFC-AA03CBEC4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946558"/>
            <a:ext cx="856195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Primární oddíl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Obsahuje </a:t>
            </a:r>
            <a:r>
              <a:rPr kumimoji="0" lang="cs-CZ" altLang="cs-CZ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sektor se zavaděčem 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altLang="cs-CZ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Rozšířený oddíl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Umožňuje mít více logických oddílů na jednom fyzickém disku. 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B015EBB2-5771-E7DF-79A5-1637333AB4CF}"/>
              </a:ext>
            </a:extLst>
          </p:cNvPr>
          <p:cNvSpPr txBox="1"/>
          <p:nvPr/>
        </p:nvSpPr>
        <p:spPr>
          <a:xfrm>
            <a:off x="838200" y="3244334"/>
            <a:ext cx="5444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Příkazy</a:t>
            </a:r>
            <a:r>
              <a:rPr lang="cs-CZ" dirty="0"/>
              <a:t>: Pro rozdělení a formátování v </a:t>
            </a:r>
            <a:r>
              <a:rPr lang="cs-CZ" dirty="0" err="1"/>
              <a:t>linuxu</a:t>
            </a:r>
            <a:r>
              <a:rPr lang="cs-CZ" dirty="0"/>
              <a:t> 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E3BE3D20-7169-4BBB-814F-1864F66F4AAA}"/>
              </a:ext>
            </a:extLst>
          </p:cNvPr>
          <p:cNvSpPr txBox="1"/>
          <p:nvPr/>
        </p:nvSpPr>
        <p:spPr>
          <a:xfrm>
            <a:off x="838200" y="4015272"/>
            <a:ext cx="6391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fdisk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 /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dev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sdX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cs-CZ" dirty="0"/>
              <a:t>– pro vytvoření oddílu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cs-CZ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mkfs.ext4  /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dev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/sdX1 </a:t>
            </a:r>
            <a:r>
              <a:rPr lang="cs-CZ" dirty="0"/>
              <a:t>– pro formátování oddílu pro 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EXT4</a:t>
            </a:r>
          </a:p>
        </p:txBody>
      </p:sp>
      <p:pic>
        <p:nvPicPr>
          <p:cNvPr id="12" name="Grafický objekt 11">
            <a:extLst>
              <a:ext uri="{FF2B5EF4-FFF2-40B4-BE49-F238E27FC236}">
                <a16:creationId xmlns:a16="http://schemas.microsoft.com/office/drawing/2014/main" id="{48DD6728-CC48-6043-E356-CFC3CA349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35243" y="2932284"/>
            <a:ext cx="40005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94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583165F-A458-F683-9582-314D32E5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Hlavní rozdíly souborového systému Linuxu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EF9CBC9E-35F9-E383-6D3E-886A145FE8A2}"/>
              </a:ext>
            </a:extLst>
          </p:cNvPr>
          <p:cNvSpPr txBox="1"/>
          <p:nvPr/>
        </p:nvSpPr>
        <p:spPr>
          <a:xfrm>
            <a:off x="630935" y="2807208"/>
            <a:ext cx="3876409" cy="390818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Rozlišuje</a:t>
            </a:r>
            <a:r>
              <a:rPr lang="en-US" sz="16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 se </a:t>
            </a:r>
            <a:r>
              <a:rPr lang="en-US" sz="16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velikost</a:t>
            </a:r>
            <a:r>
              <a:rPr lang="en-US" sz="16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lang="en-US" sz="16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písmen</a:t>
            </a:r>
            <a:r>
              <a:rPr lang="en-US" sz="16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 </a:t>
            </a:r>
          </a:p>
          <a:p>
            <a:pPr fontAlgn="base">
              <a:lnSpc>
                <a:spcPct val="90000"/>
              </a:lnSpc>
              <a:spcAft>
                <a:spcPts val="600"/>
              </a:spcAft>
            </a:pPr>
            <a:r>
              <a:rPr lang="en-US" sz="1600" b="0" i="0" dirty="0">
                <a:effectLst/>
              </a:rPr>
              <a:t>priklad.txt, Priklad.txt, priklad.TXT a Priklad.TXT </a:t>
            </a:r>
            <a:r>
              <a:rPr lang="en-US" sz="1600" b="0" i="0" dirty="0" err="1">
                <a:effectLst/>
              </a:rPr>
              <a:t>jsou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čtyři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různé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soubory</a:t>
            </a:r>
            <a:r>
              <a:rPr lang="en-US" sz="1600" b="0" i="0" dirty="0">
                <a:effectLst/>
              </a:rPr>
              <a:t> </a:t>
            </a:r>
            <a:endParaRPr lang="cs-CZ" sz="1600" b="0" i="0" dirty="0">
              <a:effectLst/>
            </a:endParaRPr>
          </a:p>
          <a:p>
            <a:pPr fontAlgn="base">
              <a:lnSpc>
                <a:spcPct val="90000"/>
              </a:lnSpc>
              <a:spcAft>
                <a:spcPts val="600"/>
              </a:spcAft>
            </a:pPr>
            <a:endParaRPr lang="en-US" sz="1600" b="0" i="0" dirty="0">
              <a:effectLst/>
            </a:endParaRP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Neexistují</a:t>
            </a:r>
            <a:r>
              <a:rPr lang="en-US" sz="16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lang="en-US" sz="16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jednotky</a:t>
            </a:r>
            <a:r>
              <a:rPr lang="en-US" sz="16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 resp. </a:t>
            </a:r>
            <a:r>
              <a:rPr lang="en-US" sz="16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písmena</a:t>
            </a:r>
            <a:r>
              <a:rPr lang="en-US" sz="16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lang="en-US" sz="16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jednotek</a:t>
            </a:r>
            <a:r>
              <a:rPr lang="en-US" sz="1600" b="0" i="0" dirty="0"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lang="en-US" sz="1600" b="0" i="0" dirty="0">
                <a:effectLst/>
              </a:rPr>
              <a:t>(</a:t>
            </a:r>
            <a:r>
              <a:rPr lang="en-US" sz="1600" b="0" i="0" dirty="0" err="1">
                <a:effectLst/>
              </a:rPr>
              <a:t>ve</a:t>
            </a:r>
            <a:r>
              <a:rPr lang="en-US" sz="1600" b="0" i="0" dirty="0">
                <a:effectLst/>
              </a:rPr>
              <a:t> Windows </a:t>
            </a:r>
            <a:r>
              <a:rPr lang="en-US" sz="1600" b="0" i="0" dirty="0" err="1">
                <a:effectLst/>
              </a:rPr>
              <a:t>označované</a:t>
            </a:r>
            <a:r>
              <a:rPr lang="en-US" sz="1600" b="0" i="0" dirty="0">
                <a:effectLst/>
              </a:rPr>
              <a:t> C:, D: </a:t>
            </a:r>
            <a:r>
              <a:rPr lang="en-US" sz="1600" b="0" i="0" dirty="0" err="1">
                <a:effectLst/>
              </a:rPr>
              <a:t>atd</a:t>
            </a:r>
            <a:r>
              <a:rPr lang="en-US" sz="1600" b="0" i="0" dirty="0">
                <a:effectLst/>
              </a:rPr>
              <a:t>.) </a:t>
            </a:r>
          </a:p>
          <a:p>
            <a:pPr fontAlgn="base">
              <a:lnSpc>
                <a:spcPct val="90000"/>
              </a:lnSpc>
              <a:spcAft>
                <a:spcPts val="600"/>
              </a:spcAft>
            </a:pPr>
            <a:r>
              <a:rPr lang="en-US" sz="1600" b="0" i="0" dirty="0">
                <a:effectLst/>
              </a:rPr>
              <a:t>Z </a:t>
            </a:r>
            <a:r>
              <a:rPr lang="en-US" sz="1600" b="0" i="0" dirty="0" err="1">
                <a:effectLst/>
              </a:rPr>
              <a:t>pohledu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uživatele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existuje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jediná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stromově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tvořená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hierarchie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souborového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systému</a:t>
            </a:r>
            <a:r>
              <a:rPr lang="en-US" sz="1600" b="0" i="0" dirty="0">
                <a:effectLst/>
              </a:rPr>
              <a:t> </a:t>
            </a:r>
          </a:p>
          <a:p>
            <a:pPr marL="0"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i="0" dirty="0">
              <a:effectLst/>
            </a:endParaRP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Adresář</a:t>
            </a:r>
            <a:r>
              <a:rPr lang="en-US" sz="16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 je </a:t>
            </a:r>
            <a:r>
              <a:rPr lang="en-US" sz="16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druh</a:t>
            </a:r>
            <a:r>
              <a:rPr lang="en-US" sz="16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lang="en-US" sz="16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souboru</a:t>
            </a:r>
            <a:r>
              <a:rPr lang="en-US" sz="1600" b="0" i="0" dirty="0">
                <a:solidFill>
                  <a:schemeClr val="accent5">
                    <a:lumMod val="75000"/>
                  </a:schemeClr>
                </a:solidFill>
                <a:effectLst/>
              </a:rPr>
              <a:t> </a:t>
            </a:r>
          </a:p>
          <a:p>
            <a:pPr fontAlgn="base">
              <a:lnSpc>
                <a:spcPct val="90000"/>
              </a:lnSpc>
              <a:spcAft>
                <a:spcPts val="600"/>
              </a:spcAft>
            </a:pPr>
            <a:r>
              <a:rPr lang="en-US" sz="1600" b="0" i="0" dirty="0">
                <a:effectLst/>
              </a:rPr>
              <a:t>I </a:t>
            </a:r>
            <a:r>
              <a:rPr lang="en-US" sz="1600" b="0" i="0" dirty="0" err="1">
                <a:effectLst/>
              </a:rPr>
              <a:t>adresáře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mohou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mít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příponu</a:t>
            </a:r>
            <a:r>
              <a:rPr lang="en-US" sz="1600" b="0" i="0" dirty="0">
                <a:effectLst/>
              </a:rPr>
              <a:t>, </a:t>
            </a:r>
            <a:r>
              <a:rPr lang="en-US" sz="1600" b="0" i="0" dirty="0" err="1">
                <a:effectLst/>
              </a:rPr>
              <a:t>typickým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příkladem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jsou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adresáře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init.d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nebo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cron.d</a:t>
            </a:r>
            <a:r>
              <a:rPr lang="en-US" sz="1600" b="0" i="0" dirty="0">
                <a:effectLst/>
              </a:rPr>
              <a:t> v </a:t>
            </a:r>
            <a:r>
              <a:rPr lang="en-US" sz="1600" b="0" i="0" dirty="0" err="1">
                <a:effectLst/>
              </a:rPr>
              <a:t>adresáři</a:t>
            </a:r>
            <a:r>
              <a:rPr lang="en-US" sz="1600" b="0" i="0" dirty="0">
                <a:effectLst/>
              </a:rPr>
              <a:t> etc. </a:t>
            </a:r>
          </a:p>
          <a:p>
            <a:pPr marL="0"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b="0" i="0" dirty="0">
              <a:solidFill>
                <a:schemeClr val="accent5">
                  <a:lumMod val="75000"/>
                </a:schemeClr>
              </a:solidFill>
              <a:effectLst/>
            </a:endParaRP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Oprávnění</a:t>
            </a:r>
            <a:r>
              <a:rPr lang="en-US" sz="16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 </a:t>
            </a:r>
            <a:r>
              <a:rPr lang="en-US" sz="16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souborů</a:t>
            </a:r>
            <a:r>
              <a:rPr lang="en-US" sz="16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 a </a:t>
            </a:r>
            <a:r>
              <a:rPr lang="en-US" sz="1600" b="1" i="0" dirty="0" err="1">
                <a:solidFill>
                  <a:schemeClr val="accent5">
                    <a:lumMod val="75000"/>
                  </a:schemeClr>
                </a:solidFill>
                <a:effectLst/>
              </a:rPr>
              <a:t>adresářů</a:t>
            </a:r>
            <a:r>
              <a:rPr lang="en-US" sz="1600" b="0" i="0" dirty="0">
                <a:solidFill>
                  <a:schemeClr val="accent5">
                    <a:lumMod val="75000"/>
                  </a:schemeClr>
                </a:solidFill>
                <a:effectLst/>
              </a:rPr>
              <a:t> </a:t>
            </a:r>
          </a:p>
          <a:p>
            <a:pPr fontAlgn="base">
              <a:lnSpc>
                <a:spcPct val="90000"/>
              </a:lnSpc>
              <a:spcAft>
                <a:spcPts val="600"/>
              </a:spcAft>
            </a:pPr>
            <a:r>
              <a:rPr lang="en-US" sz="1600" b="0" i="0" dirty="0">
                <a:effectLst/>
              </a:rPr>
              <a:t>Linux </a:t>
            </a:r>
            <a:r>
              <a:rPr lang="en-US" sz="1600" b="0" i="0" dirty="0" err="1">
                <a:effectLst/>
              </a:rPr>
              <a:t>používá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systém</a:t>
            </a:r>
            <a:r>
              <a:rPr lang="en-US" sz="1600" b="0" i="0" dirty="0">
                <a:effectLst/>
              </a:rPr>
              <a:t> </a:t>
            </a:r>
            <a:r>
              <a:rPr lang="en-US" sz="1600" b="0" i="0" dirty="0" err="1">
                <a:effectLst/>
              </a:rPr>
              <a:t>práv</a:t>
            </a:r>
            <a:r>
              <a:rPr lang="en-US" sz="1600" b="0" i="0" dirty="0">
                <a:effectLst/>
              </a:rPr>
              <a:t> (permissions) </a:t>
            </a:r>
          </a:p>
        </p:txBody>
      </p:sp>
      <p:pic>
        <p:nvPicPr>
          <p:cNvPr id="3" name="Picture 2" descr="10 Best File Managers For Linux - GeeksforGeeks">
            <a:extLst>
              <a:ext uri="{FF2B5EF4-FFF2-40B4-BE49-F238E27FC236}">
                <a16:creationId xmlns:a16="http://schemas.microsoft.com/office/drawing/2014/main" id="{43DFAE10-7BC4-D29E-C520-55C8992C8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357884"/>
            <a:ext cx="6903720" cy="4142232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36423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snímek obrazovky, Elektricky modrá, modrá, Výrazná modrá&#10;&#10;Popis byl vytvořen automaticky">
            <a:extLst>
              <a:ext uri="{FF2B5EF4-FFF2-40B4-BE49-F238E27FC236}">
                <a16:creationId xmlns:a16="http://schemas.microsoft.com/office/drawing/2014/main" id="{F50D873B-70D8-0DCA-ED40-89F13637F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7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583165F-A458-F683-9582-314D32E59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1650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 err="1"/>
              <a:t>Souborové</a:t>
            </a:r>
            <a:r>
              <a:rPr lang="en-US" sz="4000" b="1" dirty="0"/>
              <a:t> </a:t>
            </a:r>
            <a:r>
              <a:rPr lang="en-US" sz="4000" b="1" dirty="0" err="1"/>
              <a:t>systémy</a:t>
            </a:r>
            <a:r>
              <a:rPr lang="en-US" sz="4000" b="1" dirty="0"/>
              <a:t> pro Windows:</a:t>
            </a: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EF9CBC9E-35F9-E383-6D3E-886A145FE8A2}"/>
              </a:ext>
            </a:extLst>
          </p:cNvPr>
          <p:cNvSpPr txBox="1"/>
          <p:nvPr/>
        </p:nvSpPr>
        <p:spPr>
          <a:xfrm>
            <a:off x="838199" y="2488522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FAT</a:t>
            </a:r>
            <a:r>
              <a:rPr lang="en-US" sz="2000" dirty="0"/>
              <a:t> </a:t>
            </a:r>
            <a:r>
              <a:rPr lang="cs-CZ" sz="2000" dirty="0"/>
              <a:t>- </a:t>
            </a:r>
            <a:r>
              <a:rPr lang="cs-CZ" dirty="0"/>
              <a:t>Jednoduchý souborový systém bez </a:t>
            </a:r>
            <a:r>
              <a:rPr lang="cs-CZ" dirty="0" err="1"/>
              <a:t>žurnálování</a:t>
            </a:r>
            <a:r>
              <a:rPr lang="cs-CZ" dirty="0"/>
              <a:t>, vhodný pro menší disky a výměnná média, s omezenou podporou bezpečnostních funkcí.</a:t>
            </a:r>
            <a:endParaRPr lang="en-US" sz="2000" b="0" i="0" dirty="0">
              <a:effectLst/>
            </a:endParaRP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i="0" dirty="0">
              <a:effectLst/>
            </a:endParaRPr>
          </a:p>
          <a:p>
            <a:pPr indent="-2286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ISO 9660 </a:t>
            </a:r>
            <a:r>
              <a:rPr lang="cs-CZ" sz="2000" b="0" i="0" dirty="0">
                <a:effectLst/>
              </a:rPr>
              <a:t>- </a:t>
            </a:r>
            <a:r>
              <a:rPr lang="cs-CZ" dirty="0"/>
              <a:t>Souborový systém používaný pro CD a DVD, který umožňuje pouze čtení dat a musí být vytvořen s kompletním obsahem najednou.</a:t>
            </a:r>
            <a:endParaRPr lang="en-US" sz="2000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80111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83165F-A458-F683-9582-314D32E5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NTFS</a:t>
            </a: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EF9CBC9E-35F9-E383-6D3E-886A145FE8A2}"/>
              </a:ext>
            </a:extLst>
          </p:cNvPr>
          <p:cNvSpPr txBox="1"/>
          <p:nvPr/>
        </p:nvSpPr>
        <p:spPr>
          <a:xfrm>
            <a:off x="451704" y="2305270"/>
            <a:ext cx="6097508" cy="30855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90000"/>
              </a:lnSpc>
            </a:pP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NTFS (New Technology 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File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System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) </a:t>
            </a:r>
            <a:r>
              <a:rPr lang="cs-CZ" dirty="0"/>
              <a:t>je moderní souborový systém používaný ve Windows, který podporuje pokročilé funkce, jako je 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žurnálování</a:t>
            </a:r>
            <a:r>
              <a:rPr lang="cs-CZ" dirty="0"/>
              <a:t>, což zajišťuje vyšší integritu dat a snadnější obnovu po pádu systému. NTFS umožňuje 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přístupová práva (Access 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Control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Lists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- ACL)</a:t>
            </a:r>
            <a:r>
              <a:rPr lang="cs-CZ" dirty="0">
                <a:solidFill>
                  <a:schemeClr val="tx1">
                    <a:lumMod val="95000"/>
                    <a:lumOff val="5000"/>
                  </a:schemeClr>
                </a:solidFill>
              </a:rPr>
              <a:t>,</a:t>
            </a:r>
            <a:r>
              <a:rPr lang="cs-CZ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cs-CZ" dirty="0"/>
              <a:t>která definují detailní oprávnění k souborům a složkám, což zvyšuje bezpečnost. Dále podporuje 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kompresi</a:t>
            </a:r>
            <a:r>
              <a:rPr lang="cs-CZ" dirty="0">
                <a:solidFill>
                  <a:schemeClr val="accent5">
                    <a:lumMod val="75000"/>
                  </a:schemeClr>
                </a:solidFill>
              </a:rPr>
              <a:t> a 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šifrování souborů (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Encrypting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File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System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 - EFS)</a:t>
            </a:r>
            <a:r>
              <a:rPr lang="cs-CZ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cs-CZ" dirty="0"/>
              <a:t>přímo na úrovni systému, což umožňuje efektivní a bezpečnou práci s daty. NTFS také umožňuje 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diskové kvóty</a:t>
            </a:r>
            <a:r>
              <a:rPr lang="cs-CZ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cs-CZ" dirty="0"/>
              <a:t>pro kontrolu využití diskového prostoru a podporuje dlouhé názvy souborů a 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symbolické a pevné odkazy</a:t>
            </a:r>
            <a:r>
              <a:rPr lang="cs-CZ" dirty="0"/>
              <a:t>.</a:t>
            </a:r>
            <a:endParaRPr lang="cs-CZ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20F3F5-3A55-B4EA-D6F4-7ACD38674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225" y="2289473"/>
            <a:ext cx="4811983" cy="36330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49471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3441F3-AAC3-0F2B-8FA7-3839FCF9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451" y="72726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cs-CZ" sz="4900" b="1" dirty="0"/>
              <a:t>Kategorie souborových systémů a zaměření na bezpečnost, </a:t>
            </a:r>
            <a:r>
              <a:rPr lang="cs-CZ" sz="4900" b="1" dirty="0" err="1"/>
              <a:t>žurnálování</a:t>
            </a:r>
            <a:r>
              <a:rPr lang="cs-CZ" sz="4900" b="1" dirty="0"/>
              <a:t>, transakční zpracování</a:t>
            </a:r>
            <a:endParaRPr lang="cs-CZ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E8FBCC71-EABC-E043-A5D6-EA9E94DD6E28}"/>
              </a:ext>
            </a:extLst>
          </p:cNvPr>
          <p:cNvSpPr txBox="1"/>
          <p:nvPr/>
        </p:nvSpPr>
        <p:spPr>
          <a:xfrm>
            <a:off x="711451" y="2839410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2000" b="1" dirty="0">
                <a:solidFill>
                  <a:schemeClr val="accent5">
                    <a:lumMod val="75000"/>
                  </a:schemeClr>
                </a:solidFill>
              </a:rPr>
              <a:t>NTFS (Windows):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6F14460-34DE-2B80-63D1-4C781A4E8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451" y="40582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2DF1735-81C9-FF74-1AEA-60377FF38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451" y="3670333"/>
            <a:ext cx="844224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Žurnálování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Zajišťuje integritu souborů.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Access </a:t>
            </a:r>
            <a:r>
              <a:rPr kumimoji="0" lang="cs-CZ" altLang="cs-CZ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cs-CZ" altLang="cs-CZ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Lists</a:t>
            </a:r>
            <a:r>
              <a:rPr kumimoji="0" lang="cs-CZ" altLang="cs-CZ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(ACL)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cs-CZ" altLang="cs-CZ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Podrobné řízení oprávnění.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altLang="cs-CZ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Symbolické a pevné odkazy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Nabízí flexibilitu při vytváření odkazů na soubory.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Diskové kvóty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Omezují využití disku pro jednotlivé uživatele. </a:t>
            </a:r>
          </a:p>
        </p:txBody>
      </p:sp>
    </p:spTree>
    <p:extLst>
      <p:ext uri="{BB962C8B-B14F-4D97-AF65-F5344CB8AC3E}">
        <p14:creationId xmlns:p14="http://schemas.microsoft.com/office/powerpoint/2010/main" val="3817287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45C0AF94-5923-0AA3-595D-B63BCD4CD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384" y="1713407"/>
            <a:ext cx="6400385" cy="3568213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E52A918-26FD-BC8B-0C48-C1EEEC8E9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231" y="3250295"/>
            <a:ext cx="540295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C:\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Kořenový adresář hlavního oddílu.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Program </a:t>
            </a:r>
            <a:r>
              <a:rPr lang="cs-CZ" b="1" dirty="0" err="1">
                <a:solidFill>
                  <a:schemeClr val="accent5">
                    <a:lumMod val="75000"/>
                  </a:schemeClr>
                </a:solidFill>
              </a:rPr>
              <a:t>Files</a:t>
            </a:r>
            <a:r>
              <a:rPr lang="cs-CZ" dirty="0"/>
              <a:t>: Složka s nainstalovanými programy.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 err="1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Users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Profily uživatelů a jejich dokumenty.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cs-CZ" altLang="cs-CZ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cs-CZ" altLang="cs-CZ" sz="18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System32</a:t>
            </a:r>
            <a:r>
              <a:rPr kumimoji="0" lang="cs-CZ" altLang="cs-CZ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Obsahuje klíčové systémové soubory. </a:t>
            </a:r>
          </a:p>
        </p:txBody>
      </p:sp>
      <p:sp>
        <p:nvSpPr>
          <p:cNvPr id="9" name="TextovéPole 8">
            <a:extLst>
              <a:ext uri="{FF2B5EF4-FFF2-40B4-BE49-F238E27FC236}">
                <a16:creationId xmlns:a16="http://schemas.microsoft.com/office/drawing/2014/main" id="{8D6BB398-3B25-36FA-E2CB-C296EE9AB19F}"/>
              </a:ext>
            </a:extLst>
          </p:cNvPr>
          <p:cNvSpPr txBox="1"/>
          <p:nvPr/>
        </p:nvSpPr>
        <p:spPr>
          <a:xfrm>
            <a:off x="577158" y="563603"/>
            <a:ext cx="1035037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4400" b="1" dirty="0">
                <a:latin typeface="+mj-lt"/>
                <a:ea typeface="+mj-ea"/>
                <a:cs typeface="+mj-cs"/>
              </a:rPr>
              <a:t>STRUKTURA SOUBOROVÉHO SYSTÉMU NA DISKU</a:t>
            </a:r>
          </a:p>
        </p:txBody>
      </p:sp>
    </p:spTree>
    <p:extLst>
      <p:ext uri="{BB962C8B-B14F-4D97-AF65-F5344CB8AC3E}">
        <p14:creationId xmlns:p14="http://schemas.microsoft.com/office/powerpoint/2010/main" val="17387680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83165F-A458-F683-9582-314D32E5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err="1"/>
              <a:t>Inode</a:t>
            </a:r>
            <a:r>
              <a:rPr lang="cs-CZ" dirty="0"/>
              <a:t>:</a:t>
            </a:r>
            <a:endParaRPr lang="cs-CZ" b="1" dirty="0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EF9CBC9E-35F9-E383-6D3E-886A145FE8A2}"/>
              </a:ext>
            </a:extLst>
          </p:cNvPr>
          <p:cNvSpPr txBox="1"/>
          <p:nvPr/>
        </p:nvSpPr>
        <p:spPr>
          <a:xfrm>
            <a:off x="425852" y="3040055"/>
            <a:ext cx="6097508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Uzel</a:t>
            </a:r>
            <a:r>
              <a:rPr lang="cs-CZ" b="1" dirty="0">
                <a:solidFill>
                  <a:srgbClr val="FF0000"/>
                </a:solidFill>
              </a:rPr>
              <a:t> </a:t>
            </a:r>
            <a:r>
              <a:rPr lang="cs-CZ" dirty="0"/>
              <a:t>obsahuje metadata pro každý libovolně velký soubor i adresář, například čas poslední změny, přístupová práva, seznam datových bloků a podobně. V adresářích jsou pak dvojice název souboru a k němu příslušné číslo </a:t>
            </a:r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i-uzlu</a:t>
            </a:r>
            <a:r>
              <a:rPr lang="cs-CZ" dirty="0"/>
              <a:t>, které pomocí metadat popisuje vlastní uloženou datovou část souboru nebo adresáře. </a:t>
            </a:r>
          </a:p>
        </p:txBody>
      </p:sp>
      <p:pic>
        <p:nvPicPr>
          <p:cNvPr id="3" name="Obrázek 2" descr="What is inode and how to find out which directory is eating up all your  filesystem inodes on Linux, Increase inode count on a ext3 ext4 and ufs  filesystems - ☩ Walking">
            <a:extLst>
              <a:ext uri="{FF2B5EF4-FFF2-40B4-BE49-F238E27FC236}">
                <a16:creationId xmlns:a16="http://schemas.microsoft.com/office/drawing/2014/main" id="{7717F798-2C46-D774-54D3-1C23D362C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60" y="1311565"/>
            <a:ext cx="5583431" cy="450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59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83165F-A458-F683-9582-314D32E59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Symbolický a Hardwarový link</a:t>
            </a:r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281DEA30-136C-72B0-FF5F-F11EBC16C36E}"/>
              </a:ext>
            </a:extLst>
          </p:cNvPr>
          <p:cNvSpPr txBox="1"/>
          <p:nvPr/>
        </p:nvSpPr>
        <p:spPr>
          <a:xfrm>
            <a:off x="1502876" y="1515077"/>
            <a:ext cx="239916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Symbolický link: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3B1A9E47-AA63-FEAD-2BF1-2C2AF0F13A88}"/>
              </a:ext>
            </a:extLst>
          </p:cNvPr>
          <p:cNvSpPr txBox="1"/>
          <p:nvPr/>
        </p:nvSpPr>
        <p:spPr>
          <a:xfrm>
            <a:off x="7057930" y="1515077"/>
            <a:ext cx="296953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cs-CZ" b="1" dirty="0">
                <a:solidFill>
                  <a:schemeClr val="accent5">
                    <a:lumMod val="75000"/>
                  </a:schemeClr>
                </a:solidFill>
              </a:rPr>
              <a:t>Hardwarový link: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CDCDB28C-85E2-DB42-53BE-8975E41EF7E5}"/>
              </a:ext>
            </a:extLst>
          </p:cNvPr>
          <p:cNvSpPr txBox="1"/>
          <p:nvPr/>
        </p:nvSpPr>
        <p:spPr>
          <a:xfrm>
            <a:off x="1502876" y="2182503"/>
            <a:ext cx="30329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dirty="0"/>
              <a:t>Označuje alternativní odkaz, který ukazuje na jiný soubor nebo adresář. 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2C371D53-0AA6-6EEE-A95F-49F9D5592223}"/>
              </a:ext>
            </a:extLst>
          </p:cNvPr>
          <p:cNvSpPr txBox="1"/>
          <p:nvPr/>
        </p:nvSpPr>
        <p:spPr>
          <a:xfrm>
            <a:off x="7057930" y="2068432"/>
            <a:ext cx="39948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Jsou fyzické spoje nebo kabely používané k přenosu elektrických signálů nebo dat mezi různými komponenty hardwaru, zařízeními nebo systémy. </a:t>
            </a:r>
            <a:endParaRPr lang="cs-CZ" dirty="0"/>
          </a:p>
        </p:txBody>
      </p:sp>
      <p:pic>
        <p:nvPicPr>
          <p:cNvPr id="13" name="Obrázek 12" descr="What is the difference between a hard link and a symbolic link? | by Manga  Acero | Medium">
            <a:extLst>
              <a:ext uri="{FF2B5EF4-FFF2-40B4-BE49-F238E27FC236}">
                <a16:creationId xmlns:a16="http://schemas.microsoft.com/office/drawing/2014/main" id="{4939CE26-9ACD-63B1-E3C3-9899CE31E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330" y="3358643"/>
            <a:ext cx="5607433" cy="313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8317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943</Words>
  <Application>Microsoft Office PowerPoint</Application>
  <PresentationFormat>Širokoúhlá obrazovka</PresentationFormat>
  <Paragraphs>106</Paragraphs>
  <Slides>15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16" baseType="lpstr">
      <vt:lpstr>Motiv Office</vt:lpstr>
      <vt:lpstr>Souborové systémy</vt:lpstr>
      <vt:lpstr>Co je to souborový systém?</vt:lpstr>
      <vt:lpstr>Souborové systémy v Linuxu</vt:lpstr>
      <vt:lpstr>EXT4</vt:lpstr>
      <vt:lpstr>Kategorie souborových systémů a zaměření na bezpečnost, žurnálování, transakční zpracování</vt:lpstr>
      <vt:lpstr>Stromová struktura uložení dat</vt:lpstr>
      <vt:lpstr>Základní adresářová struktura v Linuxu</vt:lpstr>
      <vt:lpstr>Vysvětlení fyzických disků a oddílů</vt:lpstr>
      <vt:lpstr>Hlavní rozdíly souborového systému Linuxu</vt:lpstr>
      <vt:lpstr>Souborové systémy pro Windows:</vt:lpstr>
      <vt:lpstr>NTFS</vt:lpstr>
      <vt:lpstr>Kategorie souborových systémů a zaměření na bezpečnost, žurnálování, transakční zpracování</vt:lpstr>
      <vt:lpstr>Prezentace aplikace PowerPoint</vt:lpstr>
      <vt:lpstr>Inode:</vt:lpstr>
      <vt:lpstr>Symbolický a Hardwarový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Souborové systémy</dc:title>
  <dc:creator>Adam Stuchlík</dc:creator>
  <cp:lastModifiedBy>Adam Stuchlík</cp:lastModifiedBy>
  <cp:revision>75</cp:revision>
  <dcterms:created xsi:type="dcterms:W3CDTF">2024-10-11T19:30:50Z</dcterms:created>
  <dcterms:modified xsi:type="dcterms:W3CDTF">2024-11-19T09:08:36Z</dcterms:modified>
</cp:coreProperties>
</file>