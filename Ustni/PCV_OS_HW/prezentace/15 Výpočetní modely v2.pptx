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5" r:id="rId18"/>
    <p:sldId id="274" r:id="rId19"/>
    <p:sldId id="273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70CF7-838D-41F7-9297-B5F83BDCEB13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782827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69DA-BCAC-469D-B81F-5CD529FD1EE6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01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B3F2-5297-4D62-BDB7-590764A696AF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646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FAC0-A4F5-4A85-98AE-9E6BDD843B92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3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58DF-B20E-4829-8712-7D40EB90064E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52F2A-FD05-43F8-9927-AF9F6AA75EA1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63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12728-8AF2-421E-A3EE-3D32DADA7E63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100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64D57-1513-4084-818F-075C9D0922CD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29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DC6D-53F2-404B-944C-46E1F58C3149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837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6330A-4522-49F4-ACCE-A07321703478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171440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5DDF-A796-4D56-9973-341789785817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821945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3716B609-2A26-46AA-B595-3671F5470576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8DFDE724-0293-4953-AE9D-4D814FA589B0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117392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504">
          <p15:clr>
            <a:srgbClr val="F26B43"/>
          </p15:clr>
        </p15:guide>
        <p15:guide id="3" pos="7176">
          <p15:clr>
            <a:srgbClr val="F26B43"/>
          </p15:clr>
        </p15:guide>
        <p15:guide id="5" orient="horz" pos="1272">
          <p15:clr>
            <a:srgbClr val="F26B43"/>
          </p15:clr>
        </p15:guide>
        <p15:guide id="6" orient="horz" pos="1728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3432">
          <p15:clr>
            <a:srgbClr val="F26B43"/>
          </p15:clr>
        </p15:guide>
        <p15:guide id="9" pos="1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/>
          <a:p>
            <a:r>
              <a:rPr lang="en-US" dirty="0" err="1"/>
              <a:t>Otázka</a:t>
            </a:r>
            <a:r>
              <a:rPr lang="en-US" dirty="0"/>
              <a:t> 15 - </a:t>
            </a:r>
            <a:r>
              <a:rPr lang="en-US" dirty="0" err="1"/>
              <a:t>výpočetní</a:t>
            </a:r>
            <a:r>
              <a:rPr lang="en-US" dirty="0"/>
              <a:t> </a:t>
            </a:r>
            <a:r>
              <a:rPr lang="en-US" dirty="0" err="1"/>
              <a:t>modely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100" b="0" dirty="0" err="1"/>
              <a:t>Zpracoval</a:t>
            </a:r>
            <a:r>
              <a:rPr lang="en-US" sz="1100" b="0" dirty="0"/>
              <a:t>: Pavel Fabián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AF4BEC4-5DBE-218A-7287-0742807B32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1E27EE48-3E23-4610-A10A-E4097BA7DF6E}" type="datetime1">
              <a:pPr>
                <a:spcAft>
                  <a:spcPts val="600"/>
                </a:spcAft>
              </a:pPr>
              <a:t>12/9/2024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F8C2BFC-C19C-B2A9-7337-D53EC97FC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A733FB-BB7B-EC70-D541-49187D237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49EB-07E7-56F8-0551-4D94826E8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618577"/>
          </a:xfrm>
        </p:spPr>
        <p:txBody>
          <a:bodyPr>
            <a:normAutofit fontScale="90000"/>
          </a:bodyPr>
          <a:lstStyle/>
          <a:p>
            <a:pPr algn="ctr"/>
            <a:r>
              <a:rPr lang="en-US" err="1">
                <a:solidFill>
                  <a:schemeClr val="accent4"/>
                </a:solidFill>
                <a:ea typeface="+mj-lt"/>
                <a:cs typeface="+mj-lt"/>
              </a:rPr>
              <a:t>Výpočetní</a:t>
            </a:r>
            <a:r>
              <a:rPr lang="en-US" dirty="0">
                <a:solidFill>
                  <a:schemeClr val="accent4"/>
                </a:solidFill>
                <a:ea typeface="+mj-lt"/>
                <a:cs typeface="+mj-lt"/>
              </a:rPr>
              <a:t> </a:t>
            </a:r>
            <a:r>
              <a:rPr lang="en-US" err="1">
                <a:solidFill>
                  <a:schemeClr val="accent4"/>
                </a:solidFill>
                <a:ea typeface="+mj-lt"/>
                <a:cs typeface="+mj-lt"/>
              </a:rPr>
              <a:t>modely</a:t>
            </a:r>
            <a:endParaRPr lang="en-US" err="1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C7C1C-5F32-7DEF-D72E-B6CBC5EF4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1083679"/>
            <a:ext cx="10357666" cy="50504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  <a:ea typeface="+mj-lt"/>
                <a:cs typeface="+mj-lt"/>
              </a:rPr>
              <a:t>Co </a:t>
            </a:r>
            <a:r>
              <a:rPr lang="en-US" b="1" err="1">
                <a:solidFill>
                  <a:srgbClr val="00B050"/>
                </a:solidFill>
                <a:ea typeface="+mj-lt"/>
                <a:cs typeface="+mj-lt"/>
              </a:rPr>
              <a:t>jsou</a:t>
            </a:r>
            <a:r>
              <a:rPr lang="en-US" b="1" dirty="0">
                <a:solidFill>
                  <a:srgbClr val="00B050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rgbClr val="00B050"/>
                </a:solidFill>
                <a:ea typeface="+mj-lt"/>
                <a:cs typeface="+mj-lt"/>
              </a:rPr>
              <a:t>výpočetní</a:t>
            </a:r>
            <a:r>
              <a:rPr lang="en-US" b="1" dirty="0">
                <a:solidFill>
                  <a:srgbClr val="00B050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rgbClr val="00B050"/>
                </a:solidFill>
                <a:ea typeface="+mj-lt"/>
                <a:cs typeface="+mj-lt"/>
              </a:rPr>
              <a:t>modely</a:t>
            </a:r>
            <a:r>
              <a:rPr lang="en-US" b="1" dirty="0">
                <a:solidFill>
                  <a:srgbClr val="00B050"/>
                </a:solidFill>
                <a:ea typeface="+mj-lt"/>
                <a:cs typeface="+mj-lt"/>
              </a:rPr>
              <a:t>?</a:t>
            </a:r>
            <a:endParaRPr lang="en-US" dirty="0">
              <a:solidFill>
                <a:srgbClr val="00B05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Výpočetní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modely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představují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různé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architektury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způsoby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jakými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jsou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organizovány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spravovány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výpočetní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zdroje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j-lt"/>
                <a:cs typeface="+mj-lt"/>
              </a:rPr>
              <a:t>Zahrnují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různé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formy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dat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interakce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mezi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uživatelskými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zařízeními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servery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endParaRPr lang="en-US" b="1" dirty="0">
              <a:ea typeface="+mj-lt"/>
              <a:cs typeface="+mj-lt"/>
            </a:endParaRPr>
          </a:p>
          <a:p>
            <a:r>
              <a:rPr lang="en-US" b="1" err="1">
                <a:solidFill>
                  <a:srgbClr val="0070C0"/>
                </a:solidFill>
                <a:ea typeface="+mj-lt"/>
                <a:cs typeface="+mj-lt"/>
              </a:rPr>
              <a:t>Význam</a:t>
            </a:r>
            <a:r>
              <a:rPr lang="en-US" b="1" dirty="0">
                <a:solidFill>
                  <a:srgbClr val="0070C0"/>
                </a:solidFill>
                <a:ea typeface="+mj-lt"/>
                <a:cs typeface="+mj-lt"/>
              </a:rPr>
              <a:t> v IT:</a:t>
            </a:r>
            <a:endParaRPr lang="en-US" dirty="0">
              <a:solidFill>
                <a:srgbClr val="0070C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Klíčové</a:t>
            </a:r>
            <a:r>
              <a:rPr lang="en-US" dirty="0">
                <a:ea typeface="+mj-lt"/>
                <a:cs typeface="+mj-lt"/>
              </a:rPr>
              <a:t> pro </a:t>
            </a:r>
            <a:r>
              <a:rPr lang="en-US" err="1">
                <a:ea typeface="+mj-lt"/>
                <a:cs typeface="+mj-lt"/>
              </a:rPr>
              <a:t>efektivní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využití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hardwaru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softwaru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Umožňují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škálovatelnost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flexibilitu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zlepšení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výkonu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j-lt"/>
                <a:cs typeface="+mj-lt"/>
              </a:rPr>
              <a:t>Ovlivňují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způsob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jakým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organizace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spravují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své</a:t>
            </a:r>
            <a:r>
              <a:rPr lang="en-US" dirty="0">
                <a:ea typeface="+mj-lt"/>
                <a:cs typeface="+mj-lt"/>
              </a:rPr>
              <a:t> IT </a:t>
            </a:r>
            <a:r>
              <a:rPr lang="en-US" dirty="0" err="1">
                <a:ea typeface="+mj-lt"/>
                <a:cs typeface="+mj-lt"/>
              </a:rPr>
              <a:t>zdroje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FF4DF-0D1C-AAEB-FF34-01B36B07A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F94C0-BFF3-4A16-B416-898AE86EC0CB}" type="datetime1">
              <a:t>12/9/2024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7AF7A-523A-C370-02FB-9C417D191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75B79-4C56-D116-95AA-A510ADD1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54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E3DD5-1F5D-2E35-15BC-0D039AD36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17" y="365125"/>
            <a:ext cx="11881665" cy="724678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CD3117"/>
                </a:solidFill>
                <a:ea typeface="+mj-lt"/>
                <a:cs typeface="+mj-lt"/>
              </a:rPr>
              <a:t>Co se </a:t>
            </a:r>
            <a:r>
              <a:rPr lang="en-US" sz="2800" err="1">
                <a:solidFill>
                  <a:srgbClr val="CD3117"/>
                </a:solidFill>
                <a:ea typeface="+mj-lt"/>
                <a:cs typeface="+mj-lt"/>
              </a:rPr>
              <a:t>očekává</a:t>
            </a:r>
            <a:r>
              <a:rPr lang="en-US" sz="2800" dirty="0">
                <a:solidFill>
                  <a:srgbClr val="CD3117"/>
                </a:solidFill>
                <a:ea typeface="+mj-lt"/>
                <a:cs typeface="+mj-lt"/>
              </a:rPr>
              <a:t> od </a:t>
            </a:r>
            <a:r>
              <a:rPr lang="en-US" sz="2800" err="1">
                <a:solidFill>
                  <a:srgbClr val="CD3117"/>
                </a:solidFill>
                <a:ea typeface="+mj-lt"/>
                <a:cs typeface="+mj-lt"/>
              </a:rPr>
              <a:t>výpočetního</a:t>
            </a:r>
            <a:r>
              <a:rPr lang="en-US" sz="2800" dirty="0">
                <a:solidFill>
                  <a:srgbClr val="CD3117"/>
                </a:solidFill>
                <a:ea typeface="+mj-lt"/>
                <a:cs typeface="+mj-lt"/>
              </a:rPr>
              <a:t> </a:t>
            </a:r>
            <a:r>
              <a:rPr lang="en-US" sz="2800" err="1">
                <a:solidFill>
                  <a:srgbClr val="CD3117"/>
                </a:solidFill>
                <a:ea typeface="+mj-lt"/>
                <a:cs typeface="+mj-lt"/>
              </a:rPr>
              <a:t>modelu</a:t>
            </a:r>
            <a:endParaRPr lang="en-US" sz="2800" err="1">
              <a:solidFill>
                <a:srgbClr val="CD311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2F0F6-396E-B0ED-A7EC-A8BB37050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574" y="1083679"/>
            <a:ext cx="11630880" cy="57738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err="1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Efektivita</a:t>
            </a:r>
            <a:r>
              <a:rPr lang="en-US" b="1" dirty="0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accent1">
                  <a:lumMod val="76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j-lt"/>
                <a:cs typeface="+mj-lt"/>
              </a:rPr>
              <a:t>Schopnost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optimalizovat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využití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zdrojů</a:t>
            </a:r>
            <a:r>
              <a:rPr lang="en-US" dirty="0">
                <a:ea typeface="+mj-lt"/>
                <a:cs typeface="+mj-lt"/>
              </a:rPr>
              <a:t> (CPU, </a:t>
            </a:r>
            <a:r>
              <a:rPr lang="en-US" dirty="0" err="1">
                <a:ea typeface="+mj-lt"/>
                <a:cs typeface="+mj-lt"/>
              </a:rPr>
              <a:t>paměť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síť</a:t>
            </a:r>
            <a:r>
              <a:rPr lang="en-US" dirty="0">
                <a:ea typeface="+mj-lt"/>
                <a:cs typeface="+mj-lt"/>
              </a:rPr>
              <a:t>).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Rychlost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dat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minimalizace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latence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b="1" err="1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Škálovatelnost</a:t>
            </a:r>
            <a:r>
              <a:rPr lang="en-US" b="1" dirty="0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accent1">
                  <a:lumMod val="76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Možnost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snadno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přidávat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nebo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odebírat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zdroje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podle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potřeby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Podpora </a:t>
            </a:r>
            <a:r>
              <a:rPr lang="en-US" err="1">
                <a:ea typeface="+mj-lt"/>
                <a:cs typeface="+mj-lt"/>
              </a:rPr>
              <a:t>rostoucího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počtu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uživatelů</a:t>
            </a:r>
            <a:r>
              <a:rPr lang="en-US" dirty="0">
                <a:ea typeface="+mj-lt"/>
                <a:cs typeface="+mj-lt"/>
              </a:rPr>
              <a:t> a dat.</a:t>
            </a:r>
            <a:endParaRPr lang="en-US"/>
          </a:p>
          <a:p>
            <a:r>
              <a:rPr lang="en-US" b="1" err="1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Dostupnost</a:t>
            </a:r>
            <a:r>
              <a:rPr lang="en-US" b="1" dirty="0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accent1">
                  <a:lumMod val="76000"/>
                </a:schemeClr>
              </a:solidFill>
              <a:ea typeface="+mj-lt"/>
              <a:cs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j-lt"/>
                <a:cs typeface="+mj-lt"/>
              </a:rPr>
              <a:t>Vysoká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míra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provozuschopnosti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minimální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prostoje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Záložní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mechanismy</a:t>
            </a:r>
            <a:r>
              <a:rPr lang="en-US" dirty="0">
                <a:ea typeface="+mj-lt"/>
                <a:cs typeface="+mj-lt"/>
              </a:rPr>
              <a:t> pro </a:t>
            </a:r>
            <a:r>
              <a:rPr lang="en-US" err="1">
                <a:ea typeface="+mj-lt"/>
                <a:cs typeface="+mj-lt"/>
              </a:rPr>
              <a:t>zotavení</a:t>
            </a:r>
            <a:r>
              <a:rPr lang="en-US" dirty="0">
                <a:ea typeface="+mj-lt"/>
                <a:cs typeface="+mj-lt"/>
              </a:rPr>
              <a:t> po </a:t>
            </a:r>
            <a:r>
              <a:rPr lang="en-US" err="1">
                <a:ea typeface="+mj-lt"/>
                <a:cs typeface="+mj-lt"/>
              </a:rPr>
              <a:t>havárii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b="1" err="1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Bezpečnost</a:t>
            </a:r>
            <a:r>
              <a:rPr lang="en-US" b="1" dirty="0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accent1">
                  <a:lumMod val="76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Ochrana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dat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před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neoprávněným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přístupem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ztrátou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j-lt"/>
                <a:cs typeface="+mj-lt"/>
              </a:rPr>
              <a:t>Implementace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šifrování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autentizace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řízení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přístupu</a:t>
            </a:r>
            <a:r>
              <a:rPr lang="en-US" dirty="0">
                <a:ea typeface="+mj-lt"/>
                <a:cs typeface="+mj-lt"/>
              </a:rPr>
              <a:t>.</a:t>
            </a:r>
          </a:p>
          <a:p>
            <a:r>
              <a:rPr lang="en-US" b="1" err="1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Flexibilita</a:t>
            </a:r>
            <a:r>
              <a:rPr lang="en-US" b="1" dirty="0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accent1">
                  <a:lumMod val="76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Možnost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rychlého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přizpůsobení</a:t>
            </a:r>
            <a:r>
              <a:rPr lang="en-US" dirty="0">
                <a:ea typeface="+mj-lt"/>
                <a:cs typeface="+mj-lt"/>
              </a:rPr>
              <a:t> se </a:t>
            </a:r>
            <a:r>
              <a:rPr lang="en-US" err="1">
                <a:ea typeface="+mj-lt"/>
                <a:cs typeface="+mj-lt"/>
              </a:rPr>
              <a:t>měnícím</a:t>
            </a:r>
            <a:r>
              <a:rPr lang="en-US" dirty="0">
                <a:ea typeface="+mj-lt"/>
                <a:cs typeface="+mj-lt"/>
              </a:rPr>
              <a:t> se </a:t>
            </a:r>
            <a:r>
              <a:rPr lang="en-US" err="1">
                <a:ea typeface="+mj-lt"/>
                <a:cs typeface="+mj-lt"/>
              </a:rPr>
              <a:t>požadavkům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technologiím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j-lt"/>
                <a:cs typeface="+mj-lt"/>
              </a:rPr>
              <a:t>Snadná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integrace</a:t>
            </a:r>
            <a:r>
              <a:rPr lang="en-US" dirty="0">
                <a:ea typeface="+mj-lt"/>
                <a:cs typeface="+mj-lt"/>
              </a:rPr>
              <a:t> s </a:t>
            </a:r>
            <a:r>
              <a:rPr lang="en-US" dirty="0" err="1">
                <a:ea typeface="+mj-lt"/>
                <a:cs typeface="+mj-lt"/>
              </a:rPr>
              <a:t>jinými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systémy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aplikacemi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9D163-4AF1-9DD4-438E-70296CE7E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E1954-F15A-4D92-970D-D1CBCD67B73F}" type="datetime1">
              <a:t>12/9/2024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1B9C9-9AFD-A332-395A-98973035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6B92B-DDC1-5380-174E-D9A55D062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938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094EA-767F-1B16-B7A5-E6EDBA5E1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181860"/>
            <a:ext cx="10357666" cy="589641"/>
          </a:xfrm>
        </p:spPr>
        <p:txBody>
          <a:bodyPr>
            <a:normAutofit fontScale="90000"/>
          </a:bodyPr>
          <a:lstStyle/>
          <a:p>
            <a:pPr algn="ctr"/>
            <a:r>
              <a:rPr lang="en-US" err="1">
                <a:solidFill>
                  <a:srgbClr val="00B0F0"/>
                </a:solidFill>
                <a:ea typeface="+mj-lt"/>
                <a:cs typeface="+mj-lt"/>
              </a:rPr>
              <a:t>Dávkové</a:t>
            </a:r>
            <a:r>
              <a:rPr lang="en-US" dirty="0">
                <a:solidFill>
                  <a:srgbClr val="00B0F0"/>
                </a:solidFill>
                <a:ea typeface="+mj-lt"/>
                <a:cs typeface="+mj-lt"/>
              </a:rPr>
              <a:t> </a:t>
            </a:r>
            <a:r>
              <a:rPr lang="en-US" err="1">
                <a:solidFill>
                  <a:srgbClr val="00B0F0"/>
                </a:solidFill>
                <a:ea typeface="+mj-lt"/>
                <a:cs typeface="+mj-lt"/>
              </a:rPr>
              <a:t>zpracování</a:t>
            </a:r>
            <a:endParaRPr lang="en-US" err="1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76476-49ED-976A-BAF2-DFCAA475E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1151198"/>
            <a:ext cx="10357666" cy="55423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j-lt"/>
                <a:cs typeface="+mj-lt"/>
              </a:rPr>
              <a:t>Co je </a:t>
            </a:r>
            <a:r>
              <a:rPr lang="en-US" b="1" dirty="0" err="1">
                <a:ea typeface="+mj-lt"/>
                <a:cs typeface="+mj-lt"/>
              </a:rPr>
              <a:t>dávkové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zpracování</a:t>
            </a:r>
            <a:r>
              <a:rPr lang="en-US" b="1" dirty="0">
                <a:ea typeface="+mj-lt"/>
                <a:cs typeface="+mj-lt"/>
              </a:rPr>
              <a:t>?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Dávkové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 je </a:t>
            </a:r>
            <a:r>
              <a:rPr lang="en-US" err="1">
                <a:ea typeface="+mj-lt"/>
                <a:cs typeface="+mj-lt"/>
              </a:rPr>
              <a:t>metoda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dat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kde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jsou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úkoly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shromažďovány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zpracovány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jako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celek</a:t>
            </a:r>
            <a:r>
              <a:rPr lang="en-US" dirty="0">
                <a:ea typeface="+mj-lt"/>
                <a:cs typeface="+mj-lt"/>
              </a:rPr>
              <a:t> (</a:t>
            </a:r>
            <a:r>
              <a:rPr lang="en-US" err="1">
                <a:ea typeface="+mj-lt"/>
                <a:cs typeface="+mj-lt"/>
              </a:rPr>
              <a:t>dávka</a:t>
            </a:r>
            <a:r>
              <a:rPr lang="en-US" dirty="0">
                <a:ea typeface="+mj-lt"/>
                <a:cs typeface="+mj-lt"/>
              </a:rPr>
              <a:t>) v </a:t>
            </a:r>
            <a:r>
              <a:rPr lang="en-US" err="1">
                <a:ea typeface="+mj-lt"/>
                <a:cs typeface="+mj-lt"/>
              </a:rPr>
              <a:t>určitém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časovém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intervalu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Nevyžaduje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interakci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uživatele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během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b="1" dirty="0">
                <a:ea typeface="+mj-lt"/>
                <a:cs typeface="+mj-lt"/>
              </a:rPr>
              <a:t>Proces </a:t>
            </a:r>
            <a:r>
              <a:rPr lang="en-US" b="1" dirty="0" err="1">
                <a:ea typeface="+mj-lt"/>
                <a:cs typeface="+mj-lt"/>
              </a:rPr>
              <a:t>dávkového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zpracování</a:t>
            </a:r>
            <a:r>
              <a:rPr lang="en-US" b="1" dirty="0">
                <a:ea typeface="+mj-lt"/>
                <a:cs typeface="+mj-lt"/>
              </a:rPr>
              <a:t>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err="1">
                <a:ea typeface="+mj-lt"/>
                <a:cs typeface="+mj-lt"/>
              </a:rPr>
              <a:t>Shromáždění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err="1">
                <a:ea typeface="+mj-lt"/>
                <a:cs typeface="+mj-lt"/>
              </a:rPr>
              <a:t>dat</a:t>
            </a:r>
            <a:r>
              <a:rPr lang="en-US" b="1" dirty="0">
                <a:ea typeface="+mj-lt"/>
                <a:cs typeface="+mj-lt"/>
              </a:rPr>
              <a:t>:</a:t>
            </a:r>
            <a:r>
              <a:rPr lang="en-US" dirty="0">
                <a:ea typeface="+mj-lt"/>
                <a:cs typeface="+mj-lt"/>
              </a:rPr>
              <a:t> Data </a:t>
            </a:r>
            <a:r>
              <a:rPr lang="en-US" err="1">
                <a:ea typeface="+mj-lt"/>
                <a:cs typeface="+mj-lt"/>
              </a:rPr>
              <a:t>jsou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shromažďována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během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určitého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časového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období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err="1">
                <a:ea typeface="+mj-lt"/>
                <a:cs typeface="+mj-lt"/>
              </a:rPr>
              <a:t>Zpracování</a:t>
            </a:r>
            <a:r>
              <a:rPr lang="en-US" b="1" dirty="0">
                <a:ea typeface="+mj-lt"/>
                <a:cs typeface="+mj-lt"/>
              </a:rPr>
              <a:t>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Jakmile</a:t>
            </a:r>
            <a:r>
              <a:rPr lang="en-US" dirty="0">
                <a:ea typeface="+mj-lt"/>
                <a:cs typeface="+mj-lt"/>
              </a:rPr>
              <a:t> je </a:t>
            </a:r>
            <a:r>
              <a:rPr lang="en-US" err="1">
                <a:ea typeface="+mj-lt"/>
                <a:cs typeface="+mj-lt"/>
              </a:rPr>
              <a:t>dávka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vytvořena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systém</a:t>
            </a:r>
            <a:r>
              <a:rPr lang="en-US" dirty="0">
                <a:ea typeface="+mj-lt"/>
                <a:cs typeface="+mj-lt"/>
              </a:rPr>
              <a:t> ji </a:t>
            </a:r>
            <a:r>
              <a:rPr lang="en-US" err="1">
                <a:ea typeface="+mj-lt"/>
                <a:cs typeface="+mj-lt"/>
              </a:rPr>
              <a:t>zpracovává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najednou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err="1">
                <a:ea typeface="+mj-lt"/>
                <a:cs typeface="+mj-lt"/>
              </a:rPr>
              <a:t>Výstup</a:t>
            </a:r>
            <a:r>
              <a:rPr lang="en-US" b="1" dirty="0">
                <a:ea typeface="+mj-lt"/>
                <a:cs typeface="+mj-lt"/>
              </a:rPr>
              <a:t>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Výstupní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výsledky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jsou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generovány</a:t>
            </a:r>
            <a:r>
              <a:rPr lang="en-US" dirty="0">
                <a:ea typeface="+mj-lt"/>
                <a:cs typeface="+mj-lt"/>
              </a:rPr>
              <a:t> po </a:t>
            </a:r>
            <a:r>
              <a:rPr lang="en-US" err="1">
                <a:ea typeface="+mj-lt"/>
                <a:cs typeface="+mj-lt"/>
              </a:rPr>
              <a:t>dokončení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dávky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b="1" dirty="0" err="1">
                <a:ea typeface="+mj-lt"/>
                <a:cs typeface="+mj-lt"/>
              </a:rPr>
              <a:t>Použití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dávkového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dirty="0" err="1">
                <a:ea typeface="+mj-lt"/>
                <a:cs typeface="+mj-lt"/>
              </a:rPr>
              <a:t>zpracování</a:t>
            </a:r>
            <a:r>
              <a:rPr lang="en-US" b="1" dirty="0">
                <a:ea typeface="+mj-lt"/>
                <a:cs typeface="+mj-lt"/>
              </a:rPr>
              <a:t>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Často</a:t>
            </a:r>
            <a:r>
              <a:rPr lang="en-US" dirty="0">
                <a:ea typeface="+mj-lt"/>
                <a:cs typeface="+mj-lt"/>
              </a:rPr>
              <a:t> se </a:t>
            </a:r>
            <a:r>
              <a:rPr lang="en-US" err="1">
                <a:ea typeface="+mj-lt"/>
                <a:cs typeface="+mj-lt"/>
              </a:rPr>
              <a:t>používá</a:t>
            </a:r>
            <a:r>
              <a:rPr lang="en-US" dirty="0">
                <a:ea typeface="+mj-lt"/>
                <a:cs typeface="+mj-lt"/>
              </a:rPr>
              <a:t> pro </a:t>
            </a:r>
            <a:r>
              <a:rPr lang="en-US" err="1">
                <a:ea typeface="+mj-lt"/>
                <a:cs typeface="+mj-lt"/>
              </a:rPr>
              <a:t>úkoly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které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nevyžadují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okamžitou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zpětnou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vazbu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jako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jsou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fakturace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dat</a:t>
            </a:r>
            <a:r>
              <a:rPr lang="en-US" dirty="0">
                <a:ea typeface="+mj-lt"/>
                <a:cs typeface="+mj-lt"/>
              </a:rPr>
              <a:t> v </a:t>
            </a:r>
            <a:r>
              <a:rPr lang="en-US" err="1">
                <a:ea typeface="+mj-lt"/>
                <a:cs typeface="+mj-lt"/>
              </a:rPr>
              <a:t>superpočítačích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noční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59F46-C61C-1EE8-125F-FE183E2AB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C6684-C073-4109-B915-A24724F821CB}" type="datetime1">
              <a:t>12/9/2024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11C0F-28D1-3808-04AE-3549F3CE0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B7E5F-9440-C01E-D041-508F6046E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4</a:t>
            </a:fld>
            <a:endParaRPr lang="en-US" dirty="0"/>
          </a:p>
        </p:txBody>
      </p:sp>
      <p:pic>
        <p:nvPicPr>
          <p:cNvPr id="7" name="Picture 6" descr="Stock fotografie Shromažďování Nebo Agregace Dat Naplnění Databáze  Kvantitativní Metoda – stáhnout obrázek nyní - iStock">
            <a:extLst>
              <a:ext uri="{FF2B5EF4-FFF2-40B4-BE49-F238E27FC236}">
                <a16:creationId xmlns:a16="http://schemas.microsoft.com/office/drawing/2014/main" id="{27D2D35C-EB99-E3DC-D904-8D70AD271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540" y="1934873"/>
            <a:ext cx="3244768" cy="282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42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ED53F-CEDB-C378-CEE5-4AB4354F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12558"/>
            <a:ext cx="10357666" cy="743969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Model host / </a:t>
            </a:r>
            <a:r>
              <a:rPr lang="en-US" dirty="0" err="1">
                <a:solidFill>
                  <a:srgbClr val="FF0000"/>
                </a:solidFill>
              </a:rPr>
              <a:t>terminál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1025D-DF6D-E9B8-FF82-094ACBA31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4" y="646608"/>
            <a:ext cx="9206961" cy="632416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600" b="1" dirty="0" err="1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Definice</a:t>
            </a:r>
            <a:r>
              <a:rPr lang="en-US" sz="1600" b="1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 </a:t>
            </a:r>
            <a:r>
              <a:rPr lang="en-US" sz="1600" b="1" dirty="0" err="1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modelu</a:t>
            </a:r>
            <a:r>
              <a:rPr lang="en-US" sz="1600" b="1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 host / </a:t>
            </a:r>
            <a:r>
              <a:rPr lang="en-US" sz="1600" b="1" dirty="0" err="1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terminál</a:t>
            </a:r>
            <a:r>
              <a:rPr lang="en-US" sz="1600" b="1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:</a:t>
            </a:r>
            <a:endParaRPr lang="en-US" sz="1600" dirty="0">
              <a:solidFill>
                <a:schemeClr val="accent2">
                  <a:lumMod val="76000"/>
                </a:schemeClr>
              </a:solidFill>
              <a:ea typeface="+mj-lt"/>
              <a:cs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dirty="0">
                <a:ea typeface="+mj-lt"/>
                <a:cs typeface="+mj-lt"/>
              </a:rPr>
              <a:t>Host/</a:t>
            </a:r>
            <a:r>
              <a:rPr lang="en-US" sz="1400" err="1">
                <a:ea typeface="+mj-lt"/>
                <a:cs typeface="+mj-lt"/>
              </a:rPr>
              <a:t>terminál</a:t>
            </a:r>
            <a:r>
              <a:rPr lang="en-US" sz="1400" dirty="0">
                <a:ea typeface="+mj-lt"/>
                <a:cs typeface="+mj-lt"/>
              </a:rPr>
              <a:t> model je </a:t>
            </a:r>
            <a:r>
              <a:rPr lang="en-US" sz="1400" err="1">
                <a:ea typeface="+mj-lt"/>
                <a:cs typeface="+mj-lt"/>
              </a:rPr>
              <a:t>architektura</a:t>
            </a:r>
            <a:r>
              <a:rPr lang="en-US" sz="1400" dirty="0">
                <a:ea typeface="+mj-lt"/>
                <a:cs typeface="+mj-lt"/>
              </a:rPr>
              <a:t>, </a:t>
            </a:r>
            <a:r>
              <a:rPr lang="en-US" sz="1400" err="1">
                <a:ea typeface="+mj-lt"/>
                <a:cs typeface="+mj-lt"/>
              </a:rPr>
              <a:t>kde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centrální</a:t>
            </a:r>
            <a:r>
              <a:rPr lang="en-US" sz="1400" dirty="0">
                <a:ea typeface="+mj-lt"/>
                <a:cs typeface="+mj-lt"/>
              </a:rPr>
              <a:t> server (host) </a:t>
            </a:r>
            <a:r>
              <a:rPr lang="en-US" sz="1400" err="1">
                <a:ea typeface="+mj-lt"/>
                <a:cs typeface="+mj-lt"/>
              </a:rPr>
              <a:t>poskytuje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služby</a:t>
            </a:r>
            <a:r>
              <a:rPr lang="en-US" sz="1400" dirty="0">
                <a:ea typeface="+mj-lt"/>
                <a:cs typeface="+mj-lt"/>
              </a:rPr>
              <a:t> a </a:t>
            </a:r>
            <a:r>
              <a:rPr lang="en-US" sz="1400" err="1">
                <a:ea typeface="+mj-lt"/>
                <a:cs typeface="+mj-lt"/>
              </a:rPr>
              <a:t>zpracování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dat</a:t>
            </a:r>
            <a:r>
              <a:rPr lang="en-US" sz="1400" dirty="0">
                <a:ea typeface="+mj-lt"/>
                <a:cs typeface="+mj-lt"/>
              </a:rPr>
              <a:t>, </a:t>
            </a:r>
            <a:r>
              <a:rPr lang="en-US" sz="1400" err="1">
                <a:ea typeface="+mj-lt"/>
                <a:cs typeface="+mj-lt"/>
              </a:rPr>
              <a:t>zatímco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terminály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slouží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jako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uživatelská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rozhraní</a:t>
            </a:r>
            <a:r>
              <a:rPr lang="en-US" sz="1400" dirty="0">
                <a:ea typeface="+mj-lt"/>
                <a:cs typeface="+mj-lt"/>
              </a:rPr>
              <a:t> pro </a:t>
            </a:r>
            <a:r>
              <a:rPr lang="en-US" sz="1400" err="1">
                <a:ea typeface="+mj-lt"/>
                <a:cs typeface="+mj-lt"/>
              </a:rPr>
              <a:t>interakci</a:t>
            </a:r>
            <a:r>
              <a:rPr lang="en-US" sz="1400" dirty="0">
                <a:ea typeface="+mj-lt"/>
                <a:cs typeface="+mj-lt"/>
              </a:rPr>
              <a:t> s </a:t>
            </a:r>
            <a:r>
              <a:rPr lang="en-US" sz="1400" err="1">
                <a:ea typeface="+mj-lt"/>
                <a:cs typeface="+mj-lt"/>
              </a:rPr>
              <a:t>tímto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serverem</a:t>
            </a:r>
            <a:r>
              <a:rPr lang="en-US" sz="1400" dirty="0">
                <a:ea typeface="+mj-lt"/>
                <a:cs typeface="+mj-lt"/>
              </a:rPr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err="1">
                <a:ea typeface="+mj-lt"/>
                <a:cs typeface="+mj-lt"/>
              </a:rPr>
              <a:t>Terminály</a:t>
            </a:r>
            <a:r>
              <a:rPr lang="en-US" sz="1400" dirty="0">
                <a:ea typeface="+mj-lt"/>
                <a:cs typeface="+mj-lt"/>
              </a:rPr>
              <a:t> (</a:t>
            </a:r>
            <a:r>
              <a:rPr lang="en-US" sz="1400" err="1">
                <a:ea typeface="+mj-lt"/>
                <a:cs typeface="+mj-lt"/>
              </a:rPr>
              <a:t>tenké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klienty</a:t>
            </a:r>
            <a:r>
              <a:rPr lang="en-US" sz="1400" dirty="0">
                <a:ea typeface="+mj-lt"/>
                <a:cs typeface="+mj-lt"/>
              </a:rPr>
              <a:t>) </a:t>
            </a:r>
            <a:r>
              <a:rPr lang="en-US" sz="1400" err="1">
                <a:ea typeface="+mj-lt"/>
                <a:cs typeface="+mj-lt"/>
              </a:rPr>
              <a:t>posílají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požadavky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na</a:t>
            </a:r>
            <a:r>
              <a:rPr lang="en-US" sz="1400" dirty="0">
                <a:ea typeface="+mj-lt"/>
                <a:cs typeface="+mj-lt"/>
              </a:rPr>
              <a:t> server, </a:t>
            </a:r>
            <a:r>
              <a:rPr lang="en-US" sz="1400" err="1">
                <a:ea typeface="+mj-lt"/>
                <a:cs typeface="+mj-lt"/>
              </a:rPr>
              <a:t>který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zpracovává</a:t>
            </a:r>
            <a:r>
              <a:rPr lang="en-US" sz="1400" dirty="0">
                <a:ea typeface="+mj-lt"/>
                <a:cs typeface="+mj-lt"/>
              </a:rPr>
              <a:t> data a </a:t>
            </a:r>
            <a:r>
              <a:rPr lang="en-US" sz="1400" err="1">
                <a:ea typeface="+mj-lt"/>
                <a:cs typeface="+mj-lt"/>
              </a:rPr>
              <a:t>vrací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výsledky</a:t>
            </a:r>
            <a:r>
              <a:rPr lang="en-US" sz="1400" dirty="0">
                <a:ea typeface="+mj-lt"/>
                <a:cs typeface="+mj-lt"/>
              </a:rPr>
              <a:t>.</a:t>
            </a:r>
          </a:p>
          <a:p>
            <a:r>
              <a:rPr lang="en-US" sz="1600" b="1" dirty="0" err="1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Použití</a:t>
            </a:r>
            <a:r>
              <a:rPr lang="en-US" sz="1600" b="1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accent2">
                  <a:lumMod val="76000"/>
                </a:schemeClr>
              </a:solidFill>
              <a:ea typeface="+mj-lt"/>
              <a:cs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 dirty="0">
                <a:ea typeface="+mj-lt"/>
                <a:cs typeface="+mj-lt"/>
              </a:rPr>
              <a:t>Model host/</a:t>
            </a:r>
            <a:r>
              <a:rPr lang="en-US" sz="1200" err="1">
                <a:ea typeface="+mj-lt"/>
                <a:cs typeface="+mj-lt"/>
              </a:rPr>
              <a:t>terminál</a:t>
            </a:r>
            <a:r>
              <a:rPr lang="en-US" sz="1200" dirty="0">
                <a:ea typeface="+mj-lt"/>
                <a:cs typeface="+mj-lt"/>
              </a:rPr>
              <a:t> se </a:t>
            </a:r>
            <a:r>
              <a:rPr lang="en-US" sz="1200" err="1">
                <a:ea typeface="+mj-lt"/>
                <a:cs typeface="+mj-lt"/>
              </a:rPr>
              <a:t>často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používá</a:t>
            </a:r>
            <a:r>
              <a:rPr lang="en-US" sz="1200" dirty="0">
                <a:ea typeface="+mj-lt"/>
                <a:cs typeface="+mj-lt"/>
              </a:rPr>
              <a:t> v </a:t>
            </a:r>
            <a:r>
              <a:rPr lang="en-US" sz="1200" err="1">
                <a:ea typeface="+mj-lt"/>
                <a:cs typeface="+mj-lt"/>
              </a:rPr>
              <a:t>prostředích</a:t>
            </a:r>
            <a:r>
              <a:rPr lang="en-US" sz="1200" dirty="0">
                <a:ea typeface="+mj-lt"/>
                <a:cs typeface="+mj-lt"/>
              </a:rPr>
              <a:t>, </a:t>
            </a:r>
            <a:r>
              <a:rPr lang="en-US" sz="1200" err="1">
                <a:ea typeface="+mj-lt"/>
                <a:cs typeface="+mj-lt"/>
              </a:rPr>
              <a:t>kde</a:t>
            </a:r>
            <a:r>
              <a:rPr lang="en-US" sz="1200" dirty="0">
                <a:ea typeface="+mj-lt"/>
                <a:cs typeface="+mj-lt"/>
              </a:rPr>
              <a:t> je </a:t>
            </a:r>
            <a:r>
              <a:rPr lang="en-US" sz="1200" err="1">
                <a:ea typeface="+mj-lt"/>
                <a:cs typeface="+mj-lt"/>
              </a:rPr>
              <a:t>vyžadována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centralizovaná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správa</a:t>
            </a:r>
            <a:r>
              <a:rPr lang="en-US" sz="1200" dirty="0">
                <a:ea typeface="+mj-lt"/>
                <a:cs typeface="+mj-lt"/>
              </a:rPr>
              <a:t> IT </a:t>
            </a:r>
            <a:r>
              <a:rPr lang="en-US" sz="1200" err="1">
                <a:ea typeface="+mj-lt"/>
                <a:cs typeface="+mj-lt"/>
              </a:rPr>
              <a:t>systémů</a:t>
            </a:r>
            <a:r>
              <a:rPr lang="en-US" sz="1200" dirty="0">
                <a:ea typeface="+mj-lt"/>
                <a:cs typeface="+mj-lt"/>
              </a:rPr>
              <a:t> a </a:t>
            </a:r>
            <a:r>
              <a:rPr lang="en-US" sz="1200" err="1">
                <a:ea typeface="+mj-lt"/>
                <a:cs typeface="+mj-lt"/>
              </a:rPr>
              <a:t>minimalizace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nákladů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na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koncové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zařízení</a:t>
            </a:r>
            <a:r>
              <a:rPr lang="en-US" sz="1200" dirty="0">
                <a:ea typeface="+mj-lt"/>
                <a:cs typeface="+mj-lt"/>
              </a:rPr>
              <a:t>. </a:t>
            </a:r>
            <a:r>
              <a:rPr lang="en-US" sz="1200" err="1">
                <a:ea typeface="+mj-lt"/>
                <a:cs typeface="+mj-lt"/>
              </a:rPr>
              <a:t>Typickými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příklady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jsou</a:t>
            </a:r>
            <a:r>
              <a:rPr lang="en-US" sz="1200" dirty="0">
                <a:ea typeface="+mj-lt"/>
                <a:cs typeface="+mj-lt"/>
              </a:rPr>
              <a:t>:</a:t>
            </a:r>
            <a:endParaRPr lang="en-US" sz="1600">
              <a:ea typeface="+mj-lt"/>
              <a:cs typeface="+mj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000" b="1" err="1">
                <a:ea typeface="+mj-lt"/>
                <a:cs typeface="+mj-lt"/>
              </a:rPr>
              <a:t>Podnikové</a:t>
            </a:r>
            <a:r>
              <a:rPr lang="en-US" sz="1000" b="1">
                <a:ea typeface="+mj-lt"/>
                <a:cs typeface="+mj-lt"/>
              </a:rPr>
              <a:t> </a:t>
            </a:r>
            <a:r>
              <a:rPr lang="en-US" sz="1000" b="1" err="1">
                <a:ea typeface="+mj-lt"/>
                <a:cs typeface="+mj-lt"/>
              </a:rPr>
              <a:t>aplikace</a:t>
            </a:r>
            <a:r>
              <a:rPr lang="en-US" sz="1000" dirty="0">
                <a:ea typeface="+mj-lt"/>
                <a:cs typeface="+mj-lt"/>
              </a:rPr>
              <a:t>: </a:t>
            </a:r>
            <a:r>
              <a:rPr lang="en-US" sz="1000" err="1">
                <a:ea typeface="+mj-lt"/>
                <a:cs typeface="+mj-lt"/>
              </a:rPr>
              <a:t>Bankovní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systémy</a:t>
            </a:r>
            <a:r>
              <a:rPr lang="en-US" sz="1000" dirty="0">
                <a:ea typeface="+mj-lt"/>
                <a:cs typeface="+mj-lt"/>
              </a:rPr>
              <a:t>, </a:t>
            </a:r>
            <a:r>
              <a:rPr lang="en-US" sz="1000" err="1">
                <a:ea typeface="+mj-lt"/>
                <a:cs typeface="+mj-lt"/>
              </a:rPr>
              <a:t>kde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zaměstnanci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přistupují</a:t>
            </a:r>
            <a:r>
              <a:rPr lang="en-US" sz="1000" dirty="0">
                <a:ea typeface="+mj-lt"/>
                <a:cs typeface="+mj-lt"/>
              </a:rPr>
              <a:t> k </a:t>
            </a:r>
            <a:r>
              <a:rPr lang="en-US" sz="1000" err="1">
                <a:ea typeface="+mj-lt"/>
                <a:cs typeface="+mj-lt"/>
              </a:rPr>
              <a:t>centrální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databázi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klientů</a:t>
            </a:r>
            <a:r>
              <a:rPr lang="en-US" sz="1000" dirty="0">
                <a:ea typeface="+mj-lt"/>
                <a:cs typeface="+mj-lt"/>
              </a:rPr>
              <a:t> a </a:t>
            </a:r>
            <a:r>
              <a:rPr lang="en-US" sz="1000" err="1">
                <a:ea typeface="+mj-lt"/>
                <a:cs typeface="+mj-lt"/>
              </a:rPr>
              <a:t>provádějí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transakce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přes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jednoduché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terminály</a:t>
            </a:r>
            <a:r>
              <a:rPr lang="en-US" sz="1000" dirty="0">
                <a:ea typeface="+mj-lt"/>
                <a:cs typeface="+mj-lt"/>
              </a:rPr>
              <a:t>.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000" b="1" err="1">
                <a:ea typeface="+mj-lt"/>
                <a:cs typeface="+mj-lt"/>
              </a:rPr>
              <a:t>Zdravotnictví</a:t>
            </a:r>
            <a:r>
              <a:rPr lang="en-US" sz="1000" dirty="0">
                <a:ea typeface="+mj-lt"/>
                <a:cs typeface="+mj-lt"/>
              </a:rPr>
              <a:t>: </a:t>
            </a:r>
            <a:r>
              <a:rPr lang="en-US" sz="1000" err="1">
                <a:ea typeface="+mj-lt"/>
                <a:cs typeface="+mj-lt"/>
              </a:rPr>
              <a:t>Nemocniční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informační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systémy</a:t>
            </a:r>
            <a:r>
              <a:rPr lang="en-US" sz="1000" dirty="0">
                <a:ea typeface="+mj-lt"/>
                <a:cs typeface="+mj-lt"/>
              </a:rPr>
              <a:t>, </a:t>
            </a:r>
            <a:r>
              <a:rPr lang="en-US" sz="1000" err="1">
                <a:ea typeface="+mj-lt"/>
                <a:cs typeface="+mj-lt"/>
              </a:rPr>
              <a:t>kde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lékaři</a:t>
            </a:r>
            <a:r>
              <a:rPr lang="en-US" sz="1000" dirty="0">
                <a:ea typeface="+mj-lt"/>
                <a:cs typeface="+mj-lt"/>
              </a:rPr>
              <a:t> a </a:t>
            </a:r>
            <a:r>
              <a:rPr lang="en-US" sz="1000" err="1">
                <a:ea typeface="+mj-lt"/>
                <a:cs typeface="+mj-lt"/>
              </a:rPr>
              <a:t>sestry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zadávají</a:t>
            </a:r>
            <a:r>
              <a:rPr lang="en-US" sz="1000" dirty="0">
                <a:ea typeface="+mj-lt"/>
                <a:cs typeface="+mj-lt"/>
              </a:rPr>
              <a:t> a </a:t>
            </a:r>
            <a:r>
              <a:rPr lang="en-US" sz="1000" err="1">
                <a:ea typeface="+mj-lt"/>
                <a:cs typeface="+mj-lt"/>
              </a:rPr>
              <a:t>získávají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údaje</a:t>
            </a:r>
            <a:r>
              <a:rPr lang="en-US" sz="1000" dirty="0">
                <a:ea typeface="+mj-lt"/>
                <a:cs typeface="+mj-lt"/>
              </a:rPr>
              <a:t> o </a:t>
            </a:r>
            <a:r>
              <a:rPr lang="en-US" sz="1000" err="1">
                <a:ea typeface="+mj-lt"/>
                <a:cs typeface="+mj-lt"/>
              </a:rPr>
              <a:t>pacientech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pomocí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terminálů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propojených</a:t>
            </a:r>
            <a:r>
              <a:rPr lang="en-US" sz="1000" dirty="0">
                <a:ea typeface="+mj-lt"/>
                <a:cs typeface="+mj-lt"/>
              </a:rPr>
              <a:t> s </a:t>
            </a:r>
            <a:r>
              <a:rPr lang="en-US" sz="1000" err="1">
                <a:ea typeface="+mj-lt"/>
                <a:cs typeface="+mj-lt"/>
              </a:rPr>
              <a:t>centrálním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serverem</a:t>
            </a:r>
            <a:r>
              <a:rPr lang="en-US" sz="1000" dirty="0">
                <a:ea typeface="+mj-lt"/>
                <a:cs typeface="+mj-lt"/>
              </a:rPr>
              <a:t>.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000" b="1" dirty="0">
                <a:ea typeface="+mj-lt"/>
                <a:cs typeface="+mj-lt"/>
              </a:rPr>
              <a:t>Call centra a </a:t>
            </a:r>
            <a:r>
              <a:rPr lang="en-US" sz="1000" b="1" err="1">
                <a:ea typeface="+mj-lt"/>
                <a:cs typeface="+mj-lt"/>
              </a:rPr>
              <a:t>administrativní</a:t>
            </a:r>
            <a:r>
              <a:rPr lang="en-US" sz="1000" b="1" dirty="0">
                <a:ea typeface="+mj-lt"/>
                <a:cs typeface="+mj-lt"/>
              </a:rPr>
              <a:t> </a:t>
            </a:r>
            <a:r>
              <a:rPr lang="en-US" sz="1000" b="1" err="1">
                <a:ea typeface="+mj-lt"/>
                <a:cs typeface="+mj-lt"/>
              </a:rPr>
              <a:t>úřady</a:t>
            </a:r>
            <a:r>
              <a:rPr lang="en-US" sz="1000" dirty="0">
                <a:ea typeface="+mj-lt"/>
                <a:cs typeface="+mj-lt"/>
              </a:rPr>
              <a:t>: </a:t>
            </a:r>
            <a:r>
              <a:rPr lang="en-US" sz="1000" err="1">
                <a:ea typeface="+mj-lt"/>
                <a:cs typeface="+mj-lt"/>
              </a:rPr>
              <a:t>Pracovníci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využívají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tenké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klienty</a:t>
            </a:r>
            <a:r>
              <a:rPr lang="en-US" sz="1000" dirty="0">
                <a:ea typeface="+mj-lt"/>
                <a:cs typeface="+mj-lt"/>
              </a:rPr>
              <a:t> k </a:t>
            </a:r>
            <a:r>
              <a:rPr lang="en-US" sz="1000" err="1">
                <a:ea typeface="+mj-lt"/>
                <a:cs typeface="+mj-lt"/>
              </a:rPr>
              <a:t>přístupu</a:t>
            </a:r>
            <a:r>
              <a:rPr lang="en-US" sz="1000" dirty="0">
                <a:ea typeface="+mj-lt"/>
                <a:cs typeface="+mj-lt"/>
              </a:rPr>
              <a:t> k </a:t>
            </a:r>
            <a:r>
              <a:rPr lang="en-US" sz="1000" err="1">
                <a:ea typeface="+mj-lt"/>
                <a:cs typeface="+mj-lt"/>
              </a:rPr>
              <a:t>centralizovaným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databázím</a:t>
            </a:r>
            <a:r>
              <a:rPr lang="en-US" sz="1000" dirty="0">
                <a:ea typeface="+mj-lt"/>
                <a:cs typeface="+mj-lt"/>
              </a:rPr>
              <a:t> a </a:t>
            </a:r>
            <a:r>
              <a:rPr lang="en-US" sz="1000" err="1">
                <a:ea typeface="+mj-lt"/>
                <a:cs typeface="+mj-lt"/>
              </a:rPr>
              <a:t>aplikacím</a:t>
            </a:r>
            <a:r>
              <a:rPr lang="en-US" sz="1000" dirty="0">
                <a:ea typeface="+mj-lt"/>
                <a:cs typeface="+mj-lt"/>
              </a:rPr>
              <a:t>.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000" b="1" err="1">
                <a:ea typeface="+mj-lt"/>
                <a:cs typeface="+mj-lt"/>
              </a:rPr>
              <a:t>Školství</a:t>
            </a:r>
            <a:r>
              <a:rPr lang="en-US" sz="1000" dirty="0">
                <a:ea typeface="+mj-lt"/>
                <a:cs typeface="+mj-lt"/>
              </a:rPr>
              <a:t>: </a:t>
            </a:r>
            <a:r>
              <a:rPr lang="en-US" sz="1000" err="1">
                <a:ea typeface="+mj-lt"/>
                <a:cs typeface="+mj-lt"/>
              </a:rPr>
              <a:t>Počítačové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učebny</a:t>
            </a:r>
            <a:r>
              <a:rPr lang="en-US" sz="1000" dirty="0">
                <a:ea typeface="+mj-lt"/>
                <a:cs typeface="+mj-lt"/>
              </a:rPr>
              <a:t>, </a:t>
            </a:r>
            <a:r>
              <a:rPr lang="en-US" sz="1000" err="1">
                <a:ea typeface="+mj-lt"/>
                <a:cs typeface="+mj-lt"/>
              </a:rPr>
              <a:t>kde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studenti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pracují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na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terminálech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připojených</a:t>
            </a:r>
            <a:r>
              <a:rPr lang="en-US" sz="1000" dirty="0">
                <a:ea typeface="+mj-lt"/>
                <a:cs typeface="+mj-lt"/>
              </a:rPr>
              <a:t> k </a:t>
            </a:r>
            <a:r>
              <a:rPr lang="en-US" sz="1000" err="1">
                <a:ea typeface="+mj-lt"/>
                <a:cs typeface="+mj-lt"/>
              </a:rPr>
              <a:t>centrálnímu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serveru</a:t>
            </a:r>
            <a:r>
              <a:rPr lang="en-US" sz="1000" dirty="0">
                <a:ea typeface="+mj-lt"/>
                <a:cs typeface="+mj-lt"/>
              </a:rPr>
              <a:t> s </a:t>
            </a:r>
            <a:r>
              <a:rPr lang="en-US" sz="1000" err="1">
                <a:ea typeface="+mj-lt"/>
                <a:cs typeface="+mj-lt"/>
              </a:rPr>
              <a:t>výukovým</a:t>
            </a:r>
            <a:r>
              <a:rPr lang="en-US" sz="1000" dirty="0">
                <a:ea typeface="+mj-lt"/>
                <a:cs typeface="+mj-lt"/>
              </a:rPr>
              <a:t> </a:t>
            </a:r>
            <a:r>
              <a:rPr lang="en-US" sz="1000" err="1">
                <a:ea typeface="+mj-lt"/>
                <a:cs typeface="+mj-lt"/>
              </a:rPr>
              <a:t>softwarem</a:t>
            </a:r>
            <a:r>
              <a:rPr lang="en-US" sz="1000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 err="1">
                <a:ea typeface="+mj-lt"/>
                <a:cs typeface="+mj-lt"/>
              </a:rPr>
              <a:t>Použití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modelu</a:t>
            </a:r>
            <a:r>
              <a:rPr lang="en-US" sz="1200" dirty="0">
                <a:ea typeface="+mj-lt"/>
                <a:cs typeface="+mj-lt"/>
              </a:rPr>
              <a:t> je </a:t>
            </a:r>
            <a:r>
              <a:rPr lang="en-US" sz="1200" err="1">
                <a:ea typeface="+mj-lt"/>
                <a:cs typeface="+mj-lt"/>
              </a:rPr>
              <a:t>vhodné</a:t>
            </a:r>
            <a:r>
              <a:rPr lang="en-US" sz="1200" dirty="0">
                <a:ea typeface="+mj-lt"/>
                <a:cs typeface="+mj-lt"/>
              </a:rPr>
              <a:t> tam, </a:t>
            </a:r>
            <a:r>
              <a:rPr lang="en-US" sz="1200" err="1">
                <a:ea typeface="+mj-lt"/>
                <a:cs typeface="+mj-lt"/>
              </a:rPr>
              <a:t>kde</a:t>
            </a:r>
            <a:r>
              <a:rPr lang="en-US" sz="1200" dirty="0">
                <a:ea typeface="+mj-lt"/>
                <a:cs typeface="+mj-lt"/>
              </a:rPr>
              <a:t> je </a:t>
            </a:r>
            <a:r>
              <a:rPr lang="en-US" sz="1200" err="1">
                <a:ea typeface="+mj-lt"/>
                <a:cs typeface="+mj-lt"/>
              </a:rPr>
              <a:t>důležitá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centralizace</a:t>
            </a:r>
            <a:r>
              <a:rPr lang="en-US" sz="1200" dirty="0">
                <a:ea typeface="+mj-lt"/>
                <a:cs typeface="+mj-lt"/>
              </a:rPr>
              <a:t>, </a:t>
            </a:r>
            <a:r>
              <a:rPr lang="en-US" sz="1200" err="1">
                <a:ea typeface="+mj-lt"/>
                <a:cs typeface="+mj-lt"/>
              </a:rPr>
              <a:t>bezpečnost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dat</a:t>
            </a:r>
            <a:r>
              <a:rPr lang="en-US" sz="1200" dirty="0">
                <a:ea typeface="+mj-lt"/>
                <a:cs typeface="+mj-lt"/>
              </a:rPr>
              <a:t> a </a:t>
            </a:r>
            <a:r>
              <a:rPr lang="en-US" sz="1200" err="1">
                <a:ea typeface="+mj-lt"/>
                <a:cs typeface="+mj-lt"/>
              </a:rPr>
              <a:t>snížení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nákladů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na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správu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jednotlivých</a:t>
            </a:r>
            <a:r>
              <a:rPr lang="en-US" sz="1200" dirty="0">
                <a:ea typeface="+mj-lt"/>
                <a:cs typeface="+mj-lt"/>
              </a:rPr>
              <a:t> </a:t>
            </a:r>
            <a:r>
              <a:rPr lang="en-US" sz="1200" err="1">
                <a:ea typeface="+mj-lt"/>
                <a:cs typeface="+mj-lt"/>
              </a:rPr>
              <a:t>zařízení</a:t>
            </a:r>
            <a:r>
              <a:rPr lang="en-US" sz="1200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sz="1600" b="1" dirty="0" err="1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Výhody</a:t>
            </a:r>
            <a:r>
              <a:rPr lang="en-US" sz="1600" b="1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accent2">
                  <a:lumMod val="76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b="1" dirty="0" err="1">
                <a:solidFill>
                  <a:srgbClr val="002060"/>
                </a:solidFill>
                <a:ea typeface="+mj-lt"/>
                <a:cs typeface="+mj-lt"/>
              </a:rPr>
              <a:t>Centrální</a:t>
            </a:r>
            <a:r>
              <a:rPr lang="en-US" sz="1400" b="1" dirty="0">
                <a:solidFill>
                  <a:srgbClr val="002060"/>
                </a:solidFill>
                <a:ea typeface="+mj-lt"/>
                <a:cs typeface="+mj-lt"/>
              </a:rPr>
              <a:t> </a:t>
            </a:r>
            <a:r>
              <a:rPr lang="en-US" sz="1400" b="1" dirty="0" err="1">
                <a:solidFill>
                  <a:srgbClr val="002060"/>
                </a:solidFill>
                <a:ea typeface="+mj-lt"/>
                <a:cs typeface="+mj-lt"/>
              </a:rPr>
              <a:t>správa</a:t>
            </a:r>
            <a:r>
              <a:rPr lang="en-US" sz="1400" b="1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:</a:t>
            </a:r>
            <a:r>
              <a:rPr lang="en-US" sz="1400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 </a:t>
            </a:r>
            <a:r>
              <a:rPr lang="en-US" sz="1400" dirty="0">
                <a:ea typeface="+mj-lt"/>
                <a:cs typeface="+mj-lt"/>
              </a:rPr>
              <a:t>Snadné </a:t>
            </a:r>
            <a:r>
              <a:rPr lang="en-US" sz="1400" dirty="0" err="1">
                <a:ea typeface="+mj-lt"/>
                <a:cs typeface="+mj-lt"/>
              </a:rPr>
              <a:t>udržování</a:t>
            </a:r>
            <a:r>
              <a:rPr lang="en-US" sz="1400" dirty="0">
                <a:ea typeface="+mj-lt"/>
                <a:cs typeface="+mj-lt"/>
              </a:rPr>
              <a:t> a </a:t>
            </a:r>
            <a:r>
              <a:rPr lang="en-US" sz="1400" dirty="0" err="1">
                <a:ea typeface="+mj-lt"/>
                <a:cs typeface="+mj-lt"/>
              </a:rPr>
              <a:t>aktualizace</a:t>
            </a:r>
            <a:r>
              <a:rPr lang="en-US" sz="1400" dirty="0">
                <a:ea typeface="+mj-lt"/>
                <a:cs typeface="+mj-lt"/>
              </a:rPr>
              <a:t> software </a:t>
            </a:r>
            <a:r>
              <a:rPr lang="en-US" sz="1400" dirty="0" err="1">
                <a:ea typeface="+mj-lt"/>
                <a:cs typeface="+mj-lt"/>
              </a:rPr>
              <a:t>na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dirty="0" err="1">
                <a:ea typeface="+mj-lt"/>
                <a:cs typeface="+mj-lt"/>
              </a:rPr>
              <a:t>jednom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dirty="0" err="1">
                <a:ea typeface="+mj-lt"/>
                <a:cs typeface="+mj-lt"/>
              </a:rPr>
              <a:t>místě</a:t>
            </a:r>
            <a:r>
              <a:rPr lang="en-US" sz="1400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b="1" err="1">
                <a:solidFill>
                  <a:srgbClr val="002060"/>
                </a:solidFill>
                <a:ea typeface="+mj-lt"/>
                <a:cs typeface="+mj-lt"/>
              </a:rPr>
              <a:t>Snížení</a:t>
            </a:r>
            <a:r>
              <a:rPr lang="en-US" sz="1400" b="1" dirty="0">
                <a:solidFill>
                  <a:srgbClr val="002060"/>
                </a:solidFill>
                <a:ea typeface="+mj-lt"/>
                <a:cs typeface="+mj-lt"/>
              </a:rPr>
              <a:t> </a:t>
            </a:r>
            <a:r>
              <a:rPr lang="en-US" sz="1400" b="1" err="1">
                <a:solidFill>
                  <a:srgbClr val="002060"/>
                </a:solidFill>
                <a:ea typeface="+mj-lt"/>
                <a:cs typeface="+mj-lt"/>
              </a:rPr>
              <a:t>nákladů</a:t>
            </a:r>
            <a:r>
              <a:rPr lang="en-US" sz="1400" b="1" dirty="0">
                <a:solidFill>
                  <a:srgbClr val="002060"/>
                </a:solidFill>
                <a:ea typeface="+mj-lt"/>
                <a:cs typeface="+mj-lt"/>
              </a:rPr>
              <a:t>:</a:t>
            </a:r>
            <a:r>
              <a:rPr lang="en-US" sz="1400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Terminály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mají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nižší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náklady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na</a:t>
            </a:r>
            <a:r>
              <a:rPr lang="en-US" sz="1400" dirty="0">
                <a:ea typeface="+mj-lt"/>
                <a:cs typeface="+mj-lt"/>
              </a:rPr>
              <a:t> hardware</a:t>
            </a:r>
            <a:r>
              <a:rPr lang="en-US" sz="1400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b="1" err="1">
                <a:solidFill>
                  <a:srgbClr val="002060"/>
                </a:solidFill>
                <a:ea typeface="+mj-lt"/>
                <a:cs typeface="+mj-lt"/>
              </a:rPr>
              <a:t>Bezpečnost</a:t>
            </a:r>
            <a:r>
              <a:rPr lang="en-US" sz="1400" b="1" dirty="0">
                <a:solidFill>
                  <a:srgbClr val="002060"/>
                </a:solidFill>
                <a:ea typeface="+mj-lt"/>
                <a:cs typeface="+mj-lt"/>
              </a:rPr>
              <a:t> a </a:t>
            </a:r>
            <a:r>
              <a:rPr lang="en-US" sz="1400" b="1" err="1">
                <a:solidFill>
                  <a:srgbClr val="002060"/>
                </a:solidFill>
                <a:ea typeface="+mj-lt"/>
                <a:cs typeface="+mj-lt"/>
              </a:rPr>
              <a:t>kontrola</a:t>
            </a:r>
            <a:r>
              <a:rPr lang="en-US" sz="1400" b="1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:</a:t>
            </a:r>
            <a:r>
              <a:rPr lang="en-US" sz="1400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Lepší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řízení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přístupových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práv</a:t>
            </a:r>
            <a:r>
              <a:rPr lang="en-US" sz="1400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sz="1600" b="1" dirty="0" err="1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Nevýhody</a:t>
            </a:r>
            <a:r>
              <a:rPr lang="en-US" sz="1600" b="1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accent2">
                  <a:lumMod val="76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b="1" err="1">
                <a:solidFill>
                  <a:srgbClr val="002060"/>
                </a:solidFill>
                <a:ea typeface="+mj-lt"/>
                <a:cs typeface="+mj-lt"/>
              </a:rPr>
              <a:t>Závislost</a:t>
            </a:r>
            <a:r>
              <a:rPr lang="en-US" sz="1400" b="1" dirty="0">
                <a:solidFill>
                  <a:srgbClr val="002060"/>
                </a:solidFill>
                <a:ea typeface="+mj-lt"/>
                <a:cs typeface="+mj-lt"/>
              </a:rPr>
              <a:t> </a:t>
            </a:r>
            <a:r>
              <a:rPr lang="en-US" sz="1400" b="1" err="1">
                <a:solidFill>
                  <a:srgbClr val="002060"/>
                </a:solidFill>
                <a:ea typeface="+mj-lt"/>
                <a:cs typeface="+mj-lt"/>
              </a:rPr>
              <a:t>na</a:t>
            </a:r>
            <a:r>
              <a:rPr lang="en-US" sz="1400" b="1" dirty="0">
                <a:solidFill>
                  <a:srgbClr val="002060"/>
                </a:solidFill>
                <a:ea typeface="+mj-lt"/>
                <a:cs typeface="+mj-lt"/>
              </a:rPr>
              <a:t> </a:t>
            </a:r>
            <a:r>
              <a:rPr lang="en-US" sz="1400" b="1" err="1">
                <a:solidFill>
                  <a:srgbClr val="002060"/>
                </a:solidFill>
                <a:ea typeface="+mj-lt"/>
                <a:cs typeface="+mj-lt"/>
              </a:rPr>
              <a:t>serveru</a:t>
            </a:r>
            <a:r>
              <a:rPr lang="en-US" sz="1400" b="1" dirty="0">
                <a:ea typeface="+mj-lt"/>
                <a:cs typeface="+mj-lt"/>
              </a:rPr>
              <a:t>: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Výpadky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serveru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ovlivňují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všechny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uživatele</a:t>
            </a:r>
            <a:r>
              <a:rPr lang="en-US" sz="1400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400" b="1" err="1">
                <a:solidFill>
                  <a:srgbClr val="002060"/>
                </a:solidFill>
                <a:ea typeface="+mj-lt"/>
                <a:cs typeface="+mj-lt"/>
              </a:rPr>
              <a:t>Omezená</a:t>
            </a:r>
            <a:r>
              <a:rPr lang="en-US" sz="1400" b="1" dirty="0">
                <a:solidFill>
                  <a:srgbClr val="002060"/>
                </a:solidFill>
                <a:ea typeface="+mj-lt"/>
                <a:cs typeface="+mj-lt"/>
              </a:rPr>
              <a:t> </a:t>
            </a:r>
            <a:r>
              <a:rPr lang="en-US" sz="1400" b="1" err="1">
                <a:solidFill>
                  <a:srgbClr val="002060"/>
                </a:solidFill>
                <a:ea typeface="+mj-lt"/>
                <a:cs typeface="+mj-lt"/>
              </a:rPr>
              <a:t>flexibilita</a:t>
            </a:r>
            <a:r>
              <a:rPr lang="en-US" sz="1400" b="1" dirty="0">
                <a:solidFill>
                  <a:srgbClr val="002060"/>
                </a:solidFill>
                <a:ea typeface="+mj-lt"/>
                <a:cs typeface="+mj-lt"/>
              </a:rPr>
              <a:t>:</a:t>
            </a:r>
            <a:r>
              <a:rPr lang="en-US" sz="1400" dirty="0">
                <a:solidFill>
                  <a:srgbClr val="002060"/>
                </a:solidFill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Uživatelé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mají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omezené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možnosti</a:t>
            </a:r>
            <a:r>
              <a:rPr lang="en-US" sz="1400" dirty="0">
                <a:ea typeface="+mj-lt"/>
                <a:cs typeface="+mj-lt"/>
              </a:rPr>
              <a:t> </a:t>
            </a:r>
            <a:r>
              <a:rPr lang="en-US" sz="1400" err="1">
                <a:ea typeface="+mj-lt"/>
                <a:cs typeface="+mj-lt"/>
              </a:rPr>
              <a:t>přizpůsobení</a:t>
            </a:r>
            <a:r>
              <a:rPr lang="en-US" sz="1400" dirty="0">
                <a:ea typeface="+mj-lt"/>
                <a:cs typeface="+mj-lt"/>
              </a:rPr>
              <a:t>.</a:t>
            </a:r>
          </a:p>
          <a:p>
            <a:endParaRPr lang="en-US"/>
          </a:p>
          <a:p>
            <a:pPr>
              <a:lnSpc>
                <a:spcPct val="120000"/>
              </a:lnSpc>
            </a:pPr>
            <a:endParaRPr lang="en-US" sz="1600" b="1" dirty="0">
              <a:solidFill>
                <a:schemeClr val="accent2">
                  <a:lumMod val="76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sz="1100"/>
          </a:p>
        </p:txBody>
      </p:sp>
      <p:pic>
        <p:nvPicPr>
          <p:cNvPr id="7" name="Picture 6" descr="Jiří Peterka:">
            <a:extLst>
              <a:ext uri="{FF2B5EF4-FFF2-40B4-BE49-F238E27FC236}">
                <a16:creationId xmlns:a16="http://schemas.microsoft.com/office/drawing/2014/main" id="{E3EA436C-CCA4-F859-3D7C-874E0EEE3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615" y="1530974"/>
            <a:ext cx="3062892" cy="3805096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EBEA5-D519-E52A-7F39-BDEE7773F8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5A4AFAF-5BA5-4A8D-9D7B-6D5D63580531}" type="datetime1">
              <a:pPr>
                <a:spcAft>
                  <a:spcPts val="600"/>
                </a:spcAft>
              </a:pPr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5071D-760F-AF71-E5D0-4513C939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FD770-AE3C-F155-0B91-7320A18D7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12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E85F3E4-8850-E654-55B9-96AE0CE51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743969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Model desktop PC</a:t>
            </a:r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8" name="Content Placeholder 7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0A1BCE9A-EF06-8622-F70E-A0423CCF3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-120108" y="1884261"/>
            <a:ext cx="3909642" cy="4157663"/>
          </a:xfrm>
          <a:noFill/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B1E880A1-F49A-2156-4F16-12A398B3D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95518" y="1401982"/>
            <a:ext cx="7883040" cy="5295840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1" err="1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Definice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modelu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 desktop PC: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Desktop PC je </a:t>
            </a:r>
            <a:r>
              <a:rPr lang="en-US" err="1">
                <a:ea typeface="+mj-lt"/>
                <a:cs typeface="+mj-lt"/>
              </a:rPr>
              <a:t>počítač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který</a:t>
            </a:r>
            <a:r>
              <a:rPr lang="en-US" dirty="0">
                <a:ea typeface="+mj-lt"/>
                <a:cs typeface="+mj-lt"/>
              </a:rPr>
              <a:t> je </a:t>
            </a:r>
            <a:r>
              <a:rPr lang="en-US" err="1">
                <a:ea typeface="+mj-lt"/>
                <a:cs typeface="+mj-lt"/>
              </a:rPr>
              <a:t>navržen</a:t>
            </a:r>
            <a:r>
              <a:rPr lang="en-US" dirty="0">
                <a:ea typeface="+mj-lt"/>
                <a:cs typeface="+mj-lt"/>
              </a:rPr>
              <a:t> pro </a:t>
            </a:r>
            <a:r>
              <a:rPr lang="en-US" err="1">
                <a:ea typeface="+mj-lt"/>
                <a:cs typeface="+mj-lt"/>
              </a:rPr>
              <a:t>použití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pracovním</a:t>
            </a:r>
            <a:r>
              <a:rPr lang="en-US" dirty="0">
                <a:ea typeface="+mj-lt"/>
                <a:cs typeface="+mj-lt"/>
              </a:rPr>
              <a:t> stole. </a:t>
            </a:r>
            <a:r>
              <a:rPr lang="en-US" err="1">
                <a:ea typeface="+mj-lt"/>
                <a:cs typeface="+mj-lt"/>
              </a:rPr>
              <a:t>Obvykle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zahrnuje</a:t>
            </a:r>
            <a:r>
              <a:rPr lang="en-US" dirty="0">
                <a:ea typeface="+mj-lt"/>
                <a:cs typeface="+mj-lt"/>
              </a:rPr>
              <a:t> monitor, </a:t>
            </a:r>
            <a:r>
              <a:rPr lang="en-US" err="1">
                <a:ea typeface="+mj-lt"/>
                <a:cs typeface="+mj-lt"/>
              </a:rPr>
              <a:t>klávesnici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myš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procesor</a:t>
            </a:r>
            <a:r>
              <a:rPr lang="en-US" dirty="0">
                <a:ea typeface="+mj-lt"/>
                <a:cs typeface="+mj-lt"/>
              </a:rPr>
              <a:t> v </a:t>
            </a:r>
            <a:r>
              <a:rPr lang="en-US" err="1">
                <a:ea typeface="+mj-lt"/>
                <a:cs typeface="+mj-lt"/>
              </a:rPr>
              <a:t>jedné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jednotce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j-lt"/>
                <a:cs typeface="+mj-lt"/>
              </a:rPr>
              <a:t>Slouží</a:t>
            </a:r>
            <a:r>
              <a:rPr lang="en-US" dirty="0">
                <a:ea typeface="+mj-lt"/>
                <a:cs typeface="+mj-lt"/>
              </a:rPr>
              <a:t> k </a:t>
            </a:r>
            <a:r>
              <a:rPr lang="en-US" dirty="0" err="1">
                <a:ea typeface="+mj-lt"/>
                <a:cs typeface="+mj-lt"/>
              </a:rPr>
              <a:t>individuálnímu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dat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interakci</a:t>
            </a:r>
            <a:r>
              <a:rPr lang="en-US" dirty="0">
                <a:ea typeface="+mj-lt"/>
                <a:cs typeface="+mj-lt"/>
              </a:rPr>
              <a:t> s </a:t>
            </a:r>
            <a:r>
              <a:rPr lang="en-US" dirty="0" err="1">
                <a:ea typeface="+mj-lt"/>
                <a:cs typeface="+mj-lt"/>
              </a:rPr>
              <a:t>uživatelskými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aplikacemi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Hlavní </a:t>
            </a:r>
            <a:r>
              <a:rPr lang="en-US" b="1" err="1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charakteristiky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err="1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Výkon</a:t>
            </a:r>
            <a:r>
              <a:rPr lang="en-US" b="1" dirty="0">
                <a:ea typeface="+mj-lt"/>
                <a:cs typeface="+mj-lt"/>
              </a:rPr>
              <a:t>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Vysoký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výkon</a:t>
            </a:r>
            <a:r>
              <a:rPr lang="en-US" dirty="0">
                <a:ea typeface="+mj-lt"/>
                <a:cs typeface="+mj-lt"/>
              </a:rPr>
              <a:t> pro </a:t>
            </a:r>
            <a:r>
              <a:rPr lang="en-US" err="1">
                <a:ea typeface="+mj-lt"/>
                <a:cs typeface="+mj-lt"/>
              </a:rPr>
              <a:t>individuální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uživatelské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úkoly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jako</a:t>
            </a:r>
            <a:r>
              <a:rPr lang="en-US" dirty="0">
                <a:ea typeface="+mj-lt"/>
                <a:cs typeface="+mj-lt"/>
              </a:rPr>
              <a:t> je </a:t>
            </a:r>
            <a:r>
              <a:rPr lang="en-US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textu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grafika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videa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err="1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Flexibilita</a:t>
            </a:r>
            <a:r>
              <a:rPr lang="en-US" b="1" dirty="0">
                <a:ea typeface="+mj-lt"/>
                <a:cs typeface="+mj-lt"/>
              </a:rPr>
              <a:t>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Uživatelé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mají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možnost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instalovat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různé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přizpůsobit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své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pracovní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prostředí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err="1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Nízké</a:t>
            </a:r>
            <a:r>
              <a:rPr lang="en-US" b="1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náklady</a:t>
            </a:r>
            <a:r>
              <a:rPr lang="en-US" b="1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na</a:t>
            </a:r>
            <a:r>
              <a:rPr lang="en-US" b="1" dirty="0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2">
                    <a:lumMod val="76000"/>
                  </a:schemeClr>
                </a:solidFill>
                <a:ea typeface="+mj-lt"/>
                <a:cs typeface="+mj-lt"/>
              </a:rPr>
              <a:t>vstup</a:t>
            </a:r>
            <a:r>
              <a:rPr lang="en-US" b="1" dirty="0">
                <a:ea typeface="+mj-lt"/>
                <a:cs typeface="+mj-lt"/>
              </a:rPr>
              <a:t>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Ideální</a:t>
            </a:r>
            <a:r>
              <a:rPr lang="en-US" dirty="0">
                <a:ea typeface="+mj-lt"/>
                <a:cs typeface="+mj-lt"/>
              </a:rPr>
              <a:t> pro </a:t>
            </a:r>
            <a:r>
              <a:rPr lang="en-US" err="1">
                <a:ea typeface="+mj-lt"/>
                <a:cs typeface="+mj-lt"/>
              </a:rPr>
              <a:t>malé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podniky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jednotlivce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kteří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potřebují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přístup</a:t>
            </a:r>
            <a:r>
              <a:rPr lang="en-US" dirty="0">
                <a:ea typeface="+mj-lt"/>
                <a:cs typeface="+mj-lt"/>
              </a:rPr>
              <a:t> k </a:t>
            </a:r>
            <a:r>
              <a:rPr lang="en-US" err="1">
                <a:ea typeface="+mj-lt"/>
                <a:cs typeface="+mj-lt"/>
              </a:rPr>
              <a:t>počítačovým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aplikacím</a:t>
            </a:r>
            <a:r>
              <a:rPr lang="en-US" dirty="0">
                <a:ea typeface="+mj-lt"/>
                <a:cs typeface="+mj-lt"/>
              </a:rPr>
              <a:t> bez </a:t>
            </a:r>
            <a:r>
              <a:rPr lang="en-US" err="1">
                <a:ea typeface="+mj-lt"/>
                <a:cs typeface="+mj-lt"/>
              </a:rPr>
              <a:t>složité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infrastruktury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b="1" err="1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Příklady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použití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V </a:t>
            </a:r>
            <a:r>
              <a:rPr lang="en-US" err="1">
                <a:ea typeface="+mj-lt"/>
                <a:cs typeface="+mj-lt"/>
              </a:rPr>
              <a:t>kancelářích</a:t>
            </a:r>
            <a:r>
              <a:rPr lang="en-US" dirty="0">
                <a:ea typeface="+mj-lt"/>
                <a:cs typeface="+mj-lt"/>
              </a:rPr>
              <a:t> pro </a:t>
            </a:r>
            <a:r>
              <a:rPr lang="en-US" err="1">
                <a:ea typeface="+mj-lt"/>
                <a:cs typeface="+mj-lt"/>
              </a:rPr>
              <a:t>administrativní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úkoly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V </a:t>
            </a:r>
            <a:r>
              <a:rPr lang="en-US" err="1">
                <a:ea typeface="+mj-lt"/>
                <a:cs typeface="+mj-lt"/>
              </a:rPr>
              <a:t>domácnostech</a:t>
            </a:r>
            <a:r>
              <a:rPr lang="en-US" dirty="0">
                <a:ea typeface="+mj-lt"/>
                <a:cs typeface="+mj-lt"/>
              </a:rPr>
              <a:t> pro </a:t>
            </a:r>
            <a:r>
              <a:rPr lang="en-US" err="1">
                <a:ea typeface="+mj-lt"/>
                <a:cs typeface="+mj-lt"/>
              </a:rPr>
              <a:t>osobní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použití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jako</a:t>
            </a:r>
            <a:r>
              <a:rPr lang="en-US" dirty="0">
                <a:ea typeface="+mj-lt"/>
                <a:cs typeface="+mj-lt"/>
              </a:rPr>
              <a:t> je </a:t>
            </a:r>
            <a:r>
              <a:rPr lang="en-US" err="1">
                <a:ea typeface="+mj-lt"/>
                <a:cs typeface="+mj-lt"/>
              </a:rPr>
              <a:t>internetové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surfování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hraní</a:t>
            </a:r>
            <a:r>
              <a:rPr lang="en-US" dirty="0">
                <a:ea typeface="+mj-lt"/>
                <a:cs typeface="+mj-lt"/>
              </a:rPr>
              <a:t> her.</a:t>
            </a:r>
            <a:endParaRPr lang="en-US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FD480-C774-ACD3-965E-5E35F917AC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A878EC2-1E34-4BBB-9B4D-E743AB93841A}" type="datetime1">
              <a:pPr>
                <a:spcAft>
                  <a:spcPts val="600"/>
                </a:spcAft>
              </a:pPr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E6CF6-DB87-8E42-479D-154AB6C64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A0021-F2DA-735E-9C98-EF32BFDA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39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44E26-2AA5-450A-7DEC-76D60F5C9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715033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solidFill>
                  <a:schemeClr val="accent3">
                    <a:lumMod val="76000"/>
                  </a:schemeClr>
                </a:solidFill>
              </a:rPr>
              <a:t>Model </a:t>
            </a:r>
            <a:r>
              <a:rPr lang="en-US" err="1">
                <a:solidFill>
                  <a:schemeClr val="accent3">
                    <a:lumMod val="76000"/>
                  </a:schemeClr>
                </a:solidFill>
              </a:rPr>
              <a:t>zlaté</a:t>
            </a:r>
            <a:r>
              <a:rPr lang="en-US" dirty="0">
                <a:solidFill>
                  <a:schemeClr val="accent3">
                    <a:lumMod val="76000"/>
                  </a:schemeClr>
                </a:solidFill>
              </a:rPr>
              <a:t> </a:t>
            </a:r>
            <a:r>
              <a:rPr lang="en-US" err="1">
                <a:solidFill>
                  <a:schemeClr val="accent3">
                    <a:lumMod val="76000"/>
                  </a:schemeClr>
                </a:solidFill>
              </a:rPr>
              <a:t>střední</a:t>
            </a:r>
            <a:r>
              <a:rPr lang="en-US" dirty="0">
                <a:solidFill>
                  <a:schemeClr val="accent3">
                    <a:lumMod val="76000"/>
                  </a:schemeClr>
                </a:solidFill>
              </a:rPr>
              <a:t> </a:t>
            </a:r>
            <a:r>
              <a:rPr lang="en-US" err="1">
                <a:solidFill>
                  <a:schemeClr val="accent3">
                    <a:lumMod val="76000"/>
                  </a:schemeClr>
                </a:solidFill>
              </a:rPr>
              <a:t>cesty</a:t>
            </a:r>
            <a:endParaRPr lang="en-US">
              <a:solidFill>
                <a:schemeClr val="accent3">
                  <a:lumMod val="76000"/>
                </a:schemeClr>
              </a:solidFill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096A397-B75C-E081-F9D7-A34E7791EC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1199426"/>
            <a:ext cx="7435348" cy="497753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err="1">
                <a:solidFill>
                  <a:srgbClr val="00B050"/>
                </a:solidFill>
                <a:ea typeface="+mj-lt"/>
                <a:cs typeface="+mj-lt"/>
              </a:rPr>
              <a:t>Definice</a:t>
            </a:r>
            <a:r>
              <a:rPr lang="en-US" b="1" dirty="0">
                <a:solidFill>
                  <a:srgbClr val="00B050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rgbClr val="00B050"/>
                </a:solidFill>
                <a:ea typeface="+mj-lt"/>
                <a:cs typeface="+mj-lt"/>
              </a:rPr>
              <a:t>modelu</a:t>
            </a:r>
            <a:r>
              <a:rPr lang="en-US" b="1" dirty="0">
                <a:solidFill>
                  <a:srgbClr val="00B050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rgbClr val="00B050"/>
                </a:solidFill>
                <a:ea typeface="+mj-lt"/>
                <a:cs typeface="+mj-lt"/>
              </a:rPr>
              <a:t>zlaté</a:t>
            </a:r>
            <a:r>
              <a:rPr lang="en-US" b="1" dirty="0">
                <a:solidFill>
                  <a:srgbClr val="00B050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rgbClr val="00B050"/>
                </a:solidFill>
                <a:ea typeface="+mj-lt"/>
                <a:cs typeface="+mj-lt"/>
              </a:rPr>
              <a:t>střední</a:t>
            </a:r>
            <a:r>
              <a:rPr lang="en-US" b="1" dirty="0">
                <a:solidFill>
                  <a:srgbClr val="00B050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rgbClr val="00B050"/>
                </a:solidFill>
                <a:ea typeface="+mj-lt"/>
                <a:cs typeface="+mj-lt"/>
              </a:rPr>
              <a:t>cesty</a:t>
            </a:r>
            <a:r>
              <a:rPr lang="en-US" b="1" dirty="0">
                <a:solidFill>
                  <a:srgbClr val="00B050"/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rgbClr val="00B05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Tento</a:t>
            </a:r>
            <a:r>
              <a:rPr lang="en-US" dirty="0">
                <a:ea typeface="+mj-lt"/>
                <a:cs typeface="+mj-lt"/>
              </a:rPr>
              <a:t> model </a:t>
            </a:r>
            <a:r>
              <a:rPr lang="en-US" err="1">
                <a:ea typeface="+mj-lt"/>
                <a:cs typeface="+mj-lt"/>
              </a:rPr>
              <a:t>kombinuje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výhody</a:t>
            </a:r>
            <a:r>
              <a:rPr lang="en-US" dirty="0">
                <a:ea typeface="+mj-lt"/>
                <a:cs typeface="+mj-lt"/>
              </a:rPr>
              <a:t> jak </a:t>
            </a:r>
            <a:r>
              <a:rPr lang="en-US" err="1">
                <a:ea typeface="+mj-lt"/>
                <a:cs typeface="+mj-lt"/>
              </a:rPr>
              <a:t>desktopových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počítačů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tak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centralizovaných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serverů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j-lt"/>
                <a:cs typeface="+mj-lt"/>
              </a:rPr>
              <a:t>Zaměřuje</a:t>
            </a:r>
            <a:r>
              <a:rPr lang="en-US" dirty="0">
                <a:ea typeface="+mj-lt"/>
                <a:cs typeface="+mj-lt"/>
              </a:rPr>
              <a:t> se </a:t>
            </a:r>
            <a:r>
              <a:rPr lang="en-US" dirty="0" err="1">
                <a:ea typeface="+mj-lt"/>
                <a:cs typeface="+mj-lt"/>
              </a:rPr>
              <a:t>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efektivní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sdílení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zdrojů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aplikací</a:t>
            </a:r>
            <a:r>
              <a:rPr lang="en-US" dirty="0">
                <a:ea typeface="+mj-lt"/>
                <a:cs typeface="+mj-lt"/>
              </a:rPr>
              <a:t> v </a:t>
            </a:r>
            <a:r>
              <a:rPr lang="en-US" dirty="0" err="1">
                <a:ea typeface="+mj-lt"/>
                <a:cs typeface="+mj-lt"/>
              </a:rPr>
              <a:t>rámci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organizace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b="1" err="1">
                <a:solidFill>
                  <a:srgbClr val="00B050"/>
                </a:solidFill>
                <a:ea typeface="+mj-lt"/>
                <a:cs typeface="+mj-lt"/>
              </a:rPr>
              <a:t>Nutnost</a:t>
            </a:r>
            <a:r>
              <a:rPr lang="en-US" b="1" dirty="0">
                <a:solidFill>
                  <a:srgbClr val="00B050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rgbClr val="00B050"/>
                </a:solidFill>
                <a:ea typeface="+mj-lt"/>
                <a:cs typeface="+mj-lt"/>
              </a:rPr>
              <a:t>sdílení</a:t>
            </a:r>
            <a:r>
              <a:rPr lang="en-US" b="1" dirty="0">
                <a:solidFill>
                  <a:srgbClr val="00B050"/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rgbClr val="00B05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j-lt"/>
                <a:cs typeface="+mj-lt"/>
              </a:rPr>
              <a:t>Umožňuje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více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uživatelům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přístup</a:t>
            </a:r>
            <a:r>
              <a:rPr lang="en-US" dirty="0">
                <a:ea typeface="+mj-lt"/>
                <a:cs typeface="+mj-lt"/>
              </a:rPr>
              <a:t> k </a:t>
            </a:r>
            <a:r>
              <a:rPr lang="en-US" dirty="0" err="1">
                <a:ea typeface="+mj-lt"/>
                <a:cs typeface="+mj-lt"/>
              </a:rPr>
              <a:t>centrálním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zdrojům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aplikacím</a:t>
            </a:r>
            <a:r>
              <a:rPr lang="en-US" dirty="0">
                <a:ea typeface="+mj-lt"/>
                <a:cs typeface="+mj-lt"/>
              </a:rPr>
              <a:t> bez </a:t>
            </a:r>
            <a:r>
              <a:rPr lang="en-US" dirty="0" err="1">
                <a:ea typeface="+mj-lt"/>
                <a:cs typeface="+mj-lt"/>
              </a:rPr>
              <a:t>nutnosti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investice</a:t>
            </a:r>
            <a:r>
              <a:rPr lang="en-US" dirty="0">
                <a:ea typeface="+mj-lt"/>
                <a:cs typeface="+mj-lt"/>
              </a:rPr>
              <a:t> do </a:t>
            </a:r>
            <a:r>
              <a:rPr lang="en-US" dirty="0" err="1">
                <a:ea typeface="+mj-lt"/>
                <a:cs typeface="+mj-lt"/>
              </a:rPr>
              <a:t>drahého</a:t>
            </a:r>
            <a:r>
              <a:rPr lang="en-US" dirty="0">
                <a:ea typeface="+mj-lt"/>
                <a:cs typeface="+mj-lt"/>
              </a:rPr>
              <a:t> hardware pro </a:t>
            </a:r>
            <a:r>
              <a:rPr lang="en-US" dirty="0" err="1">
                <a:ea typeface="+mj-lt"/>
                <a:cs typeface="+mj-lt"/>
              </a:rPr>
              <a:t>každého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uživatele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Zajišťuje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efektivní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využití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zdrojů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což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snižuje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náklady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b="1" err="1">
                <a:solidFill>
                  <a:srgbClr val="00B050"/>
                </a:solidFill>
                <a:ea typeface="+mj-lt"/>
                <a:cs typeface="+mj-lt"/>
              </a:rPr>
              <a:t>Nutnost</a:t>
            </a:r>
            <a:r>
              <a:rPr lang="en-US" b="1" dirty="0">
                <a:solidFill>
                  <a:srgbClr val="00B050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rgbClr val="00B050"/>
                </a:solidFill>
                <a:ea typeface="+mj-lt"/>
                <a:cs typeface="+mj-lt"/>
              </a:rPr>
              <a:t>spolehlivé</a:t>
            </a:r>
            <a:r>
              <a:rPr lang="en-US" b="1" dirty="0">
                <a:solidFill>
                  <a:srgbClr val="00B050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rgbClr val="00B050"/>
                </a:solidFill>
                <a:ea typeface="+mj-lt"/>
                <a:cs typeface="+mj-lt"/>
              </a:rPr>
              <a:t>sítě</a:t>
            </a:r>
            <a:r>
              <a:rPr lang="en-US" b="1" dirty="0">
                <a:solidFill>
                  <a:srgbClr val="00B050"/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rgbClr val="00B05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j-lt"/>
                <a:cs typeface="+mj-lt"/>
              </a:rPr>
              <a:t>Klíčovým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prvkem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úspěchu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tohoto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modelu</a:t>
            </a:r>
            <a:r>
              <a:rPr lang="en-US" dirty="0">
                <a:ea typeface="+mj-lt"/>
                <a:cs typeface="+mj-lt"/>
              </a:rPr>
              <a:t> je </a:t>
            </a:r>
            <a:r>
              <a:rPr lang="en-US" dirty="0" err="1">
                <a:ea typeface="+mj-lt"/>
                <a:cs typeface="+mj-lt"/>
              </a:rPr>
              <a:t>robustní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spolehlivá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síť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která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zajišťuje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rychlou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komunikaci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mezi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desktopovými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počítači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servery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Zajišťuje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minimální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latenci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vysokou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dostupnost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 descr="Aliana - Ateliér Modré kalhoty">
            <a:extLst>
              <a:ext uri="{FF2B5EF4-FFF2-40B4-BE49-F238E27FC236}">
                <a16:creationId xmlns:a16="http://schemas.microsoft.com/office/drawing/2014/main" id="{C6CBD1FA-AFDF-1863-E8C3-47766ECB8F6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7925" r="11354" b="1"/>
          <a:stretch/>
        </p:blipFill>
        <p:spPr>
          <a:xfrm>
            <a:off x="8415743" y="2077172"/>
            <a:ext cx="3774030" cy="4099790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F5B5F-AC49-E45F-C794-D7F432D33D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9C895B-3567-4F5D-B5ED-E104954A4AFE}" type="datetime1">
              <a:rPr lang="en-US"/>
              <a:pPr>
                <a:spcAft>
                  <a:spcPts val="600"/>
                </a:spcAft>
              </a:pPr>
              <a:t>12/9/2024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9426A-928B-37C9-AB19-A2E26A00E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AAF44-2941-E0F6-F5C4-310A8AC58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653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5D000-DB22-2A73-DB7B-2EE9BE16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687" y="365125"/>
            <a:ext cx="10020071" cy="994754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Model file server / print server / workstation</a:t>
            </a:r>
            <a:endParaRPr lang="en-US" sz="2800" dirty="0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EAAD5-AD70-6065-523B-6216D27A9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558" y="1266945"/>
            <a:ext cx="7454638" cy="524761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 err="1">
                <a:solidFill>
                  <a:schemeClr val="tx2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Definice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tx2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modelu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err="1">
                <a:ea typeface="+mj-lt"/>
                <a:cs typeface="+mj-lt"/>
              </a:rPr>
              <a:t>Tento</a:t>
            </a:r>
            <a:r>
              <a:rPr lang="en-US" dirty="0">
                <a:ea typeface="+mj-lt"/>
                <a:cs typeface="+mj-lt"/>
              </a:rPr>
              <a:t> model se </a:t>
            </a:r>
            <a:r>
              <a:rPr lang="en-US" err="1">
                <a:ea typeface="+mj-lt"/>
                <a:cs typeface="+mj-lt"/>
              </a:rPr>
              <a:t>skládá</a:t>
            </a:r>
            <a:r>
              <a:rPr lang="en-US" dirty="0">
                <a:ea typeface="+mj-lt"/>
                <a:cs typeface="+mj-lt"/>
              </a:rPr>
              <a:t> z </a:t>
            </a:r>
            <a:r>
              <a:rPr lang="en-US" err="1">
                <a:ea typeface="+mj-lt"/>
                <a:cs typeface="+mj-lt"/>
              </a:rPr>
              <a:t>několika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komponentů</a:t>
            </a:r>
            <a:r>
              <a:rPr lang="en-US" dirty="0">
                <a:ea typeface="+mj-lt"/>
                <a:cs typeface="+mj-lt"/>
              </a:rPr>
              <a:t>: file server, print server a </a:t>
            </a:r>
            <a:r>
              <a:rPr lang="en-US" err="1">
                <a:ea typeface="+mj-lt"/>
                <a:cs typeface="+mj-lt"/>
              </a:rPr>
              <a:t>pracovní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stanice</a:t>
            </a:r>
            <a:r>
              <a:rPr lang="en-US" dirty="0">
                <a:ea typeface="+mj-lt"/>
                <a:cs typeface="+mj-lt"/>
              </a:rPr>
              <a:t> (workstation).</a:t>
            </a:r>
            <a:endParaRPr lang="en-US"/>
          </a:p>
          <a:p>
            <a:pPr lvl="1"/>
            <a:r>
              <a:rPr lang="en-US" dirty="0">
                <a:ea typeface="+mj-lt"/>
                <a:cs typeface="+mj-lt"/>
              </a:rPr>
              <a:t>File server </a:t>
            </a:r>
            <a:r>
              <a:rPr lang="en-US" err="1">
                <a:ea typeface="+mj-lt"/>
                <a:cs typeface="+mj-lt"/>
              </a:rPr>
              <a:t>ukládá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spravuje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soubory</a:t>
            </a:r>
            <a:r>
              <a:rPr lang="en-US" dirty="0">
                <a:ea typeface="+mj-lt"/>
                <a:cs typeface="+mj-lt"/>
              </a:rPr>
              <a:t>, print server </a:t>
            </a:r>
            <a:r>
              <a:rPr lang="en-US" err="1">
                <a:ea typeface="+mj-lt"/>
                <a:cs typeface="+mj-lt"/>
              </a:rPr>
              <a:t>spravuje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tiskové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úlohy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pracovní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stanice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slouží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jako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uživatelská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zařízení</a:t>
            </a:r>
            <a:r>
              <a:rPr lang="en-US" dirty="0">
                <a:ea typeface="+mj-lt"/>
                <a:cs typeface="+mj-lt"/>
              </a:rPr>
              <a:t> pro </a:t>
            </a:r>
            <a:r>
              <a:rPr lang="en-US" err="1">
                <a:ea typeface="+mj-lt"/>
                <a:cs typeface="+mj-lt"/>
              </a:rPr>
              <a:t>přístup</a:t>
            </a:r>
            <a:r>
              <a:rPr lang="en-US" dirty="0">
                <a:ea typeface="+mj-lt"/>
                <a:cs typeface="+mj-lt"/>
              </a:rPr>
              <a:t> k </a:t>
            </a:r>
            <a:r>
              <a:rPr lang="en-US" err="1">
                <a:ea typeface="+mj-lt"/>
                <a:cs typeface="+mj-lt"/>
              </a:rPr>
              <a:t>těmto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službám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b="1" err="1">
                <a:solidFill>
                  <a:schemeClr val="tx2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Funkce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tx2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jednotlivých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tx2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komponentů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>
              <a:buFont typeface="Avenir Next LT Pro Light" panose="020B0604020202020204" pitchFamily="34" charset="0"/>
              <a:buChar char="–"/>
            </a:pPr>
            <a:r>
              <a:rPr lang="en-US" b="1" dirty="0">
                <a:solidFill>
                  <a:schemeClr val="bg1">
                    <a:lumMod val="49000"/>
                  </a:schemeClr>
                </a:solidFill>
                <a:ea typeface="+mj-lt"/>
                <a:cs typeface="+mj-lt"/>
              </a:rPr>
              <a:t>File server: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err="1">
                <a:ea typeface="+mj-lt"/>
                <a:cs typeface="+mj-lt"/>
              </a:rPr>
              <a:t>Centralizuje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úložiště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dat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umožňuje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uživatelům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sdílet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soubory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spolupracovat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projektech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Avenir Next LT Pro Light" panose="020B0604020202020204" pitchFamily="34" charset="0"/>
              <a:buChar char="–"/>
            </a:pPr>
            <a:r>
              <a:rPr lang="en-US" b="1" dirty="0">
                <a:solidFill>
                  <a:schemeClr val="bg1">
                    <a:lumMod val="49000"/>
                  </a:schemeClr>
                </a:solidFill>
                <a:ea typeface="+mj-lt"/>
                <a:cs typeface="+mj-lt"/>
              </a:rPr>
              <a:t>Print server: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 err="1">
                <a:ea typeface="+mj-lt"/>
                <a:cs typeface="+mj-lt"/>
              </a:rPr>
              <a:t>Zpracovává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tiskové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úlohy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distribuuje</a:t>
            </a:r>
            <a:r>
              <a:rPr lang="en-US" dirty="0">
                <a:ea typeface="+mj-lt"/>
                <a:cs typeface="+mj-lt"/>
              </a:rPr>
              <a:t> je k </a:t>
            </a:r>
            <a:r>
              <a:rPr lang="en-US" dirty="0" err="1">
                <a:ea typeface="+mj-lt"/>
                <a:cs typeface="+mj-lt"/>
              </a:rPr>
              <a:t>dostupným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tiskárnám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což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snižuje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zátěž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jednotlivé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pracovní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stanice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 dirty="0"/>
          </a:p>
          <a:p>
            <a:pPr lvl="1">
              <a:buFont typeface="Avenir Next LT Pro Light" panose="020B0604020202020204" pitchFamily="34" charset="0"/>
              <a:buChar char="–"/>
            </a:pPr>
            <a:r>
              <a:rPr lang="en-US" b="1" dirty="0">
                <a:solidFill>
                  <a:schemeClr val="bg1">
                    <a:lumMod val="49000"/>
                  </a:schemeClr>
                </a:solidFill>
                <a:ea typeface="+mj-lt"/>
                <a:cs typeface="+mj-lt"/>
              </a:rPr>
              <a:t>Workstation: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 err="1">
                <a:ea typeface="+mj-lt"/>
                <a:cs typeface="+mj-lt"/>
              </a:rPr>
              <a:t>Nabízí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uživatelům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potřebný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výkon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 pro </a:t>
            </a:r>
            <a:r>
              <a:rPr lang="en-US" dirty="0" err="1">
                <a:ea typeface="+mj-lt"/>
                <a:cs typeface="+mj-lt"/>
              </a:rPr>
              <a:t>vykonávání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jejich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úkolů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>
              <a:buFont typeface="Arial" panose="020B0304020202020204" pitchFamily="34" charset="0"/>
              <a:buChar char="•"/>
            </a:pPr>
            <a:r>
              <a:rPr lang="en-US" b="1" err="1">
                <a:solidFill>
                  <a:schemeClr val="tx2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Příklady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tx2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použití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: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>
                <a:ea typeface="+mj-lt"/>
                <a:cs typeface="+mj-lt"/>
              </a:rPr>
              <a:t>V </a:t>
            </a:r>
            <a:r>
              <a:rPr lang="en-US" err="1">
                <a:ea typeface="+mj-lt"/>
                <a:cs typeface="+mj-lt"/>
              </a:rPr>
              <a:t>kancelářských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prostředích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kde</a:t>
            </a:r>
            <a:r>
              <a:rPr lang="en-US" dirty="0">
                <a:ea typeface="+mj-lt"/>
                <a:cs typeface="+mj-lt"/>
              </a:rPr>
              <a:t> je </a:t>
            </a:r>
            <a:r>
              <a:rPr lang="en-US" err="1">
                <a:ea typeface="+mj-lt"/>
                <a:cs typeface="+mj-lt"/>
              </a:rPr>
              <a:t>potřeba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sdílení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souborů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tiskových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služeb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mezi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více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uživateli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endParaRPr lang="en-US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E4031593-03EB-4D8B-2CFF-148903B7C1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58276" y="1165974"/>
            <a:ext cx="4835043" cy="2411197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43171-C356-7A26-4679-78EE56B57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84623-EB91-468E-920B-BD23F3AA3A49}" type="datetime1">
              <a:t>12/9/2024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C3960-EDD7-2975-0BCF-B74565072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3794E-525C-AEA3-CD55-2720C595C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202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565BF-D18A-FB3A-AB6A-3D61695F4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59928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a typeface="+mj-lt"/>
                <a:cs typeface="+mj-lt"/>
              </a:rPr>
              <a:t>Model </a:t>
            </a:r>
            <a:r>
              <a:rPr lang="en-US" err="1">
                <a:solidFill>
                  <a:schemeClr val="tx1">
                    <a:lumMod val="95000"/>
                    <a:lumOff val="5000"/>
                  </a:schemeClr>
                </a:solidFill>
                <a:ea typeface="+mj-lt"/>
                <a:cs typeface="+mj-lt"/>
              </a:rPr>
              <a:t>klient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ea typeface="+mj-lt"/>
                <a:cs typeface="+mj-lt"/>
              </a:rPr>
              <a:t> / server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3EF9D-6640-2A39-739F-735E7B6FB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8217" y="967932"/>
            <a:ext cx="7927269" cy="572989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 err="1">
                <a:solidFill>
                  <a:schemeClr val="accent3"/>
                </a:solidFill>
                <a:ea typeface="+mj-lt"/>
                <a:cs typeface="+mj-lt"/>
              </a:rPr>
              <a:t>Definice</a:t>
            </a:r>
            <a:r>
              <a:rPr lang="en-US" b="1" dirty="0">
                <a:solidFill>
                  <a:schemeClr val="accent3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3"/>
                </a:solidFill>
                <a:ea typeface="+mj-lt"/>
                <a:cs typeface="+mj-lt"/>
              </a:rPr>
              <a:t>modelu</a:t>
            </a:r>
            <a:r>
              <a:rPr lang="en-US" b="1" dirty="0">
                <a:solidFill>
                  <a:schemeClr val="accent3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3"/>
                </a:solidFill>
                <a:ea typeface="+mj-lt"/>
                <a:cs typeface="+mj-lt"/>
              </a:rPr>
              <a:t>klient</a:t>
            </a:r>
            <a:r>
              <a:rPr lang="en-US" b="1" dirty="0">
                <a:solidFill>
                  <a:schemeClr val="accent3"/>
                </a:solidFill>
                <a:ea typeface="+mj-lt"/>
                <a:cs typeface="+mj-lt"/>
              </a:rPr>
              <a:t> / server:</a:t>
            </a:r>
            <a:endParaRPr lang="en-US" dirty="0">
              <a:solidFill>
                <a:schemeClr val="accent3"/>
              </a:solidFill>
              <a:ea typeface="+mj-lt"/>
              <a:cs typeface="+mj-lt"/>
            </a:endParaRPr>
          </a:p>
          <a:p>
            <a:pPr lvl="1"/>
            <a:r>
              <a:rPr lang="en-US" dirty="0" err="1">
                <a:ea typeface="+mj-lt"/>
                <a:cs typeface="+mj-lt"/>
              </a:rPr>
              <a:t>Klient</a:t>
            </a:r>
            <a:r>
              <a:rPr lang="en-US" dirty="0">
                <a:ea typeface="+mj-lt"/>
                <a:cs typeface="+mj-lt"/>
              </a:rPr>
              <a:t>/server model je </a:t>
            </a:r>
            <a:r>
              <a:rPr lang="en-US" dirty="0" err="1">
                <a:ea typeface="+mj-lt"/>
                <a:cs typeface="+mj-lt"/>
              </a:rPr>
              <a:t>architektura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kde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klientské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požadují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služby</a:t>
            </a:r>
            <a:r>
              <a:rPr lang="en-US" dirty="0">
                <a:ea typeface="+mj-lt"/>
                <a:cs typeface="+mj-lt"/>
              </a:rPr>
              <a:t> od </a:t>
            </a:r>
            <a:r>
              <a:rPr lang="en-US" dirty="0" err="1">
                <a:ea typeface="+mj-lt"/>
                <a:cs typeface="+mj-lt"/>
              </a:rPr>
              <a:t>serverových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aplikací</a:t>
            </a:r>
            <a:r>
              <a:rPr lang="en-US" dirty="0">
                <a:ea typeface="+mj-lt"/>
                <a:cs typeface="+mj-lt"/>
              </a:rPr>
              <a:t>.</a:t>
            </a:r>
          </a:p>
          <a:p>
            <a:pPr lvl="1"/>
            <a:r>
              <a:rPr lang="en-US" dirty="0">
                <a:ea typeface="+mj-lt"/>
                <a:cs typeface="+mj-lt"/>
              </a:rPr>
              <a:t>Server </a:t>
            </a:r>
            <a:r>
              <a:rPr lang="en-US" err="1">
                <a:ea typeface="+mj-lt"/>
                <a:cs typeface="+mj-lt"/>
              </a:rPr>
              <a:t>zpracovává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požadavky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vrací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výsledky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klientovi</a:t>
            </a:r>
            <a:r>
              <a:rPr lang="en-US" dirty="0">
                <a:ea typeface="+mj-lt"/>
                <a:cs typeface="+mj-lt"/>
              </a:rPr>
              <a:t>.</a:t>
            </a:r>
          </a:p>
          <a:p>
            <a:r>
              <a:rPr lang="en-US" b="1" dirty="0">
                <a:solidFill>
                  <a:schemeClr val="accent3"/>
                </a:solidFill>
                <a:ea typeface="+mj-lt"/>
                <a:cs typeface="+mj-lt"/>
              </a:rPr>
              <a:t>Hlavní </a:t>
            </a:r>
            <a:r>
              <a:rPr lang="en-US" b="1" err="1">
                <a:solidFill>
                  <a:schemeClr val="accent3"/>
                </a:solidFill>
                <a:ea typeface="+mj-lt"/>
                <a:cs typeface="+mj-lt"/>
              </a:rPr>
              <a:t>komponenty</a:t>
            </a:r>
            <a:r>
              <a:rPr lang="en-US" b="1" dirty="0">
                <a:solidFill>
                  <a:schemeClr val="accent3"/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accent3"/>
              </a:solidFill>
              <a:ea typeface="+mj-lt"/>
              <a:cs typeface="+mj-lt"/>
            </a:endParaRPr>
          </a:p>
          <a:p>
            <a:pPr lvl="1">
              <a:buFont typeface="Avenir Next LT Pro Light" panose="020B0604020202020204" pitchFamily="34" charset="0"/>
              <a:buChar char="–"/>
            </a:pPr>
            <a:r>
              <a:rPr lang="en-US" b="1" err="1">
                <a:ea typeface="+mj-lt"/>
                <a:cs typeface="+mj-lt"/>
              </a:rPr>
              <a:t>Klient</a:t>
            </a:r>
            <a:r>
              <a:rPr lang="en-US" b="1" dirty="0">
                <a:ea typeface="+mj-lt"/>
                <a:cs typeface="+mj-lt"/>
              </a:rPr>
              <a:t>:</a:t>
            </a:r>
            <a:endParaRPr lang="en-US" dirty="0">
              <a:ea typeface="+mj-lt"/>
              <a:cs typeface="+mj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800" err="1">
                <a:ea typeface="+mj-lt"/>
                <a:cs typeface="+mj-lt"/>
              </a:rPr>
              <a:t>Uživatelé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interagují</a:t>
            </a:r>
            <a:r>
              <a:rPr lang="en-US" sz="1800" dirty="0">
                <a:ea typeface="+mj-lt"/>
                <a:cs typeface="+mj-lt"/>
              </a:rPr>
              <a:t> s </a:t>
            </a:r>
            <a:r>
              <a:rPr lang="en-US" sz="1800" err="1">
                <a:ea typeface="+mj-lt"/>
                <a:cs typeface="+mj-lt"/>
              </a:rPr>
              <a:t>aplikacemi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na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svých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zařízeních</a:t>
            </a:r>
            <a:r>
              <a:rPr lang="en-US" sz="1800" dirty="0">
                <a:ea typeface="+mj-lt"/>
                <a:cs typeface="+mj-lt"/>
              </a:rPr>
              <a:t>, </a:t>
            </a:r>
            <a:r>
              <a:rPr lang="en-US" sz="1800" err="1">
                <a:ea typeface="+mj-lt"/>
                <a:cs typeface="+mj-lt"/>
              </a:rPr>
              <a:t>které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posílají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požadavky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na</a:t>
            </a:r>
            <a:r>
              <a:rPr lang="en-US" sz="1800" dirty="0">
                <a:ea typeface="+mj-lt"/>
                <a:cs typeface="+mj-lt"/>
              </a:rPr>
              <a:t> server.</a:t>
            </a:r>
          </a:p>
          <a:p>
            <a:pPr lvl="1">
              <a:buFont typeface="Avenir Next LT Pro Light" panose="020B0604020202020204" pitchFamily="34" charset="0"/>
              <a:buChar char="–"/>
            </a:pPr>
            <a:r>
              <a:rPr lang="en-US" b="1" dirty="0">
                <a:ea typeface="+mj-lt"/>
                <a:cs typeface="+mj-lt"/>
              </a:rPr>
              <a:t>Server:</a:t>
            </a:r>
            <a:endParaRPr lang="en-US" dirty="0">
              <a:ea typeface="+mj-lt"/>
              <a:cs typeface="+mj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800" err="1">
                <a:ea typeface="+mj-lt"/>
                <a:cs typeface="+mj-lt"/>
              </a:rPr>
              <a:t>Centralizovaná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jednotka</a:t>
            </a:r>
            <a:r>
              <a:rPr lang="en-US" sz="1800" dirty="0">
                <a:ea typeface="+mj-lt"/>
                <a:cs typeface="+mj-lt"/>
              </a:rPr>
              <a:t>, </a:t>
            </a:r>
            <a:r>
              <a:rPr lang="en-US" sz="1800" err="1">
                <a:ea typeface="+mj-lt"/>
                <a:cs typeface="+mj-lt"/>
              </a:rPr>
              <a:t>která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zpracovává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požadavky</a:t>
            </a:r>
            <a:r>
              <a:rPr lang="en-US" sz="1800" dirty="0">
                <a:ea typeface="+mj-lt"/>
                <a:cs typeface="+mj-lt"/>
              </a:rPr>
              <a:t>, </a:t>
            </a:r>
            <a:r>
              <a:rPr lang="en-US" sz="1800" err="1">
                <a:ea typeface="+mj-lt"/>
                <a:cs typeface="+mj-lt"/>
              </a:rPr>
              <a:t>spravuje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databáze</a:t>
            </a:r>
            <a:r>
              <a:rPr lang="en-US" sz="1800" dirty="0">
                <a:ea typeface="+mj-lt"/>
                <a:cs typeface="+mj-lt"/>
              </a:rPr>
              <a:t> a </a:t>
            </a:r>
            <a:r>
              <a:rPr lang="en-US" sz="1800" err="1">
                <a:ea typeface="+mj-lt"/>
                <a:cs typeface="+mj-lt"/>
              </a:rPr>
              <a:t>poskytuje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další</a:t>
            </a:r>
            <a:r>
              <a:rPr lang="en-US" sz="1800" dirty="0">
                <a:ea typeface="+mj-lt"/>
                <a:cs typeface="+mj-lt"/>
              </a:rPr>
              <a:t> </a:t>
            </a:r>
            <a:r>
              <a:rPr lang="en-US" sz="1800" err="1">
                <a:ea typeface="+mj-lt"/>
                <a:cs typeface="+mj-lt"/>
              </a:rPr>
              <a:t>služby</a:t>
            </a:r>
            <a:r>
              <a:rPr lang="en-US" sz="1800" dirty="0">
                <a:ea typeface="+mj-lt"/>
                <a:cs typeface="+mj-lt"/>
              </a:rPr>
              <a:t>.</a:t>
            </a:r>
          </a:p>
          <a:p>
            <a:pPr>
              <a:buFont typeface="Arial" panose="020B0304020202020204" pitchFamily="34" charset="0"/>
              <a:buChar char="•"/>
            </a:pPr>
            <a:r>
              <a:rPr lang="en-US" b="1" err="1">
                <a:solidFill>
                  <a:schemeClr val="accent3"/>
                </a:solidFill>
                <a:ea typeface="+mj-lt"/>
                <a:cs typeface="+mj-lt"/>
              </a:rPr>
              <a:t>Příklady</a:t>
            </a:r>
            <a:r>
              <a:rPr lang="en-US" b="1" dirty="0">
                <a:solidFill>
                  <a:schemeClr val="accent3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3"/>
                </a:solidFill>
                <a:ea typeface="+mj-lt"/>
                <a:cs typeface="+mj-lt"/>
              </a:rPr>
              <a:t>použití</a:t>
            </a:r>
            <a:r>
              <a:rPr lang="en-US" b="1" dirty="0">
                <a:solidFill>
                  <a:schemeClr val="accent3"/>
                </a:solidFill>
                <a:ea typeface="+mj-lt"/>
                <a:cs typeface="+mj-lt"/>
              </a:rPr>
              <a:t>:</a:t>
            </a:r>
            <a:endParaRPr lang="en-US">
              <a:solidFill>
                <a:schemeClr val="accent3"/>
              </a:solidFill>
            </a:endParaRPr>
          </a:p>
          <a:p>
            <a:pPr lvl="1">
              <a:buFont typeface="Avenir Next LT Pro Light" panose="020B0604020202020204" pitchFamily="34" charset="0"/>
              <a:buChar char="–"/>
            </a:pPr>
            <a:r>
              <a:rPr lang="en-US" err="1">
                <a:ea typeface="+mj-lt"/>
                <a:cs typeface="+mj-lt"/>
              </a:rPr>
              <a:t>Webové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databázové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systémy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další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podnikové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b="1" dirty="0" err="1">
                <a:solidFill>
                  <a:schemeClr val="accent3"/>
                </a:solidFill>
                <a:ea typeface="+mj-lt"/>
                <a:cs typeface="+mj-lt"/>
              </a:rPr>
              <a:t>Typy</a:t>
            </a:r>
            <a:r>
              <a:rPr lang="en-US" b="1" dirty="0">
                <a:solidFill>
                  <a:schemeClr val="accent3"/>
                </a:solidFill>
                <a:ea typeface="+mj-lt"/>
                <a:cs typeface="+mj-lt"/>
              </a:rPr>
              <a:t> </a:t>
            </a:r>
            <a:r>
              <a:rPr lang="en-US" b="1" dirty="0" err="1">
                <a:solidFill>
                  <a:schemeClr val="accent3"/>
                </a:solidFill>
                <a:ea typeface="+mj-lt"/>
                <a:cs typeface="+mj-lt"/>
              </a:rPr>
              <a:t>klient</a:t>
            </a:r>
            <a:r>
              <a:rPr lang="en-US" b="1" dirty="0">
                <a:solidFill>
                  <a:schemeClr val="accent3"/>
                </a:solidFill>
                <a:ea typeface="+mj-lt"/>
                <a:cs typeface="+mj-lt"/>
              </a:rPr>
              <a:t>/server </a:t>
            </a:r>
            <a:r>
              <a:rPr lang="en-US" b="1" dirty="0" err="1">
                <a:solidFill>
                  <a:schemeClr val="accent3"/>
                </a:solidFill>
                <a:ea typeface="+mj-lt"/>
                <a:cs typeface="+mj-lt"/>
              </a:rPr>
              <a:t>modelů</a:t>
            </a:r>
            <a:r>
              <a:rPr lang="en-US" b="1" dirty="0">
                <a:solidFill>
                  <a:schemeClr val="accent3"/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accent3"/>
              </a:solidFill>
            </a:endParaRPr>
          </a:p>
          <a:p>
            <a:pPr lvl="1"/>
            <a:r>
              <a:rPr lang="en-US" b="1" err="1">
                <a:ea typeface="+mj-lt"/>
                <a:cs typeface="+mj-lt"/>
              </a:rPr>
              <a:t>Jednoduchý</a:t>
            </a:r>
            <a:r>
              <a:rPr lang="en-US" b="1" dirty="0">
                <a:ea typeface="+mj-lt"/>
                <a:cs typeface="+mj-lt"/>
              </a:rPr>
              <a:t> model: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Klient</a:t>
            </a:r>
            <a:r>
              <a:rPr lang="en-US" dirty="0">
                <a:ea typeface="+mj-lt"/>
                <a:cs typeface="+mj-lt"/>
              </a:rPr>
              <a:t> se </a:t>
            </a:r>
            <a:r>
              <a:rPr lang="en-US" err="1">
                <a:ea typeface="+mj-lt"/>
                <a:cs typeface="+mj-lt"/>
              </a:rPr>
              <a:t>přímo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připojuje</a:t>
            </a:r>
            <a:r>
              <a:rPr lang="en-US" dirty="0">
                <a:ea typeface="+mj-lt"/>
                <a:cs typeface="+mj-lt"/>
              </a:rPr>
              <a:t> k </a:t>
            </a:r>
            <a:r>
              <a:rPr lang="en-US" err="1">
                <a:ea typeface="+mj-lt"/>
                <a:cs typeface="+mj-lt"/>
              </a:rPr>
              <a:t>serveru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/>
            <a:r>
              <a:rPr lang="en-US" b="1" err="1">
                <a:ea typeface="+mj-lt"/>
                <a:cs typeface="+mj-lt"/>
              </a:rPr>
              <a:t>Víceúrovňový</a:t>
            </a:r>
            <a:r>
              <a:rPr lang="en-US" b="1" dirty="0">
                <a:ea typeface="+mj-lt"/>
                <a:cs typeface="+mj-lt"/>
              </a:rPr>
              <a:t> model: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Oddělení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prezentace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dat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což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zvyšuje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flexibilitu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škálovatelnost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endParaRPr lang="en-US" b="1" dirty="0"/>
          </a:p>
        </p:txBody>
      </p:sp>
      <p:pic>
        <p:nvPicPr>
          <p:cNvPr id="8" name="Content Placeholder 7" descr="Client-Server-Model.webp [webp-to-jpg output image]">
            <a:extLst>
              <a:ext uri="{FF2B5EF4-FFF2-40B4-BE49-F238E27FC236}">
                <a16:creationId xmlns:a16="http://schemas.microsoft.com/office/drawing/2014/main" id="{E86E1891-9F66-8EAA-901B-4A45873859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75973" y="3425925"/>
            <a:ext cx="4749478" cy="2445373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BF4D2-A68E-A284-6261-5719B2C6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EE3A-E667-444B-BB46-FDE967A9A7BA}" type="datetime1">
              <a:t>12/9/2024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86A8B-B817-8A3C-8C4E-04813137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DA5DD-5009-0FB1-439F-7B085D055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217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A692-9F48-7074-A440-B2BB117BA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724678"/>
          </a:xfrm>
        </p:spPr>
        <p:txBody>
          <a:bodyPr anchor="b">
            <a:norm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Model peer-to-peer (P2P)</a:t>
            </a:r>
          </a:p>
        </p:txBody>
      </p:sp>
      <p:pic>
        <p:nvPicPr>
          <p:cNvPr id="8" name="Content Placeholder 7" descr="Peer-to-Peer (P2P) - What Is It, Blockchain, Examples, Advantages">
            <a:extLst>
              <a:ext uri="{FF2B5EF4-FFF2-40B4-BE49-F238E27FC236}">
                <a16:creationId xmlns:a16="http://schemas.microsoft.com/office/drawing/2014/main" id="{05635F63-F15F-97AE-DA72-EB26C56A52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-547050" y="1858737"/>
            <a:ext cx="6113905" cy="3581748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678E2-52B8-3659-EA38-D49315593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9998" y="1083680"/>
            <a:ext cx="7352534" cy="544052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err="1">
                <a:ea typeface="+mj-lt"/>
                <a:cs typeface="+mj-lt"/>
              </a:rPr>
              <a:t>Definice</a:t>
            </a:r>
            <a:r>
              <a:rPr lang="en-US" sz="1800" b="1" dirty="0">
                <a:ea typeface="+mj-lt"/>
                <a:cs typeface="+mj-lt"/>
              </a:rPr>
              <a:t> </a:t>
            </a:r>
            <a:r>
              <a:rPr lang="en-US" sz="1800" b="1" err="1">
                <a:ea typeface="+mj-lt"/>
                <a:cs typeface="+mj-lt"/>
              </a:rPr>
              <a:t>modelu</a:t>
            </a:r>
            <a:r>
              <a:rPr lang="en-US" sz="1800" b="1" dirty="0">
                <a:ea typeface="+mj-lt"/>
                <a:cs typeface="+mj-lt"/>
              </a:rPr>
              <a:t> peer-to-peer:</a:t>
            </a:r>
            <a:endParaRPr lang="en-US" sz="1800" dirty="0">
              <a:ea typeface="+mj-lt"/>
              <a:cs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dirty="0">
                <a:ea typeface="+mj-lt"/>
                <a:cs typeface="+mj-lt"/>
              </a:rPr>
              <a:t>V P2P </a:t>
            </a:r>
            <a:r>
              <a:rPr lang="en-US" sz="1600" err="1">
                <a:ea typeface="+mj-lt"/>
                <a:cs typeface="+mj-lt"/>
              </a:rPr>
              <a:t>modelu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fungují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zařízení</a:t>
            </a:r>
            <a:r>
              <a:rPr lang="en-US" sz="1600" dirty="0">
                <a:ea typeface="+mj-lt"/>
                <a:cs typeface="+mj-lt"/>
              </a:rPr>
              <a:t> (peery) </a:t>
            </a:r>
            <a:r>
              <a:rPr lang="en-US" sz="1600" err="1">
                <a:ea typeface="+mj-lt"/>
                <a:cs typeface="+mj-lt"/>
              </a:rPr>
              <a:t>jako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rovné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jednotky</a:t>
            </a:r>
            <a:r>
              <a:rPr lang="en-US" sz="1600" dirty="0">
                <a:ea typeface="+mj-lt"/>
                <a:cs typeface="+mj-lt"/>
              </a:rPr>
              <a:t>, </a:t>
            </a:r>
            <a:r>
              <a:rPr lang="en-US" sz="1600" err="1">
                <a:ea typeface="+mj-lt"/>
                <a:cs typeface="+mj-lt"/>
              </a:rPr>
              <a:t>které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sdílejí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zdroje</a:t>
            </a:r>
            <a:r>
              <a:rPr lang="en-US" sz="1600" dirty="0">
                <a:ea typeface="+mj-lt"/>
                <a:cs typeface="+mj-lt"/>
              </a:rPr>
              <a:t> a </a:t>
            </a:r>
            <a:r>
              <a:rPr lang="en-US" sz="1600" err="1">
                <a:ea typeface="+mj-lt"/>
                <a:cs typeface="+mj-lt"/>
              </a:rPr>
              <a:t>služby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přímo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mezi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sebou</a:t>
            </a:r>
            <a:r>
              <a:rPr lang="en-US" sz="1600" dirty="0">
                <a:ea typeface="+mj-lt"/>
                <a:cs typeface="+mj-lt"/>
              </a:rPr>
              <a:t>, bez </a:t>
            </a:r>
            <a:r>
              <a:rPr lang="en-US" sz="1600" err="1">
                <a:ea typeface="+mj-lt"/>
                <a:cs typeface="+mj-lt"/>
              </a:rPr>
              <a:t>nutnosti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centrálního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serveru</a:t>
            </a:r>
            <a:r>
              <a:rPr lang="en-US" sz="1600" dirty="0">
                <a:ea typeface="+mj-lt"/>
                <a:cs typeface="+mj-lt"/>
              </a:rPr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err="1">
                <a:ea typeface="+mj-lt"/>
                <a:cs typeface="+mj-lt"/>
              </a:rPr>
              <a:t>Každý</a:t>
            </a:r>
            <a:r>
              <a:rPr lang="en-US" sz="1600" dirty="0">
                <a:ea typeface="+mj-lt"/>
                <a:cs typeface="+mj-lt"/>
              </a:rPr>
              <a:t> peer </a:t>
            </a:r>
            <a:r>
              <a:rPr lang="en-US" sz="1600" err="1">
                <a:ea typeface="+mj-lt"/>
                <a:cs typeface="+mj-lt"/>
              </a:rPr>
              <a:t>může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fungovat</a:t>
            </a:r>
            <a:r>
              <a:rPr lang="en-US" sz="1600" dirty="0">
                <a:ea typeface="+mj-lt"/>
                <a:cs typeface="+mj-lt"/>
              </a:rPr>
              <a:t> jak </a:t>
            </a:r>
            <a:r>
              <a:rPr lang="en-US" sz="1600" err="1">
                <a:ea typeface="+mj-lt"/>
                <a:cs typeface="+mj-lt"/>
              </a:rPr>
              <a:t>jako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klient</a:t>
            </a:r>
            <a:r>
              <a:rPr lang="en-US" sz="1600" dirty="0">
                <a:ea typeface="+mj-lt"/>
                <a:cs typeface="+mj-lt"/>
              </a:rPr>
              <a:t>, </a:t>
            </a:r>
            <a:r>
              <a:rPr lang="en-US" sz="1600" err="1">
                <a:ea typeface="+mj-lt"/>
                <a:cs typeface="+mj-lt"/>
              </a:rPr>
              <a:t>tak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jako</a:t>
            </a:r>
            <a:r>
              <a:rPr lang="en-US" sz="1600" dirty="0">
                <a:ea typeface="+mj-lt"/>
                <a:cs typeface="+mj-lt"/>
              </a:rPr>
              <a:t> server.</a:t>
            </a:r>
          </a:p>
          <a:p>
            <a:r>
              <a:rPr lang="en-US" sz="1800" b="1" dirty="0">
                <a:ea typeface="+mj-lt"/>
                <a:cs typeface="+mj-lt"/>
              </a:rPr>
              <a:t>Hlavní </a:t>
            </a:r>
            <a:r>
              <a:rPr lang="en-US" sz="1800" b="1" err="1">
                <a:ea typeface="+mj-lt"/>
                <a:cs typeface="+mj-lt"/>
              </a:rPr>
              <a:t>charakteristiky</a:t>
            </a:r>
            <a:r>
              <a:rPr lang="en-US" sz="1800" b="1" dirty="0">
                <a:ea typeface="+mj-lt"/>
                <a:cs typeface="+mj-lt"/>
              </a:rPr>
              <a:t>:</a:t>
            </a:r>
            <a:endParaRPr lang="en-US" sz="1800" dirty="0">
              <a:ea typeface="+mj-lt"/>
              <a:cs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b="1" err="1">
                <a:solidFill>
                  <a:schemeClr val="accent3"/>
                </a:solidFill>
                <a:ea typeface="+mj-lt"/>
                <a:cs typeface="+mj-lt"/>
              </a:rPr>
              <a:t>Decentralizace</a:t>
            </a:r>
            <a:r>
              <a:rPr lang="en-US" sz="1600" b="1" dirty="0">
                <a:solidFill>
                  <a:schemeClr val="accent3"/>
                </a:solidFill>
                <a:ea typeface="+mj-lt"/>
                <a:cs typeface="+mj-lt"/>
              </a:rPr>
              <a:t>: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Eliminace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potřeby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centrálního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serveru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zvyšuje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odolnost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sítě</a:t>
            </a:r>
            <a:r>
              <a:rPr lang="en-US" sz="1600" dirty="0">
                <a:ea typeface="+mj-lt"/>
                <a:cs typeface="+mj-lt"/>
              </a:rPr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b="1" err="1">
                <a:solidFill>
                  <a:schemeClr val="accent3"/>
                </a:solidFill>
                <a:ea typeface="+mj-lt"/>
                <a:cs typeface="+mj-lt"/>
              </a:rPr>
              <a:t>Flexibilita</a:t>
            </a:r>
            <a:r>
              <a:rPr lang="en-US" sz="1600" b="1" dirty="0">
                <a:ea typeface="+mj-lt"/>
                <a:cs typeface="+mj-lt"/>
              </a:rPr>
              <a:t>: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Uživatelé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mohou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snadno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přidávat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nebo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odstraňovat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zařízení</a:t>
            </a:r>
            <a:r>
              <a:rPr lang="en-US" sz="1600" dirty="0">
                <a:ea typeface="+mj-lt"/>
                <a:cs typeface="+mj-lt"/>
              </a:rPr>
              <a:t> bez </a:t>
            </a:r>
            <a:r>
              <a:rPr lang="en-US" sz="1600" err="1">
                <a:ea typeface="+mj-lt"/>
                <a:cs typeface="+mj-lt"/>
              </a:rPr>
              <a:t>narušení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sítě</a:t>
            </a:r>
            <a:r>
              <a:rPr lang="en-US" sz="1600" dirty="0">
                <a:ea typeface="+mj-lt"/>
                <a:cs typeface="+mj-lt"/>
              </a:rPr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b="1" err="1">
                <a:solidFill>
                  <a:schemeClr val="accent3"/>
                </a:solidFill>
                <a:ea typeface="+mj-lt"/>
                <a:cs typeface="+mj-lt"/>
              </a:rPr>
              <a:t>Sdílení</a:t>
            </a:r>
            <a:r>
              <a:rPr lang="en-US" sz="1600" b="1" dirty="0">
                <a:solidFill>
                  <a:schemeClr val="accent3"/>
                </a:solidFill>
                <a:ea typeface="+mj-lt"/>
                <a:cs typeface="+mj-lt"/>
              </a:rPr>
              <a:t> </a:t>
            </a:r>
            <a:r>
              <a:rPr lang="en-US" sz="1600" b="1" err="1">
                <a:solidFill>
                  <a:schemeClr val="accent3"/>
                </a:solidFill>
                <a:ea typeface="+mj-lt"/>
                <a:cs typeface="+mj-lt"/>
              </a:rPr>
              <a:t>zdrojů</a:t>
            </a:r>
            <a:r>
              <a:rPr lang="en-US" sz="1600" b="1" dirty="0">
                <a:solidFill>
                  <a:schemeClr val="accent3"/>
                </a:solidFill>
                <a:ea typeface="+mj-lt"/>
                <a:cs typeface="+mj-lt"/>
              </a:rPr>
              <a:t>: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Umožňuje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uživatelům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sdílet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soubory</a:t>
            </a:r>
            <a:r>
              <a:rPr lang="en-US" sz="1600" dirty="0">
                <a:ea typeface="+mj-lt"/>
                <a:cs typeface="+mj-lt"/>
              </a:rPr>
              <a:t>, </a:t>
            </a:r>
            <a:r>
              <a:rPr lang="en-US" sz="1600" err="1">
                <a:ea typeface="+mj-lt"/>
                <a:cs typeface="+mj-lt"/>
              </a:rPr>
              <a:t>výpočetní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výkon</a:t>
            </a:r>
            <a:r>
              <a:rPr lang="en-US" sz="1600" dirty="0">
                <a:ea typeface="+mj-lt"/>
                <a:cs typeface="+mj-lt"/>
              </a:rPr>
              <a:t> a </a:t>
            </a:r>
            <a:r>
              <a:rPr lang="en-US" sz="1600" err="1">
                <a:ea typeface="+mj-lt"/>
                <a:cs typeface="+mj-lt"/>
              </a:rPr>
              <a:t>další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zdroje</a:t>
            </a:r>
            <a:r>
              <a:rPr lang="en-US" sz="1600" dirty="0">
                <a:ea typeface="+mj-lt"/>
                <a:cs typeface="+mj-lt"/>
              </a:rPr>
              <a:t>.</a:t>
            </a:r>
          </a:p>
          <a:p>
            <a:r>
              <a:rPr lang="en-US" sz="1800" b="1" err="1">
                <a:ea typeface="+mj-lt"/>
                <a:cs typeface="+mj-lt"/>
              </a:rPr>
              <a:t>Příklady</a:t>
            </a:r>
            <a:r>
              <a:rPr lang="en-US" sz="1800" b="1" dirty="0">
                <a:ea typeface="+mj-lt"/>
                <a:cs typeface="+mj-lt"/>
              </a:rPr>
              <a:t> </a:t>
            </a:r>
            <a:r>
              <a:rPr lang="en-US" sz="1800" b="1" err="1">
                <a:ea typeface="+mj-lt"/>
                <a:cs typeface="+mj-lt"/>
              </a:rPr>
              <a:t>použití</a:t>
            </a:r>
            <a:r>
              <a:rPr lang="en-US" sz="1800" b="1" dirty="0">
                <a:ea typeface="+mj-lt"/>
                <a:cs typeface="+mj-lt"/>
              </a:rPr>
              <a:t>:</a:t>
            </a:r>
            <a:endParaRPr lang="en-US" sz="1800" dirty="0">
              <a:ea typeface="+mj-lt"/>
              <a:cs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err="1">
                <a:ea typeface="+mj-lt"/>
                <a:cs typeface="+mj-lt"/>
              </a:rPr>
              <a:t>Sdílení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souborů</a:t>
            </a:r>
            <a:r>
              <a:rPr lang="en-US" sz="1600" dirty="0">
                <a:ea typeface="+mj-lt"/>
                <a:cs typeface="+mj-lt"/>
              </a:rPr>
              <a:t> (</a:t>
            </a:r>
            <a:r>
              <a:rPr lang="en-US" sz="1600" err="1">
                <a:ea typeface="+mj-lt"/>
                <a:cs typeface="+mj-lt"/>
              </a:rPr>
              <a:t>např</a:t>
            </a:r>
            <a:r>
              <a:rPr lang="en-US" sz="1600" dirty="0">
                <a:ea typeface="+mj-lt"/>
                <a:cs typeface="+mj-lt"/>
              </a:rPr>
              <a:t>. BitTorrent).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 err="1">
                <a:ea typeface="+mj-lt"/>
                <a:cs typeface="+mj-lt"/>
              </a:rPr>
              <a:t>Decentralizované</a:t>
            </a:r>
            <a:r>
              <a:rPr lang="en-US" sz="1600" dirty="0">
                <a:ea typeface="+mj-lt"/>
                <a:cs typeface="+mj-lt"/>
              </a:rPr>
              <a:t> </a:t>
            </a:r>
            <a:r>
              <a:rPr lang="en-US" sz="1600" err="1">
                <a:ea typeface="+mj-lt"/>
                <a:cs typeface="+mj-lt"/>
              </a:rPr>
              <a:t>aplikace</a:t>
            </a:r>
            <a:r>
              <a:rPr lang="en-US" sz="1600" dirty="0">
                <a:ea typeface="+mj-lt"/>
                <a:cs typeface="+mj-lt"/>
              </a:rPr>
              <a:t> (</a:t>
            </a:r>
            <a:r>
              <a:rPr lang="en-US" sz="1600" err="1">
                <a:ea typeface="+mj-lt"/>
                <a:cs typeface="+mj-lt"/>
              </a:rPr>
              <a:t>např</a:t>
            </a:r>
            <a:r>
              <a:rPr lang="en-US" sz="1600" dirty="0">
                <a:ea typeface="+mj-lt"/>
                <a:cs typeface="+mj-lt"/>
              </a:rPr>
              <a:t>. blockchain </a:t>
            </a:r>
            <a:r>
              <a:rPr lang="en-US" sz="1600" err="1">
                <a:ea typeface="+mj-lt"/>
                <a:cs typeface="+mj-lt"/>
              </a:rPr>
              <a:t>technologie</a:t>
            </a:r>
            <a:r>
              <a:rPr lang="en-US" sz="1600" dirty="0">
                <a:ea typeface="+mj-lt"/>
                <a:cs typeface="+mj-lt"/>
              </a:rPr>
              <a:t>).</a:t>
            </a:r>
            <a:endParaRPr lang="en-US" sz="1600">
              <a:ea typeface="+mj-lt"/>
              <a:cs typeface="+mj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82BCC-6859-393D-AC11-81AFB1779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5DC6FC-2972-443C-8BB6-A97C49DF0E87}" type="datetime1">
              <a:pPr>
                <a:spcAft>
                  <a:spcPts val="600"/>
                </a:spcAft>
              </a:pPr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719B3-1E34-36E9-B202-C8EC49F6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1169F-58B6-6665-D570-AE702DFD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0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0D5C8-5014-38F1-1D5B-88B5FA3D8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chemeClr val="accent4">
                    <a:lumMod val="49000"/>
                  </a:schemeClr>
                </a:solidFill>
                <a:ea typeface="+mj-lt"/>
                <a:cs typeface="+mj-lt"/>
              </a:rPr>
              <a:t>Modifikace</a:t>
            </a:r>
            <a:r>
              <a:rPr lang="en-US" dirty="0">
                <a:solidFill>
                  <a:schemeClr val="accent4">
                    <a:lumMod val="49000"/>
                  </a:schemeClr>
                </a:solidFill>
                <a:ea typeface="+mj-lt"/>
                <a:cs typeface="+mj-lt"/>
              </a:rPr>
              <a:t> </a:t>
            </a:r>
            <a:r>
              <a:rPr lang="en-US" err="1">
                <a:solidFill>
                  <a:schemeClr val="accent4">
                    <a:lumMod val="49000"/>
                  </a:schemeClr>
                </a:solidFill>
                <a:ea typeface="+mj-lt"/>
                <a:cs typeface="+mj-lt"/>
              </a:rPr>
              <a:t>modelu</a:t>
            </a:r>
            <a:r>
              <a:rPr lang="en-US" dirty="0">
                <a:solidFill>
                  <a:schemeClr val="accent4">
                    <a:lumMod val="49000"/>
                  </a:schemeClr>
                </a:solidFill>
                <a:ea typeface="+mj-lt"/>
                <a:cs typeface="+mj-lt"/>
              </a:rPr>
              <a:t> </a:t>
            </a:r>
            <a:r>
              <a:rPr lang="en-US" err="1">
                <a:solidFill>
                  <a:schemeClr val="accent4">
                    <a:lumMod val="49000"/>
                  </a:schemeClr>
                </a:solidFill>
                <a:ea typeface="+mj-lt"/>
                <a:cs typeface="+mj-lt"/>
              </a:rPr>
              <a:t>klient</a:t>
            </a:r>
            <a:r>
              <a:rPr lang="en-US" dirty="0">
                <a:solidFill>
                  <a:schemeClr val="accent4">
                    <a:lumMod val="49000"/>
                  </a:schemeClr>
                </a:solidFill>
                <a:ea typeface="+mj-lt"/>
                <a:cs typeface="+mj-lt"/>
              </a:rPr>
              <a:t>/server </a:t>
            </a:r>
            <a:r>
              <a:rPr lang="en-US" err="1">
                <a:solidFill>
                  <a:schemeClr val="accent4">
                    <a:lumMod val="49000"/>
                  </a:schemeClr>
                </a:solidFill>
                <a:ea typeface="+mj-lt"/>
                <a:cs typeface="+mj-lt"/>
              </a:rPr>
              <a:t>na</a:t>
            </a:r>
            <a:r>
              <a:rPr lang="en-US" dirty="0">
                <a:solidFill>
                  <a:schemeClr val="accent4">
                    <a:lumMod val="49000"/>
                  </a:schemeClr>
                </a:solidFill>
                <a:ea typeface="+mj-lt"/>
                <a:cs typeface="+mj-lt"/>
              </a:rPr>
              <a:t> 3 </a:t>
            </a:r>
            <a:r>
              <a:rPr lang="en-US" err="1">
                <a:solidFill>
                  <a:schemeClr val="accent4">
                    <a:lumMod val="49000"/>
                  </a:schemeClr>
                </a:solidFill>
                <a:ea typeface="+mj-lt"/>
                <a:cs typeface="+mj-lt"/>
              </a:rPr>
              <a:t>části</a:t>
            </a:r>
            <a:endParaRPr lang="en-US" err="1">
              <a:solidFill>
                <a:schemeClr val="accent4">
                  <a:lumMod val="49000"/>
                </a:schemeClr>
              </a:solidFill>
            </a:endParaRPr>
          </a:p>
        </p:txBody>
      </p:sp>
      <p:pic>
        <p:nvPicPr>
          <p:cNvPr id="8" name="Content Placeholder 7" descr="Jiří Peterka: Díl 9, Klient/server na různé způsoby">
            <a:extLst>
              <a:ext uri="{FF2B5EF4-FFF2-40B4-BE49-F238E27FC236}">
                <a16:creationId xmlns:a16="http://schemas.microsoft.com/office/drawing/2014/main" id="{FFEAD55D-2D7C-2CB6-C7F8-A88AF70128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351" y="1806103"/>
            <a:ext cx="5407065" cy="399567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5AAEE-5B78-0D72-D47E-C9AD37D3C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5972" y="1209072"/>
            <a:ext cx="6686991" cy="548875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 err="1">
                <a:solidFill>
                  <a:srgbClr val="00B0F0"/>
                </a:solidFill>
                <a:ea typeface="+mj-lt"/>
                <a:cs typeface="+mj-lt"/>
              </a:rPr>
              <a:t>Definice</a:t>
            </a:r>
            <a:r>
              <a:rPr lang="en-US" b="1" dirty="0">
                <a:solidFill>
                  <a:srgbClr val="00B0F0"/>
                </a:solidFill>
                <a:ea typeface="+mj-lt"/>
                <a:cs typeface="+mj-lt"/>
              </a:rPr>
              <a:t> </a:t>
            </a:r>
            <a:r>
              <a:rPr lang="en-US" b="1" dirty="0" err="1">
                <a:solidFill>
                  <a:srgbClr val="00B0F0"/>
                </a:solidFill>
                <a:ea typeface="+mj-lt"/>
                <a:cs typeface="+mj-lt"/>
              </a:rPr>
              <a:t>tříúrovňového</a:t>
            </a:r>
            <a:r>
              <a:rPr lang="en-US" b="1" dirty="0">
                <a:solidFill>
                  <a:srgbClr val="00B0F0"/>
                </a:solidFill>
                <a:ea typeface="+mj-lt"/>
                <a:cs typeface="+mj-lt"/>
              </a:rPr>
              <a:t> </a:t>
            </a:r>
            <a:r>
              <a:rPr lang="en-US" b="1" dirty="0" err="1">
                <a:solidFill>
                  <a:srgbClr val="00B0F0"/>
                </a:solidFill>
                <a:ea typeface="+mj-lt"/>
                <a:cs typeface="+mj-lt"/>
              </a:rPr>
              <a:t>modelu</a:t>
            </a:r>
            <a:r>
              <a:rPr lang="en-US" b="1" dirty="0">
                <a:solidFill>
                  <a:srgbClr val="00B0F0"/>
                </a:solidFill>
                <a:ea typeface="+mj-lt"/>
                <a:cs typeface="+mj-lt"/>
              </a:rPr>
              <a:t>:</a:t>
            </a:r>
            <a:endParaRPr lang="en-US">
              <a:solidFill>
                <a:srgbClr val="00B0F0"/>
              </a:solidFill>
            </a:endParaRPr>
          </a:p>
          <a:p>
            <a:pPr lvl="1"/>
            <a:r>
              <a:rPr lang="en-US" err="1">
                <a:ea typeface="+mj-lt"/>
                <a:cs typeface="+mj-lt"/>
              </a:rPr>
              <a:t>Tříúrovňový</a:t>
            </a:r>
            <a:r>
              <a:rPr lang="en-US" dirty="0">
                <a:ea typeface="+mj-lt"/>
                <a:cs typeface="+mj-lt"/>
              </a:rPr>
              <a:t> model </a:t>
            </a:r>
            <a:r>
              <a:rPr lang="en-US" err="1">
                <a:ea typeface="+mj-lt"/>
                <a:cs typeface="+mj-lt"/>
              </a:rPr>
              <a:t>rozděluje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architekturu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klient</a:t>
            </a:r>
            <a:r>
              <a:rPr lang="en-US" dirty="0">
                <a:ea typeface="+mj-lt"/>
                <a:cs typeface="+mj-lt"/>
              </a:rPr>
              <a:t>/server </a:t>
            </a:r>
            <a:r>
              <a:rPr lang="en-US" err="1">
                <a:ea typeface="+mj-lt"/>
                <a:cs typeface="+mj-lt"/>
              </a:rPr>
              <a:t>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tři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samostatné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komponenty</a:t>
            </a:r>
            <a:r>
              <a:rPr lang="en-US" dirty="0">
                <a:ea typeface="+mj-lt"/>
                <a:cs typeface="+mj-lt"/>
              </a:rPr>
              <a:t>: </a:t>
            </a:r>
            <a:r>
              <a:rPr lang="en-US" err="1">
                <a:ea typeface="+mj-lt"/>
                <a:cs typeface="+mj-lt"/>
              </a:rPr>
              <a:t>prezentační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aplikační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databázovou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vrstvu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/>
            <a:r>
              <a:rPr lang="en-US" err="1">
                <a:ea typeface="+mj-lt"/>
                <a:cs typeface="+mj-lt"/>
              </a:rPr>
              <a:t>Každá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vrstva</a:t>
            </a:r>
            <a:r>
              <a:rPr lang="en-US" dirty="0">
                <a:ea typeface="+mj-lt"/>
                <a:cs typeface="+mj-lt"/>
              </a:rPr>
              <a:t> se </a:t>
            </a:r>
            <a:r>
              <a:rPr lang="en-US" err="1">
                <a:ea typeface="+mj-lt"/>
                <a:cs typeface="+mj-lt"/>
              </a:rPr>
              <a:t>specializuje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konkrétní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úkol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což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zvyšuje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efektivitu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škálovatelnost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b="1" dirty="0">
                <a:solidFill>
                  <a:srgbClr val="00B0F0"/>
                </a:solidFill>
                <a:ea typeface="+mj-lt"/>
                <a:cs typeface="+mj-lt"/>
              </a:rPr>
              <a:t>Hlavní </a:t>
            </a:r>
            <a:r>
              <a:rPr lang="en-US" b="1" err="1">
                <a:solidFill>
                  <a:srgbClr val="00B0F0"/>
                </a:solidFill>
                <a:ea typeface="+mj-lt"/>
                <a:cs typeface="+mj-lt"/>
              </a:rPr>
              <a:t>komponenty</a:t>
            </a:r>
            <a:r>
              <a:rPr lang="en-US" b="1" dirty="0">
                <a:solidFill>
                  <a:srgbClr val="00B0F0"/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rgbClr val="00B0F0"/>
              </a:solidFill>
            </a:endParaRPr>
          </a:p>
          <a:p>
            <a:pPr lvl="1">
              <a:buFont typeface="Avenir Next LT Pro Light" panose="020B0604020202020204" pitchFamily="34" charset="0"/>
            </a:pPr>
            <a:r>
              <a:rPr lang="en-US" b="1" err="1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Prezentační</a:t>
            </a:r>
            <a:r>
              <a:rPr lang="en-US" b="1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vrstva</a:t>
            </a:r>
            <a:r>
              <a:rPr lang="en-US" b="1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:</a:t>
            </a:r>
            <a:endParaRPr lang="en-US">
              <a:solidFill>
                <a:schemeClr val="accent4">
                  <a:lumMod val="76000"/>
                </a:schemeClr>
              </a:solidFill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 err="1">
                <a:ea typeface="+mj-lt"/>
                <a:cs typeface="+mj-lt"/>
              </a:rPr>
              <a:t>Zodpovídá</a:t>
            </a:r>
            <a:r>
              <a:rPr lang="en-US" dirty="0">
                <a:ea typeface="+mj-lt"/>
                <a:cs typeface="+mj-lt"/>
              </a:rPr>
              <a:t> za </a:t>
            </a:r>
            <a:r>
              <a:rPr lang="en-US" dirty="0" err="1">
                <a:ea typeface="+mj-lt"/>
                <a:cs typeface="+mj-lt"/>
              </a:rPr>
              <a:t>uživatelské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rozhraní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interakci</a:t>
            </a:r>
            <a:r>
              <a:rPr lang="en-US" dirty="0">
                <a:ea typeface="+mj-lt"/>
                <a:cs typeface="+mj-lt"/>
              </a:rPr>
              <a:t> s </a:t>
            </a:r>
            <a:r>
              <a:rPr lang="en-US" dirty="0" err="1">
                <a:ea typeface="+mj-lt"/>
                <a:cs typeface="+mj-lt"/>
              </a:rPr>
              <a:t>uživateli</a:t>
            </a:r>
            <a:r>
              <a:rPr lang="en-US" dirty="0">
                <a:ea typeface="+mj-lt"/>
                <a:cs typeface="+mj-lt"/>
              </a:rPr>
              <a:t> (</a:t>
            </a:r>
            <a:r>
              <a:rPr lang="en-US" dirty="0" err="1">
                <a:ea typeface="+mj-lt"/>
                <a:cs typeface="+mj-lt"/>
              </a:rPr>
              <a:t>např</a:t>
            </a:r>
            <a:r>
              <a:rPr lang="en-US" dirty="0">
                <a:ea typeface="+mj-lt"/>
                <a:cs typeface="+mj-lt"/>
              </a:rPr>
              <a:t>. </a:t>
            </a:r>
            <a:r>
              <a:rPr lang="en-US" dirty="0" err="1">
                <a:ea typeface="+mj-lt"/>
                <a:cs typeface="+mj-lt"/>
              </a:rPr>
              <a:t>webové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).</a:t>
            </a:r>
            <a:endParaRPr lang="en-US"/>
          </a:p>
          <a:p>
            <a:pPr lvl="1">
              <a:buFont typeface="Avenir Next LT Pro Light" panose="020B0604020202020204" pitchFamily="34" charset="0"/>
            </a:pPr>
            <a:r>
              <a:rPr lang="en-US" b="1" err="1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Aplikační</a:t>
            </a:r>
            <a:r>
              <a:rPr lang="en-US" b="1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vrstva</a:t>
            </a:r>
            <a:r>
              <a:rPr lang="en-US" b="1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:</a:t>
            </a:r>
            <a:endParaRPr lang="en-US">
              <a:solidFill>
                <a:schemeClr val="accent4">
                  <a:lumMod val="76000"/>
                </a:schemeClr>
              </a:solidFill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 err="1">
                <a:ea typeface="+mj-lt"/>
                <a:cs typeface="+mj-lt"/>
              </a:rPr>
              <a:t>Zpracovává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logiku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obchodní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procesy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Avenir Next LT Pro Light" panose="020B0604020202020204" pitchFamily="34" charset="0"/>
            </a:pPr>
            <a:r>
              <a:rPr lang="en-US" b="1" err="1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Databázová</a:t>
            </a:r>
            <a:r>
              <a:rPr lang="en-US" b="1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vrstva</a:t>
            </a:r>
            <a:r>
              <a:rPr lang="en-US" b="1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:</a:t>
            </a:r>
            <a:endParaRPr lang="en-US">
              <a:solidFill>
                <a:schemeClr val="accent4">
                  <a:lumMod val="76000"/>
                </a:schemeClr>
              </a:solidFill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err="1">
                <a:ea typeface="+mj-lt"/>
                <a:cs typeface="+mj-lt"/>
              </a:rPr>
              <a:t>Ukládá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spravuje</a:t>
            </a:r>
            <a:r>
              <a:rPr lang="en-US" dirty="0">
                <a:ea typeface="+mj-lt"/>
                <a:cs typeface="+mj-lt"/>
              </a:rPr>
              <a:t> data, </a:t>
            </a:r>
            <a:r>
              <a:rPr lang="en-US" err="1">
                <a:ea typeface="+mj-lt"/>
                <a:cs typeface="+mj-lt"/>
              </a:rPr>
              <a:t>zajišťuje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přístup</a:t>
            </a:r>
            <a:r>
              <a:rPr lang="en-US" dirty="0">
                <a:ea typeface="+mj-lt"/>
                <a:cs typeface="+mj-lt"/>
              </a:rPr>
              <a:t> k </a:t>
            </a:r>
            <a:r>
              <a:rPr lang="en-US" err="1">
                <a:ea typeface="+mj-lt"/>
                <a:cs typeface="+mj-lt"/>
              </a:rPr>
              <a:t>databázím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>
              <a:buFont typeface="Arial" panose="020B0304020202020204" pitchFamily="34" charset="0"/>
              <a:buChar char="•"/>
            </a:pPr>
            <a:r>
              <a:rPr lang="en-US" b="1" err="1">
                <a:solidFill>
                  <a:srgbClr val="00B0F0"/>
                </a:solidFill>
                <a:ea typeface="+mj-lt"/>
                <a:cs typeface="+mj-lt"/>
              </a:rPr>
              <a:t>Výhody</a:t>
            </a:r>
            <a:r>
              <a:rPr lang="en-US" b="1" dirty="0">
                <a:solidFill>
                  <a:srgbClr val="00B0F0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rgbClr val="00B0F0"/>
                </a:solidFill>
                <a:ea typeface="+mj-lt"/>
                <a:cs typeface="+mj-lt"/>
              </a:rPr>
              <a:t>tříúrovňového</a:t>
            </a:r>
            <a:r>
              <a:rPr lang="en-US" b="1" dirty="0">
                <a:solidFill>
                  <a:srgbClr val="00B0F0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rgbClr val="00B0F0"/>
                </a:solidFill>
                <a:ea typeface="+mj-lt"/>
                <a:cs typeface="+mj-lt"/>
              </a:rPr>
              <a:t>modelu</a:t>
            </a:r>
            <a:r>
              <a:rPr lang="en-US" b="1" dirty="0">
                <a:solidFill>
                  <a:srgbClr val="00B0F0"/>
                </a:solidFill>
                <a:ea typeface="+mj-lt"/>
                <a:cs typeface="+mj-lt"/>
              </a:rPr>
              <a:t>:</a:t>
            </a:r>
            <a:endParaRPr lang="en-US">
              <a:solidFill>
                <a:srgbClr val="00B0F0"/>
              </a:solidFill>
            </a:endParaRPr>
          </a:p>
          <a:p>
            <a:pPr lvl="1"/>
            <a:r>
              <a:rPr lang="en-US" b="1" dirty="0" err="1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Modularita</a:t>
            </a:r>
            <a:r>
              <a:rPr lang="en-US" b="1" dirty="0">
                <a:ea typeface="+mj-lt"/>
                <a:cs typeface="+mj-lt"/>
              </a:rPr>
              <a:t>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Snadná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údržba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aktualizace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jednotlivých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komponent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/>
            <a:r>
              <a:rPr lang="en-US" b="1" err="1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Škálovatelnost</a:t>
            </a:r>
            <a:r>
              <a:rPr lang="en-US" b="1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:</a:t>
            </a:r>
            <a:r>
              <a:rPr lang="en-US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Možnost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snadného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přidání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nových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funkcí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nebo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zdrojů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/>
            <a:r>
              <a:rPr lang="en-US" b="1" err="1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Zvýšená</a:t>
            </a:r>
            <a:r>
              <a:rPr lang="en-US" b="1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bezpečnost</a:t>
            </a:r>
            <a:r>
              <a:rPr lang="en-US" b="1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Oddělení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vrstev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může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zlepšit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bezpečnostní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opatření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C45EA-1F8B-7865-0F2B-25D59675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E89C0-7C72-4E27-99FD-CAD4FC179608}" type="datetime1">
              <a:t>12/9/2024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BE2BC-EA57-F6A8-B561-341F558BD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7282D-10F9-C239-1B41-762D0892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724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E630-CB9D-E8FA-D013-CAAEC6C8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85404"/>
            <a:ext cx="10357666" cy="127447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Model </a:t>
            </a:r>
            <a:r>
              <a:rPr lang="en-US" err="1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tenkého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 a </a:t>
            </a:r>
            <a:r>
              <a:rPr lang="en-US" err="1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tlustého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 </a:t>
            </a:r>
            <a:r>
              <a:rPr lang="en-US" err="1">
                <a:solidFill>
                  <a:schemeClr val="accent3">
                    <a:lumMod val="60000"/>
                    <a:lumOff val="40000"/>
                  </a:schemeClr>
                </a:solidFill>
                <a:ea typeface="+mj-lt"/>
                <a:cs typeface="+mj-lt"/>
              </a:rPr>
              <a:t>klienta</a:t>
            </a:r>
            <a:endParaRPr lang="en-US" err="1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0942E-AE57-7838-A899-4E676445B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8571" y="1353756"/>
            <a:ext cx="6885549" cy="53440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 err="1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Definice</a:t>
            </a:r>
            <a:r>
              <a:rPr lang="en-US" b="1" dirty="0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tenkého</a:t>
            </a:r>
            <a:r>
              <a:rPr lang="en-US" b="1" dirty="0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 a </a:t>
            </a:r>
            <a:r>
              <a:rPr lang="en-US" b="1" err="1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tlustého</a:t>
            </a:r>
            <a:r>
              <a:rPr lang="en-US" b="1" dirty="0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klienta</a:t>
            </a:r>
            <a:r>
              <a:rPr lang="en-US" b="1" dirty="0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bg2">
                  <a:lumMod val="49000"/>
                </a:schemeClr>
              </a:solidFill>
            </a:endParaRPr>
          </a:p>
          <a:p>
            <a:pPr lvl="1"/>
            <a:r>
              <a:rPr lang="en-US" b="1" err="1">
                <a:ea typeface="+mj-lt"/>
                <a:cs typeface="+mj-lt"/>
              </a:rPr>
              <a:t>Tenký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err="1">
                <a:ea typeface="+mj-lt"/>
                <a:cs typeface="+mj-lt"/>
              </a:rPr>
              <a:t>klient</a:t>
            </a:r>
            <a:r>
              <a:rPr lang="en-US" b="1" dirty="0">
                <a:ea typeface="+mj-lt"/>
                <a:cs typeface="+mj-lt"/>
              </a:rPr>
              <a:t>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Klient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který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provádí</a:t>
            </a:r>
            <a:r>
              <a:rPr lang="en-US" dirty="0">
                <a:ea typeface="+mj-lt"/>
                <a:cs typeface="+mj-lt"/>
              </a:rPr>
              <a:t> minimum </a:t>
            </a:r>
            <a:r>
              <a:rPr lang="en-US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většina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logiky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dat</a:t>
            </a:r>
            <a:r>
              <a:rPr lang="en-US" dirty="0">
                <a:ea typeface="+mj-lt"/>
                <a:cs typeface="+mj-lt"/>
              </a:rPr>
              <a:t> je </a:t>
            </a:r>
            <a:r>
              <a:rPr lang="en-US" err="1">
                <a:ea typeface="+mj-lt"/>
                <a:cs typeface="+mj-lt"/>
              </a:rPr>
              <a:t>uložena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serveru</a:t>
            </a:r>
            <a:r>
              <a:rPr lang="en-US" dirty="0">
                <a:ea typeface="+mj-lt"/>
                <a:cs typeface="+mj-lt"/>
              </a:rPr>
              <a:t>. </a:t>
            </a:r>
            <a:r>
              <a:rPr lang="en-US" err="1">
                <a:ea typeface="+mj-lt"/>
                <a:cs typeface="+mj-lt"/>
              </a:rPr>
              <a:t>Příklady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zahrnují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webové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terminálové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 dirty="0"/>
          </a:p>
          <a:p>
            <a:pPr lvl="1"/>
            <a:r>
              <a:rPr lang="en-US" b="1" err="1">
                <a:ea typeface="+mj-lt"/>
                <a:cs typeface="+mj-lt"/>
              </a:rPr>
              <a:t>Tlustý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err="1">
                <a:ea typeface="+mj-lt"/>
                <a:cs typeface="+mj-lt"/>
              </a:rPr>
              <a:t>klient</a:t>
            </a:r>
            <a:r>
              <a:rPr lang="en-US" b="1" dirty="0">
                <a:ea typeface="+mj-lt"/>
                <a:cs typeface="+mj-lt"/>
              </a:rPr>
              <a:t>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Klient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který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provádí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většinu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svém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zařízení</a:t>
            </a:r>
            <a:r>
              <a:rPr lang="en-US" dirty="0">
                <a:ea typeface="+mj-lt"/>
                <a:cs typeface="+mj-lt"/>
              </a:rPr>
              <a:t>. </a:t>
            </a:r>
            <a:r>
              <a:rPr lang="en-US" err="1">
                <a:ea typeface="+mj-lt"/>
                <a:cs typeface="+mj-lt"/>
              </a:rPr>
              <a:t>Obsahuje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více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funkcí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logiky</a:t>
            </a:r>
            <a:r>
              <a:rPr lang="en-US" dirty="0">
                <a:ea typeface="+mj-lt"/>
                <a:cs typeface="+mj-lt"/>
              </a:rPr>
              <a:t> a je </a:t>
            </a:r>
            <a:r>
              <a:rPr lang="en-US" err="1">
                <a:ea typeface="+mj-lt"/>
                <a:cs typeface="+mj-lt"/>
              </a:rPr>
              <a:t>méně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závislý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serveru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b="1" dirty="0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Hlavní </a:t>
            </a:r>
            <a:r>
              <a:rPr lang="en-US" b="1" err="1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charakteristiky</a:t>
            </a:r>
            <a:r>
              <a:rPr lang="en-US" b="1" dirty="0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bg2">
                  <a:lumMod val="49000"/>
                </a:schemeClr>
              </a:solidFill>
            </a:endParaRPr>
          </a:p>
          <a:p>
            <a:pPr lvl="1">
              <a:buFont typeface="Avenir Next LT Pro Light" panose="020B0604020202020204" pitchFamily="34" charset="0"/>
              <a:buChar char="–"/>
            </a:pPr>
            <a:r>
              <a:rPr lang="en-US" b="1" err="1">
                <a:ea typeface="+mj-lt"/>
                <a:cs typeface="+mj-lt"/>
              </a:rPr>
              <a:t>Tenký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err="1">
                <a:ea typeface="+mj-lt"/>
                <a:cs typeface="+mj-lt"/>
              </a:rPr>
              <a:t>klient</a:t>
            </a:r>
            <a:r>
              <a:rPr lang="en-US" b="1" dirty="0">
                <a:ea typeface="+mj-lt"/>
                <a:cs typeface="+mj-lt"/>
              </a:rPr>
              <a:t>: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err="1">
                <a:ea typeface="+mj-lt"/>
                <a:cs typeface="+mj-lt"/>
              </a:rPr>
              <a:t>Menší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nároky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na</a:t>
            </a:r>
            <a:r>
              <a:rPr lang="en-US" dirty="0">
                <a:ea typeface="+mj-lt"/>
                <a:cs typeface="+mj-lt"/>
              </a:rPr>
              <a:t> hardware.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 err="1">
                <a:ea typeface="+mj-lt"/>
                <a:cs typeface="+mj-lt"/>
              </a:rPr>
              <a:t>Snazší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správa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aktualizace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protože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většina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probíhá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serveru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Avenir Next LT Pro Light" panose="020B0604020202020204" pitchFamily="34" charset="0"/>
              <a:buChar char="–"/>
            </a:pPr>
            <a:r>
              <a:rPr lang="en-US" b="1" err="1">
                <a:ea typeface="+mj-lt"/>
                <a:cs typeface="+mj-lt"/>
              </a:rPr>
              <a:t>Tlustý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err="1">
                <a:ea typeface="+mj-lt"/>
                <a:cs typeface="+mj-lt"/>
              </a:rPr>
              <a:t>klient</a:t>
            </a:r>
            <a:r>
              <a:rPr lang="en-US" b="1" dirty="0">
                <a:ea typeface="+mj-lt"/>
                <a:cs typeface="+mj-lt"/>
              </a:rPr>
              <a:t>: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dirty="0">
                <a:ea typeface="+mj-lt"/>
                <a:cs typeface="+mj-lt"/>
              </a:rPr>
              <a:t>Vyšší </a:t>
            </a:r>
            <a:r>
              <a:rPr lang="en-US" err="1">
                <a:ea typeface="+mj-lt"/>
                <a:cs typeface="+mj-lt"/>
              </a:rPr>
              <a:t>výkon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rychlost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díky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místnímu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err="1">
                <a:ea typeface="+mj-lt"/>
                <a:cs typeface="+mj-lt"/>
              </a:rPr>
              <a:t>Může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fungovat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i</a:t>
            </a:r>
            <a:r>
              <a:rPr lang="en-US" dirty="0">
                <a:ea typeface="+mj-lt"/>
                <a:cs typeface="+mj-lt"/>
              </a:rPr>
              <a:t> offline a </a:t>
            </a:r>
            <a:r>
              <a:rPr lang="en-US" err="1">
                <a:ea typeface="+mj-lt"/>
                <a:cs typeface="+mj-lt"/>
              </a:rPr>
              <a:t>vyžaduje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méně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serverových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zdrojů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>
              <a:buFont typeface="Arial" panose="020B0304020202020204" pitchFamily="34" charset="0"/>
              <a:buChar char="•"/>
            </a:pPr>
            <a:r>
              <a:rPr lang="en-US" b="1" dirty="0" err="1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Příklady</a:t>
            </a:r>
            <a:r>
              <a:rPr lang="en-US" b="1" dirty="0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 </a:t>
            </a:r>
            <a:r>
              <a:rPr lang="en-US" b="1" dirty="0" err="1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použití</a:t>
            </a:r>
            <a:r>
              <a:rPr lang="en-US" b="1" dirty="0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:</a:t>
            </a:r>
            <a:endParaRPr lang="en-US">
              <a:solidFill>
                <a:schemeClr val="bg2">
                  <a:lumMod val="49000"/>
                </a:schemeClr>
              </a:solidFill>
            </a:endParaRPr>
          </a:p>
          <a:p>
            <a:pPr lvl="1"/>
            <a:r>
              <a:rPr lang="en-US" b="1" err="1">
                <a:ea typeface="+mj-lt"/>
                <a:cs typeface="+mj-lt"/>
              </a:rPr>
              <a:t>Tenký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err="1">
                <a:ea typeface="+mj-lt"/>
                <a:cs typeface="+mj-lt"/>
              </a:rPr>
              <a:t>klient</a:t>
            </a:r>
            <a:r>
              <a:rPr lang="en-US" b="1" dirty="0">
                <a:ea typeface="+mj-lt"/>
                <a:cs typeface="+mj-lt"/>
              </a:rPr>
              <a:t>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Webové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 (</a:t>
            </a:r>
            <a:r>
              <a:rPr lang="en-US" err="1">
                <a:ea typeface="+mj-lt"/>
                <a:cs typeface="+mj-lt"/>
              </a:rPr>
              <a:t>např</a:t>
            </a:r>
            <a:r>
              <a:rPr lang="en-US" dirty="0">
                <a:ea typeface="+mj-lt"/>
                <a:cs typeface="+mj-lt"/>
              </a:rPr>
              <a:t>. Google Docs).</a:t>
            </a:r>
            <a:endParaRPr lang="en-US"/>
          </a:p>
          <a:p>
            <a:pPr lvl="1"/>
            <a:r>
              <a:rPr lang="en-US" b="1" err="1">
                <a:ea typeface="+mj-lt"/>
                <a:cs typeface="+mj-lt"/>
              </a:rPr>
              <a:t>Tlustý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err="1">
                <a:ea typeface="+mj-lt"/>
                <a:cs typeface="+mj-lt"/>
              </a:rPr>
              <a:t>klient</a:t>
            </a:r>
            <a:r>
              <a:rPr lang="en-US" b="1" dirty="0">
                <a:ea typeface="+mj-lt"/>
                <a:cs typeface="+mj-lt"/>
              </a:rPr>
              <a:t>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Desktopové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 (</a:t>
            </a:r>
            <a:r>
              <a:rPr lang="en-US" err="1">
                <a:ea typeface="+mj-lt"/>
                <a:cs typeface="+mj-lt"/>
              </a:rPr>
              <a:t>např</a:t>
            </a:r>
            <a:r>
              <a:rPr lang="en-US" dirty="0">
                <a:ea typeface="+mj-lt"/>
                <a:cs typeface="+mj-lt"/>
              </a:rPr>
              <a:t>. Microsoft Office).</a:t>
            </a:r>
            <a:endParaRPr lang="en-US"/>
          </a:p>
          <a:p>
            <a:endParaRPr lang="en-US" dirty="0"/>
          </a:p>
        </p:txBody>
      </p:sp>
      <p:pic>
        <p:nvPicPr>
          <p:cNvPr id="8" name="Content Placeholder 7" descr="CleverAndSmart Management Consulting » Blog Archive » Vícevrstvá  architektura: tenký, tlustý a chytrý klient">
            <a:extLst>
              <a:ext uri="{FF2B5EF4-FFF2-40B4-BE49-F238E27FC236}">
                <a16:creationId xmlns:a16="http://schemas.microsoft.com/office/drawing/2014/main" id="{8C11829B-320E-79E8-0BDD-0BE4739FAB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94032" y="1933055"/>
            <a:ext cx="4796119" cy="3770709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62C33-0A0F-9E21-1BB9-6A5E34CA0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355C6-1EE5-418F-8D23-EF212A370FD1}" type="datetime1">
              <a:t>12/9/2024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B338D0-B64D-F366-3F56-9A0427D0A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0355C-A087-4C85-A24D-5A28FAF0C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719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5EFD-E3F2-F918-C75E-C2960E7B1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-1407"/>
            <a:ext cx="10357666" cy="1438450"/>
          </a:xfrm>
        </p:spPr>
        <p:txBody>
          <a:bodyPr anchor="b">
            <a:normAutofit/>
          </a:bodyPr>
          <a:lstStyle/>
          <a:p>
            <a:pPr algn="ctr"/>
            <a:r>
              <a:rPr lang="en-US" dirty="0" err="1">
                <a:solidFill>
                  <a:schemeClr val="accent1">
                    <a:lumMod val="49000"/>
                  </a:schemeClr>
                </a:solidFill>
              </a:rPr>
              <a:t>Webové</a:t>
            </a:r>
            <a:r>
              <a:rPr lang="en-US" dirty="0">
                <a:solidFill>
                  <a:schemeClr val="accent1">
                    <a:lumMod val="49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49000"/>
                  </a:schemeClr>
                </a:solidFill>
              </a:rPr>
              <a:t>aplikace</a:t>
            </a:r>
            <a:r>
              <a:rPr lang="en-US" dirty="0">
                <a:solidFill>
                  <a:schemeClr val="accent1">
                    <a:lumMod val="49000"/>
                  </a:schemeClr>
                </a:solidFill>
              </a:rPr>
              <a:t> a </a:t>
            </a:r>
            <a:r>
              <a:rPr lang="en-US" dirty="0" err="1">
                <a:solidFill>
                  <a:schemeClr val="accent1">
                    <a:lumMod val="49000"/>
                  </a:schemeClr>
                </a:solidFill>
              </a:rPr>
              <a:t>moderní</a:t>
            </a:r>
            <a:r>
              <a:rPr lang="en-US" dirty="0">
                <a:solidFill>
                  <a:schemeClr val="accent1">
                    <a:lumMod val="49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49000"/>
                  </a:schemeClr>
                </a:solidFill>
              </a:rPr>
              <a:t>pojetí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124D398-D297-E780-FC70-3057385E6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1406" y="1450211"/>
            <a:ext cx="7155626" cy="5073991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1" err="1">
                <a:solidFill>
                  <a:schemeClr val="accent6"/>
                </a:solidFill>
                <a:ea typeface="+mj-lt"/>
                <a:cs typeface="+mj-lt"/>
              </a:rPr>
              <a:t>Definice</a:t>
            </a:r>
            <a:r>
              <a:rPr lang="en-US" b="1" dirty="0">
                <a:solidFill>
                  <a:schemeClr val="accent6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6"/>
                </a:solidFill>
                <a:ea typeface="+mj-lt"/>
                <a:cs typeface="+mj-lt"/>
              </a:rPr>
              <a:t>webových</a:t>
            </a:r>
            <a:r>
              <a:rPr lang="en-US" b="1" dirty="0">
                <a:solidFill>
                  <a:schemeClr val="accent6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6"/>
                </a:solidFill>
                <a:ea typeface="+mj-lt"/>
                <a:cs typeface="+mj-lt"/>
              </a:rPr>
              <a:t>aplikací</a:t>
            </a:r>
            <a:r>
              <a:rPr lang="en-US" b="1" dirty="0">
                <a:solidFill>
                  <a:schemeClr val="accent6"/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accent6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Webové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jsou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které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běží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webovém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serveru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uživatelé</a:t>
            </a:r>
            <a:r>
              <a:rPr lang="en-US" dirty="0">
                <a:ea typeface="+mj-lt"/>
                <a:cs typeface="+mj-lt"/>
              </a:rPr>
              <a:t> k nim </a:t>
            </a:r>
            <a:r>
              <a:rPr lang="en-US" err="1">
                <a:ea typeface="+mj-lt"/>
                <a:cs typeface="+mj-lt"/>
              </a:rPr>
              <a:t>přistupují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prostřednictvím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webového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prohlížeče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ea typeface="+mj-lt"/>
                <a:cs typeface="+mj-lt"/>
              </a:rPr>
              <a:t>Nevyžadují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instalaci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lokálním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zařízení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dirty="0" err="1">
                <a:ea typeface="+mj-lt"/>
                <a:cs typeface="+mj-lt"/>
              </a:rPr>
              <a:t>což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usnadňuje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přístup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dirty="0" err="1">
                <a:ea typeface="+mj-lt"/>
                <a:cs typeface="+mj-lt"/>
              </a:rPr>
              <a:t>aktualizaci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b="1" dirty="0">
                <a:solidFill>
                  <a:schemeClr val="accent6"/>
                </a:solidFill>
                <a:ea typeface="+mj-lt"/>
                <a:cs typeface="+mj-lt"/>
              </a:rPr>
              <a:t>Hlavní </a:t>
            </a:r>
            <a:r>
              <a:rPr lang="en-US" b="1" err="1">
                <a:solidFill>
                  <a:schemeClr val="accent6"/>
                </a:solidFill>
                <a:ea typeface="+mj-lt"/>
                <a:cs typeface="+mj-lt"/>
              </a:rPr>
              <a:t>charakteristiky</a:t>
            </a:r>
            <a:r>
              <a:rPr lang="en-US" b="1" dirty="0">
                <a:solidFill>
                  <a:schemeClr val="accent6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6"/>
                </a:solidFill>
                <a:ea typeface="+mj-lt"/>
                <a:cs typeface="+mj-lt"/>
              </a:rPr>
              <a:t>moderních</a:t>
            </a:r>
            <a:r>
              <a:rPr lang="en-US" b="1" dirty="0">
                <a:solidFill>
                  <a:schemeClr val="accent6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6"/>
                </a:solidFill>
                <a:ea typeface="+mj-lt"/>
                <a:cs typeface="+mj-lt"/>
              </a:rPr>
              <a:t>webových</a:t>
            </a:r>
            <a:r>
              <a:rPr lang="en-US" b="1" dirty="0">
                <a:solidFill>
                  <a:schemeClr val="accent6"/>
                </a:solidFill>
                <a:ea typeface="+mj-lt"/>
                <a:cs typeface="+mj-lt"/>
              </a:rPr>
              <a:t> </a:t>
            </a:r>
            <a:r>
              <a:rPr lang="en-US" b="1" err="1">
                <a:solidFill>
                  <a:schemeClr val="accent6"/>
                </a:solidFill>
                <a:ea typeface="+mj-lt"/>
                <a:cs typeface="+mj-lt"/>
              </a:rPr>
              <a:t>aplikací</a:t>
            </a:r>
            <a:r>
              <a:rPr lang="en-US" b="1" dirty="0">
                <a:solidFill>
                  <a:schemeClr val="accent6"/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accent6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err="1">
                <a:ea typeface="+mj-lt"/>
                <a:cs typeface="+mj-lt"/>
              </a:rPr>
              <a:t>Interaktivita</a:t>
            </a:r>
            <a:r>
              <a:rPr lang="en-US" b="1" dirty="0">
                <a:ea typeface="+mj-lt"/>
                <a:cs typeface="+mj-lt"/>
              </a:rPr>
              <a:t>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Vysoká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úroveň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interaktivity</a:t>
            </a:r>
            <a:r>
              <a:rPr lang="en-US" dirty="0">
                <a:ea typeface="+mj-lt"/>
                <a:cs typeface="+mj-lt"/>
              </a:rPr>
              <a:t> s </a:t>
            </a:r>
            <a:r>
              <a:rPr lang="en-US" err="1">
                <a:ea typeface="+mj-lt"/>
                <a:cs typeface="+mj-lt"/>
              </a:rPr>
              <a:t>uživateli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pomocí</a:t>
            </a:r>
            <a:r>
              <a:rPr lang="en-US" dirty="0">
                <a:ea typeface="+mj-lt"/>
                <a:cs typeface="+mj-lt"/>
              </a:rPr>
              <a:t> AJAX a </a:t>
            </a:r>
            <a:r>
              <a:rPr lang="en-US" err="1">
                <a:ea typeface="+mj-lt"/>
                <a:cs typeface="+mj-lt"/>
              </a:rPr>
              <a:t>dalších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technologií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err="1">
                <a:ea typeface="+mj-lt"/>
                <a:cs typeface="+mj-lt"/>
              </a:rPr>
              <a:t>Responzivní</a:t>
            </a:r>
            <a:r>
              <a:rPr lang="en-US" b="1" dirty="0">
                <a:ea typeface="+mj-lt"/>
                <a:cs typeface="+mj-lt"/>
              </a:rPr>
              <a:t> design: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 se </a:t>
            </a:r>
            <a:r>
              <a:rPr lang="en-US" err="1">
                <a:ea typeface="+mj-lt"/>
                <a:cs typeface="+mj-lt"/>
              </a:rPr>
              <a:t>přizpůsobují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různým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velikostem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obrazovek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zařízením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err="1">
                <a:ea typeface="+mj-lt"/>
                <a:cs typeface="+mj-lt"/>
              </a:rPr>
              <a:t>Cloudová</a:t>
            </a:r>
            <a:r>
              <a:rPr lang="en-US" b="1" dirty="0">
                <a:ea typeface="+mj-lt"/>
                <a:cs typeface="+mj-lt"/>
              </a:rPr>
              <a:t> </a:t>
            </a:r>
            <a:r>
              <a:rPr lang="en-US" b="1" err="1">
                <a:ea typeface="+mj-lt"/>
                <a:cs typeface="+mj-lt"/>
              </a:rPr>
              <a:t>integrace</a:t>
            </a:r>
            <a:r>
              <a:rPr lang="en-US" b="1" dirty="0">
                <a:ea typeface="+mj-lt"/>
                <a:cs typeface="+mj-lt"/>
              </a:rPr>
              <a:t>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Možnost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ukládání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dat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zpracování</a:t>
            </a:r>
            <a:r>
              <a:rPr lang="en-US" dirty="0">
                <a:ea typeface="+mj-lt"/>
                <a:cs typeface="+mj-lt"/>
              </a:rPr>
              <a:t> v </a:t>
            </a:r>
            <a:r>
              <a:rPr lang="en-US" err="1">
                <a:ea typeface="+mj-lt"/>
                <a:cs typeface="+mj-lt"/>
              </a:rPr>
              <a:t>cloudu</a:t>
            </a:r>
            <a:r>
              <a:rPr lang="en-US" dirty="0">
                <a:ea typeface="+mj-lt"/>
                <a:cs typeface="+mj-lt"/>
              </a:rPr>
              <a:t>, </a:t>
            </a:r>
            <a:r>
              <a:rPr lang="en-US" err="1">
                <a:ea typeface="+mj-lt"/>
                <a:cs typeface="+mj-lt"/>
              </a:rPr>
              <a:t>což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zajišťuje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dostupnost</a:t>
            </a:r>
            <a:r>
              <a:rPr lang="en-US" dirty="0">
                <a:ea typeface="+mj-lt"/>
                <a:cs typeface="+mj-lt"/>
              </a:rPr>
              <a:t> a </a:t>
            </a:r>
            <a:r>
              <a:rPr lang="en-US" err="1">
                <a:ea typeface="+mj-lt"/>
                <a:cs typeface="+mj-lt"/>
              </a:rPr>
              <a:t>škálovatelnost</a:t>
            </a:r>
            <a:r>
              <a:rPr lang="en-US" dirty="0">
                <a:ea typeface="+mj-lt"/>
                <a:cs typeface="+mj-lt"/>
              </a:rPr>
              <a:t>.</a:t>
            </a:r>
            <a:endParaRPr lang="en-US"/>
          </a:p>
          <a:p>
            <a:r>
              <a:rPr lang="en-US" b="1" dirty="0" err="1">
                <a:solidFill>
                  <a:schemeClr val="accent6"/>
                </a:solidFill>
                <a:ea typeface="+mj-lt"/>
                <a:cs typeface="+mj-lt"/>
              </a:rPr>
              <a:t>Příklady</a:t>
            </a:r>
            <a:r>
              <a:rPr lang="en-US" b="1" dirty="0">
                <a:solidFill>
                  <a:schemeClr val="accent6"/>
                </a:solidFill>
                <a:ea typeface="+mj-lt"/>
                <a:cs typeface="+mj-lt"/>
              </a:rPr>
              <a:t> </a:t>
            </a:r>
            <a:r>
              <a:rPr lang="en-US" b="1" dirty="0" err="1">
                <a:solidFill>
                  <a:schemeClr val="accent6"/>
                </a:solidFill>
                <a:ea typeface="+mj-lt"/>
                <a:cs typeface="+mj-lt"/>
              </a:rPr>
              <a:t>moderních</a:t>
            </a:r>
            <a:r>
              <a:rPr lang="en-US" b="1" dirty="0">
                <a:solidFill>
                  <a:schemeClr val="accent6"/>
                </a:solidFill>
                <a:ea typeface="+mj-lt"/>
                <a:cs typeface="+mj-lt"/>
              </a:rPr>
              <a:t> </a:t>
            </a:r>
            <a:r>
              <a:rPr lang="en-US" b="1" dirty="0" err="1">
                <a:solidFill>
                  <a:schemeClr val="accent6"/>
                </a:solidFill>
                <a:ea typeface="+mj-lt"/>
                <a:cs typeface="+mj-lt"/>
              </a:rPr>
              <a:t>webových</a:t>
            </a:r>
            <a:r>
              <a:rPr lang="en-US" b="1" dirty="0">
                <a:solidFill>
                  <a:schemeClr val="accent6"/>
                </a:solidFill>
                <a:ea typeface="+mj-lt"/>
                <a:cs typeface="+mj-lt"/>
              </a:rPr>
              <a:t> </a:t>
            </a:r>
            <a:r>
              <a:rPr lang="en-US" b="1" dirty="0" err="1">
                <a:solidFill>
                  <a:schemeClr val="accent6"/>
                </a:solidFill>
                <a:ea typeface="+mj-lt"/>
                <a:cs typeface="+mj-lt"/>
              </a:rPr>
              <a:t>aplikací</a:t>
            </a:r>
            <a:r>
              <a:rPr lang="en-US" b="1" dirty="0">
                <a:solidFill>
                  <a:schemeClr val="accent6"/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chemeClr val="accent6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j-lt"/>
                <a:cs typeface="+mj-lt"/>
              </a:rPr>
              <a:t>Sociální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média</a:t>
            </a:r>
            <a:r>
              <a:rPr lang="en-US" dirty="0">
                <a:ea typeface="+mj-lt"/>
                <a:cs typeface="+mj-lt"/>
              </a:rPr>
              <a:t> (</a:t>
            </a:r>
            <a:r>
              <a:rPr lang="en-US" err="1">
                <a:ea typeface="+mj-lt"/>
                <a:cs typeface="+mj-lt"/>
              </a:rPr>
              <a:t>např</a:t>
            </a:r>
            <a:r>
              <a:rPr lang="en-US" dirty="0">
                <a:ea typeface="+mj-lt"/>
                <a:cs typeface="+mj-lt"/>
              </a:rPr>
              <a:t>. Facebook, Twitter).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j-lt"/>
                <a:cs typeface="+mj-lt"/>
              </a:rPr>
              <a:t>Online </a:t>
            </a:r>
            <a:r>
              <a:rPr lang="en-US" err="1">
                <a:ea typeface="+mj-lt"/>
                <a:cs typeface="+mj-lt"/>
              </a:rPr>
              <a:t>kancelářské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err="1">
                <a:ea typeface="+mj-lt"/>
                <a:cs typeface="+mj-lt"/>
              </a:rPr>
              <a:t>aplikace</a:t>
            </a:r>
            <a:r>
              <a:rPr lang="en-US" dirty="0">
                <a:ea typeface="+mj-lt"/>
                <a:cs typeface="+mj-lt"/>
              </a:rPr>
              <a:t> (</a:t>
            </a:r>
            <a:r>
              <a:rPr lang="en-US" err="1">
                <a:ea typeface="+mj-lt"/>
                <a:cs typeface="+mj-lt"/>
              </a:rPr>
              <a:t>např</a:t>
            </a:r>
            <a:r>
              <a:rPr lang="en-US" dirty="0">
                <a:ea typeface="+mj-lt"/>
                <a:cs typeface="+mj-lt"/>
              </a:rPr>
              <a:t>. Google Workspace, Office 365).</a:t>
            </a:r>
            <a:endParaRPr lang="en-US"/>
          </a:p>
          <a:p>
            <a:endParaRPr lang="en-US" dirty="0"/>
          </a:p>
        </p:txBody>
      </p:sp>
      <p:pic>
        <p:nvPicPr>
          <p:cNvPr id="8" name="Content Placeholder 7" descr="Vývoj webových aplikací na míru pro 21. století - Think Easy s.r.o.">
            <a:extLst>
              <a:ext uri="{FF2B5EF4-FFF2-40B4-BE49-F238E27FC236}">
                <a16:creationId xmlns:a16="http://schemas.microsoft.com/office/drawing/2014/main" id="{6AB6F8F1-D7F8-F141-F361-AC9A5148B6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1" b="672"/>
          <a:stretch/>
        </p:blipFill>
        <p:spPr>
          <a:xfrm>
            <a:off x="7345084" y="1710641"/>
            <a:ext cx="4844689" cy="4003334"/>
          </a:xfr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817ED-8A87-7A06-398B-1BF540CD7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E27F74-E3ED-42BD-A98D-ABBCC0D89016}" type="datetime1">
              <a:pPr>
                <a:spcAft>
                  <a:spcPts val="600"/>
                </a:spcAft>
              </a:pPr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7181A-B50D-901B-76D8-77F62C124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3BD7D-A3E2-3877-42EC-C31DB050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68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51618C-CCEB-3D1F-F6D9-1B433CA8A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67562" cy="666554"/>
          </a:xfrm>
        </p:spPr>
        <p:txBody>
          <a:bodyPr/>
          <a:lstStyle/>
          <a:p>
            <a:r>
              <a:rPr lang="cs-CZ" err="1">
                <a:solidFill>
                  <a:schemeClr val="accent4"/>
                </a:solidFill>
                <a:ea typeface="+mj-lt"/>
                <a:cs typeface="+mj-lt"/>
              </a:rPr>
              <a:t>Rich</a:t>
            </a:r>
            <a:r>
              <a:rPr lang="cs-CZ" dirty="0">
                <a:solidFill>
                  <a:schemeClr val="accent4"/>
                </a:solidFill>
                <a:ea typeface="+mj-lt"/>
                <a:cs typeface="+mj-lt"/>
              </a:rPr>
              <a:t> Web </a:t>
            </a:r>
            <a:r>
              <a:rPr lang="cs-CZ" err="1">
                <a:solidFill>
                  <a:schemeClr val="accent4"/>
                </a:solidFill>
                <a:ea typeface="+mj-lt"/>
                <a:cs typeface="+mj-lt"/>
              </a:rPr>
              <a:t>Application</a:t>
            </a:r>
            <a:r>
              <a:rPr lang="cs-CZ" dirty="0">
                <a:solidFill>
                  <a:schemeClr val="accent4"/>
                </a:solidFill>
                <a:ea typeface="+mj-lt"/>
                <a:cs typeface="+mj-lt"/>
              </a:rPr>
              <a:t> (RWA)</a:t>
            </a:r>
            <a:endParaRPr lang="cs-CZ">
              <a:solidFill>
                <a:schemeClr val="accent4"/>
              </a:solidFill>
            </a:endParaRPr>
          </a:p>
        </p:txBody>
      </p:sp>
      <p:pic>
        <p:nvPicPr>
          <p:cNvPr id="8" name="Zástupný obsah 7" descr="Are Rich Internet Applications the Future of Web Development? – Helios Blog">
            <a:extLst>
              <a:ext uri="{FF2B5EF4-FFF2-40B4-BE49-F238E27FC236}">
                <a16:creationId xmlns:a16="http://schemas.microsoft.com/office/drawing/2014/main" id="{3C653AE6-91D3-F0D9-88CD-F3249C7676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9761" y="1391316"/>
            <a:ext cx="4807837" cy="2415111"/>
          </a:xfrm>
        </p:spPr>
      </p:pic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3E36B9D-52D0-3A6B-3BE9-542AB5997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19200" y="1029689"/>
            <a:ext cx="7145719" cy="583010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cs-CZ" b="1" dirty="0">
                <a:solidFill>
                  <a:schemeClr val="accent6"/>
                </a:solidFill>
                <a:ea typeface="+mj-lt"/>
                <a:cs typeface="+mj-lt"/>
              </a:rPr>
              <a:t>Definice</a:t>
            </a:r>
            <a:r>
              <a:rPr lang="cs-CZ" b="1" dirty="0">
                <a:ea typeface="+mj-lt"/>
                <a:cs typeface="+mj-lt"/>
              </a:rPr>
              <a:t>:</a:t>
            </a:r>
            <a:endParaRPr lang="cs-CZ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err="1">
                <a:ea typeface="+mj-lt"/>
                <a:cs typeface="+mj-lt"/>
              </a:rPr>
              <a:t>Rich</a:t>
            </a:r>
            <a:r>
              <a:rPr lang="cs-CZ" dirty="0">
                <a:ea typeface="+mj-lt"/>
                <a:cs typeface="+mj-lt"/>
              </a:rPr>
              <a:t> Web </a:t>
            </a:r>
            <a:r>
              <a:rPr lang="cs-CZ" err="1">
                <a:ea typeface="+mj-lt"/>
                <a:cs typeface="+mj-lt"/>
              </a:rPr>
              <a:t>Applications</a:t>
            </a:r>
            <a:r>
              <a:rPr lang="cs-CZ" dirty="0">
                <a:ea typeface="+mj-lt"/>
                <a:cs typeface="+mj-lt"/>
              </a:rPr>
              <a:t> (RWA) jsou interaktivní webové aplikace, které nabízejí uživatelskou zkušenost podobnou desktopovým aplikacím.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Umožňují dynamický obsah, okamžitou odezvu a plynulé ovládání bez nutnosti obnovování stránky.</a:t>
            </a:r>
            <a:endParaRPr lang="cs-CZ"/>
          </a:p>
          <a:p>
            <a:r>
              <a:rPr lang="cs-CZ" b="1" dirty="0">
                <a:solidFill>
                  <a:schemeClr val="accent6"/>
                </a:solidFill>
                <a:ea typeface="+mj-lt"/>
                <a:cs typeface="+mj-lt"/>
              </a:rPr>
              <a:t>Hlavní charakteristiky:</a:t>
            </a:r>
            <a:endParaRPr lang="cs-CZ">
              <a:solidFill>
                <a:schemeClr val="accent6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b="1" dirty="0">
                <a:ea typeface="+mj-lt"/>
                <a:cs typeface="+mj-lt"/>
              </a:rPr>
              <a:t>Interaktivita:</a:t>
            </a:r>
            <a:r>
              <a:rPr lang="cs-CZ" dirty="0">
                <a:ea typeface="+mj-lt"/>
                <a:cs typeface="+mj-lt"/>
              </a:rPr>
              <a:t> Vysoká úroveň interakce s uživateli díky technologiím jako AJAX, </a:t>
            </a:r>
            <a:r>
              <a:rPr lang="cs-CZ" err="1">
                <a:ea typeface="+mj-lt"/>
                <a:cs typeface="+mj-lt"/>
              </a:rPr>
              <a:t>WebSockets</a:t>
            </a:r>
            <a:r>
              <a:rPr lang="cs-CZ" dirty="0">
                <a:ea typeface="+mj-lt"/>
                <a:cs typeface="+mj-lt"/>
              </a:rPr>
              <a:t> a JavaScript.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b="1" dirty="0">
                <a:ea typeface="+mj-lt"/>
                <a:cs typeface="+mj-lt"/>
              </a:rPr>
              <a:t>Responzivní design:</a:t>
            </a:r>
            <a:r>
              <a:rPr lang="cs-CZ" dirty="0">
                <a:ea typeface="+mj-lt"/>
                <a:cs typeface="+mj-lt"/>
              </a:rPr>
              <a:t> Přizpůsobují se různým zařízením a velikostem obrazovek.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b="1" err="1">
                <a:ea typeface="+mj-lt"/>
                <a:cs typeface="+mj-lt"/>
              </a:rPr>
              <a:t>Offline</a:t>
            </a:r>
            <a:r>
              <a:rPr lang="cs-CZ" b="1" dirty="0">
                <a:ea typeface="+mj-lt"/>
                <a:cs typeface="+mj-lt"/>
              </a:rPr>
              <a:t> podpora:</a:t>
            </a:r>
            <a:r>
              <a:rPr lang="cs-CZ" dirty="0">
                <a:ea typeface="+mj-lt"/>
                <a:cs typeface="+mj-lt"/>
              </a:rPr>
              <a:t> Některé RWA aplikace mohou fungovat i bez připojení k internetu.</a:t>
            </a:r>
            <a:endParaRPr lang="cs-CZ"/>
          </a:p>
          <a:p>
            <a:r>
              <a:rPr lang="cs-CZ" b="1" dirty="0">
                <a:solidFill>
                  <a:schemeClr val="accent6"/>
                </a:solidFill>
                <a:ea typeface="+mj-lt"/>
                <a:cs typeface="+mj-lt"/>
              </a:rPr>
              <a:t>Příklady použití:</a:t>
            </a:r>
            <a:endParaRPr lang="cs-CZ">
              <a:solidFill>
                <a:schemeClr val="accent6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Webové kancelářské aplikace (Google </a:t>
            </a:r>
            <a:r>
              <a:rPr lang="cs-CZ" dirty="0" err="1">
                <a:ea typeface="+mj-lt"/>
                <a:cs typeface="+mj-lt"/>
              </a:rPr>
              <a:t>Workspace</a:t>
            </a:r>
            <a:r>
              <a:rPr lang="cs-CZ" dirty="0">
                <a:ea typeface="+mj-lt"/>
                <a:cs typeface="+mj-lt"/>
              </a:rPr>
              <a:t>, Office 365).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Sociální sítě (Facebook, Twitter).</a:t>
            </a:r>
            <a:endParaRPr lang="cs-CZ"/>
          </a:p>
          <a:p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D5843A6-2A8B-9623-A4B0-5DE010C6E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9EE9A-0573-4BA8-A473-0F774184650D}" type="datetime1">
              <a:t>12/9/2024</a:t>
            </a:fld>
            <a:endParaRPr lang="en-US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2CDCA4-6A59-6D42-E66B-D8278C90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AE2C9F1-5847-4FEB-4B3B-72942FC66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896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808DEA-0544-452C-4D07-025B79249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-1030"/>
            <a:ext cx="10367562" cy="626970"/>
          </a:xfrm>
        </p:spPr>
        <p:txBody>
          <a:bodyPr>
            <a:normAutofit fontScale="90000"/>
          </a:bodyPr>
          <a:lstStyle/>
          <a:p>
            <a:pPr algn="ctr"/>
            <a:r>
              <a:rPr lang="cs-CZ" dirty="0">
                <a:solidFill>
                  <a:schemeClr val="bg2">
                    <a:lumMod val="49000"/>
                  </a:schemeClr>
                </a:solidFill>
                <a:ea typeface="+mj-lt"/>
                <a:cs typeface="+mj-lt"/>
              </a:rPr>
              <a:t>Virtualizace</a:t>
            </a:r>
            <a:endParaRPr lang="cs-CZ">
              <a:solidFill>
                <a:schemeClr val="bg2">
                  <a:lumMod val="49000"/>
                </a:schemeClr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27C0FB-F610-2669-BFBD-A1D1F4914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458" y="623950"/>
            <a:ext cx="7043510" cy="5899375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cs-CZ" b="1" dirty="0">
                <a:solidFill>
                  <a:srgbClr val="00B050"/>
                </a:solidFill>
                <a:ea typeface="+mj-lt"/>
                <a:cs typeface="+mj-lt"/>
              </a:rPr>
              <a:t>Definice:</a:t>
            </a:r>
            <a:endParaRPr lang="cs-CZ" dirty="0">
              <a:solidFill>
                <a:srgbClr val="00B05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Virtualizace je technologie, která umožňuje vytváření virtuálních verzí fyzických výpočetních zdrojů (např. servery, úložiště, sítě).</a:t>
            </a:r>
            <a:endParaRPr lang="cs-CZ"/>
          </a:p>
          <a:p>
            <a:r>
              <a:rPr lang="cs-CZ" b="1" dirty="0">
                <a:solidFill>
                  <a:srgbClr val="00B050"/>
                </a:solidFill>
                <a:ea typeface="+mj-lt"/>
                <a:cs typeface="+mj-lt"/>
              </a:rPr>
              <a:t>Typy virtualizace:</a:t>
            </a:r>
            <a:endParaRPr lang="cs-CZ" dirty="0">
              <a:solidFill>
                <a:srgbClr val="00B05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b="1" dirty="0">
                <a:solidFill>
                  <a:srgbClr val="0070C0"/>
                </a:solidFill>
                <a:ea typeface="+mj-lt"/>
                <a:cs typeface="+mj-lt"/>
              </a:rPr>
              <a:t>Serverová virtualizace:</a:t>
            </a:r>
            <a:r>
              <a:rPr lang="cs-CZ" dirty="0">
                <a:ea typeface="+mj-lt"/>
                <a:cs typeface="+mj-lt"/>
              </a:rPr>
              <a:t> Rozdělení fyzického serveru na několik virtuálních strojů, které fungují nezávisle.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b="1" dirty="0">
                <a:solidFill>
                  <a:srgbClr val="0070C0"/>
                </a:solidFill>
                <a:ea typeface="+mj-lt"/>
                <a:cs typeface="+mj-lt"/>
              </a:rPr>
              <a:t>Síťová virtualizace:</a:t>
            </a:r>
            <a:r>
              <a:rPr lang="cs-CZ" dirty="0">
                <a:solidFill>
                  <a:srgbClr val="0070C0"/>
                </a:solidFill>
                <a:ea typeface="+mj-lt"/>
                <a:cs typeface="+mj-lt"/>
              </a:rPr>
              <a:t> </a:t>
            </a:r>
            <a:r>
              <a:rPr lang="cs-CZ" dirty="0">
                <a:ea typeface="+mj-lt"/>
                <a:cs typeface="+mj-lt"/>
              </a:rPr>
              <a:t>Spojuje několik síťových zdrojů do jedné virtuální sítě nebo rozděluje jednu fyzickou síť na více virtuálních.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b="1" dirty="0">
                <a:solidFill>
                  <a:srgbClr val="0070C0"/>
                </a:solidFill>
                <a:ea typeface="+mj-lt"/>
                <a:cs typeface="+mj-lt"/>
              </a:rPr>
              <a:t>Úložná virtualizace:</a:t>
            </a:r>
            <a:r>
              <a:rPr lang="cs-CZ" dirty="0">
                <a:ea typeface="+mj-lt"/>
                <a:cs typeface="+mj-lt"/>
              </a:rPr>
              <a:t> Spojuje více fyzických úložných zařízení do jednoho virtuálního úložiště.</a:t>
            </a:r>
            <a:endParaRPr lang="cs-CZ"/>
          </a:p>
          <a:p>
            <a:r>
              <a:rPr lang="cs-CZ" b="1" dirty="0">
                <a:solidFill>
                  <a:srgbClr val="00B050"/>
                </a:solidFill>
                <a:ea typeface="+mj-lt"/>
                <a:cs typeface="+mj-lt"/>
              </a:rPr>
              <a:t>Výhody:</a:t>
            </a:r>
            <a:endParaRPr lang="cs-CZ" dirty="0">
              <a:solidFill>
                <a:srgbClr val="00B05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Efektivnější využití hardwaru.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Snadná správa a migrace virtuálních strojů.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Snížení nákladů na fyzické servery.</a:t>
            </a:r>
            <a:endParaRPr lang="cs-CZ"/>
          </a:p>
          <a:p>
            <a:endParaRPr lang="cs-CZ" dirty="0"/>
          </a:p>
        </p:txBody>
      </p:sp>
      <p:pic>
        <p:nvPicPr>
          <p:cNvPr id="8" name="Zástupný obsah 7" descr="Virtualizace sítí - revoluční řešení pro pružné a efektivní IT - CIO  Business World">
            <a:extLst>
              <a:ext uri="{FF2B5EF4-FFF2-40B4-BE49-F238E27FC236}">
                <a16:creationId xmlns:a16="http://schemas.microsoft.com/office/drawing/2014/main" id="{EF4D5E8F-4954-DA19-EBCF-F2F3E66774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07997" y="3732635"/>
            <a:ext cx="5284910" cy="2977410"/>
          </a:xfrm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4179E4B-5E24-E6D9-A4EA-8F4BD6A98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5002E-0C64-416B-8A5A-B5B6D8A07512}" type="datetime1">
              <a:t>12/9/2024</a:t>
            </a:fld>
            <a:endParaRPr lang="en-US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1585D87-94A6-5F4F-DC59-FB120A00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4F71498-CDE1-DB2B-D63F-29CB95E8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462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657BF9-51B8-E814-646D-51A46FE86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-1031"/>
            <a:ext cx="10367562" cy="587386"/>
          </a:xfrm>
        </p:spPr>
        <p:txBody>
          <a:bodyPr>
            <a:normAutofit fontScale="90000"/>
          </a:bodyPr>
          <a:lstStyle/>
          <a:p>
            <a:pPr algn="ctr"/>
            <a:r>
              <a:rPr lang="cs-CZ" dirty="0">
                <a:solidFill>
                  <a:srgbClr val="7030A0"/>
                </a:solidFill>
                <a:ea typeface="+mj-lt"/>
                <a:cs typeface="+mj-lt"/>
              </a:rPr>
              <a:t>Hypervizor</a:t>
            </a:r>
            <a:endParaRPr lang="cs-CZ">
              <a:solidFill>
                <a:srgbClr val="7030A0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144741-2339-3BD7-49B9-359AC8BA00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96" y="584364"/>
            <a:ext cx="6301304" cy="5760831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cs-CZ" b="1" dirty="0">
                <a:solidFill>
                  <a:srgbClr val="FF0000"/>
                </a:solidFill>
                <a:ea typeface="+mj-lt"/>
                <a:cs typeface="+mj-lt"/>
              </a:rPr>
              <a:t>Definice:</a:t>
            </a:r>
            <a:endParaRPr lang="cs-CZ">
              <a:solidFill>
                <a:srgbClr val="FF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Hypervizor je softwarová vrstva, která umožňuje vytváření a správu virtuálních strojů na fyzickém hardwaru.</a:t>
            </a:r>
            <a:endParaRPr lang="cs-CZ"/>
          </a:p>
          <a:p>
            <a:r>
              <a:rPr lang="cs-CZ" b="1" dirty="0">
                <a:solidFill>
                  <a:srgbClr val="FF0000"/>
                </a:solidFill>
                <a:ea typeface="+mj-lt"/>
                <a:cs typeface="+mj-lt"/>
              </a:rPr>
              <a:t>Typy hypervizorů:</a:t>
            </a:r>
            <a:endParaRPr lang="cs-CZ">
              <a:solidFill>
                <a:srgbClr val="FF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b="1" dirty="0">
                <a:solidFill>
                  <a:schemeClr val="accent3"/>
                </a:solidFill>
                <a:ea typeface="+mj-lt"/>
                <a:cs typeface="+mj-lt"/>
              </a:rPr>
              <a:t>Typ 1 (nativní, bare-metal):</a:t>
            </a:r>
            <a:r>
              <a:rPr lang="cs-CZ" dirty="0">
                <a:ea typeface="+mj-lt"/>
                <a:cs typeface="+mj-lt"/>
              </a:rPr>
              <a:t> Běží přímo na hardwaru a spravuje virtuální stroje (např. </a:t>
            </a:r>
            <a:r>
              <a:rPr lang="cs-CZ" err="1">
                <a:ea typeface="+mj-lt"/>
                <a:cs typeface="+mj-lt"/>
              </a:rPr>
              <a:t>VMware</a:t>
            </a:r>
            <a:r>
              <a:rPr lang="cs-CZ" dirty="0">
                <a:ea typeface="+mj-lt"/>
                <a:cs typeface="+mj-lt"/>
              </a:rPr>
              <a:t> </a:t>
            </a:r>
            <a:r>
              <a:rPr lang="cs-CZ" err="1">
                <a:ea typeface="+mj-lt"/>
                <a:cs typeface="+mj-lt"/>
              </a:rPr>
              <a:t>ESXi</a:t>
            </a:r>
            <a:r>
              <a:rPr lang="cs-CZ" dirty="0">
                <a:ea typeface="+mj-lt"/>
                <a:cs typeface="+mj-lt"/>
              </a:rPr>
              <a:t>, Microsoft Hyper-V).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b="1" dirty="0">
                <a:solidFill>
                  <a:schemeClr val="accent3"/>
                </a:solidFill>
                <a:ea typeface="+mj-lt"/>
                <a:cs typeface="+mj-lt"/>
              </a:rPr>
              <a:t>Typ 2 (hostovaný):</a:t>
            </a:r>
            <a:r>
              <a:rPr lang="cs-CZ" dirty="0">
                <a:solidFill>
                  <a:schemeClr val="accent3"/>
                </a:solidFill>
                <a:ea typeface="+mj-lt"/>
                <a:cs typeface="+mj-lt"/>
              </a:rPr>
              <a:t> </a:t>
            </a:r>
            <a:r>
              <a:rPr lang="cs-CZ" dirty="0">
                <a:ea typeface="+mj-lt"/>
                <a:cs typeface="+mj-lt"/>
              </a:rPr>
              <a:t>Běží nad hostitelským operačním systémem (např. </a:t>
            </a:r>
            <a:r>
              <a:rPr lang="cs-CZ" err="1">
                <a:ea typeface="+mj-lt"/>
                <a:cs typeface="+mj-lt"/>
              </a:rPr>
              <a:t>VMware</a:t>
            </a:r>
            <a:r>
              <a:rPr lang="cs-CZ" dirty="0">
                <a:ea typeface="+mj-lt"/>
                <a:cs typeface="+mj-lt"/>
              </a:rPr>
              <a:t> Workstation, Oracle </a:t>
            </a:r>
            <a:r>
              <a:rPr lang="cs-CZ" err="1">
                <a:ea typeface="+mj-lt"/>
                <a:cs typeface="+mj-lt"/>
              </a:rPr>
              <a:t>VirtualBox</a:t>
            </a:r>
            <a:r>
              <a:rPr lang="cs-CZ" dirty="0">
                <a:ea typeface="+mj-lt"/>
                <a:cs typeface="+mj-lt"/>
              </a:rPr>
              <a:t>).</a:t>
            </a:r>
            <a:endParaRPr lang="cs-CZ"/>
          </a:p>
          <a:p>
            <a:r>
              <a:rPr lang="cs-CZ" b="1" dirty="0">
                <a:solidFill>
                  <a:srgbClr val="FF0000"/>
                </a:solidFill>
                <a:ea typeface="+mj-lt"/>
                <a:cs typeface="+mj-lt"/>
              </a:rPr>
              <a:t>Hlavní funkce:</a:t>
            </a:r>
            <a:endParaRPr lang="cs-CZ" dirty="0">
              <a:solidFill>
                <a:srgbClr val="FF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Přidělování hardwarových zdrojů jednotlivým virtuálním strojům.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Zajištění izolace a bezpečnosti mezi virtuálními stroji.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Možnost vytvářet, spouštět a zastavovat virtuální stroje.</a:t>
            </a:r>
            <a:endParaRPr lang="cs-CZ"/>
          </a:p>
          <a:p>
            <a:endParaRPr lang="cs-CZ" dirty="0"/>
          </a:p>
        </p:txBody>
      </p:sp>
      <p:pic>
        <p:nvPicPr>
          <p:cNvPr id="8" name="Zástupný obsah 7" descr="What Is a Hypervisor? Hypervisor Meaning, Types, and Examples - DNSstuff">
            <a:extLst>
              <a:ext uri="{FF2B5EF4-FFF2-40B4-BE49-F238E27FC236}">
                <a16:creationId xmlns:a16="http://schemas.microsoft.com/office/drawing/2014/main" id="{C34EBEDF-F194-6AA5-F600-945CA8F02D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98394" y="3360278"/>
            <a:ext cx="6581700" cy="3494512"/>
          </a:xfrm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451EDCE-F733-0982-6E0D-806D4AC14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9B2A1-71F1-4D80-9634-4027DEECC6EB}" type="datetime1">
              <a:t>12/9/2024</a:t>
            </a:fld>
            <a:endParaRPr lang="en-US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9579226-15A8-EB79-D1B7-D93987879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18F1F5D-DABB-AADC-19B7-D99EE172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696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2537BA-4650-07A9-F868-E678A1E4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err="1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IaaS</a:t>
            </a:r>
            <a:r>
              <a:rPr lang="cs-CZ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 (</a:t>
            </a:r>
            <a:r>
              <a:rPr lang="cs-CZ" err="1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Infrastructure</a:t>
            </a:r>
            <a:r>
              <a:rPr lang="cs-CZ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 as a </a:t>
            </a:r>
            <a:r>
              <a:rPr lang="cs-CZ" err="1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Service</a:t>
            </a:r>
            <a:r>
              <a:rPr lang="cs-CZ" dirty="0">
                <a:solidFill>
                  <a:schemeClr val="accent4">
                    <a:lumMod val="76000"/>
                  </a:schemeClr>
                </a:solidFill>
                <a:ea typeface="+mj-lt"/>
                <a:cs typeface="+mj-lt"/>
              </a:rPr>
              <a:t>)</a:t>
            </a:r>
            <a:endParaRPr lang="cs-CZ" dirty="0">
              <a:solidFill>
                <a:schemeClr val="accent4">
                  <a:lumMod val="76000"/>
                </a:schemeClr>
              </a:solidFill>
            </a:endParaRPr>
          </a:p>
        </p:txBody>
      </p:sp>
      <p:pic>
        <p:nvPicPr>
          <p:cNvPr id="8" name="Zástupný obsah 7" descr="What Is Infrastructure as a Service (IaaS)? Definition, Examples, Types,  and Best Practices - Spiceworks">
            <a:extLst>
              <a:ext uri="{FF2B5EF4-FFF2-40B4-BE49-F238E27FC236}">
                <a16:creationId xmlns:a16="http://schemas.microsoft.com/office/drawing/2014/main" id="{45B665F3-F130-C5A9-6E20-DA1A8186529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12800" y="2693045"/>
            <a:ext cx="4995863" cy="2810172"/>
          </a:xfrm>
        </p:spPr>
      </p:pic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124C8B5-3015-5E22-9175-3708CD812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0056" y="1346364"/>
            <a:ext cx="6007667" cy="483059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cs-CZ" b="1" dirty="0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Definice:</a:t>
            </a:r>
            <a:endParaRPr lang="cs-CZ" dirty="0">
              <a:solidFill>
                <a:schemeClr val="accent1">
                  <a:lumMod val="76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err="1">
                <a:ea typeface="+mj-lt"/>
                <a:cs typeface="+mj-lt"/>
              </a:rPr>
              <a:t>IaaS</a:t>
            </a:r>
            <a:r>
              <a:rPr lang="cs-CZ" dirty="0">
                <a:ea typeface="+mj-lt"/>
                <a:cs typeface="+mj-lt"/>
              </a:rPr>
              <a:t> poskytuje základní výpočetní infrastrukturu (virtuální servery, úložiště, sítě) jako službu přes internet.</a:t>
            </a:r>
            <a:endParaRPr lang="cs-CZ"/>
          </a:p>
          <a:p>
            <a:r>
              <a:rPr lang="cs-CZ" b="1" dirty="0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Hlavní vlastnosti:</a:t>
            </a:r>
            <a:endParaRPr lang="cs-CZ" dirty="0">
              <a:solidFill>
                <a:schemeClr val="accent1">
                  <a:lumMod val="76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Uživatelé si mohou sami spravovat virtuální servery a další výpočetní zdroje.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Flexibilita při konfiguraci a škálování infrastruktury.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Platba za skutečně využité zdroje.</a:t>
            </a:r>
            <a:endParaRPr lang="cs-CZ"/>
          </a:p>
          <a:p>
            <a:r>
              <a:rPr lang="cs-CZ" b="1" dirty="0">
                <a:solidFill>
                  <a:schemeClr val="accent1">
                    <a:lumMod val="76000"/>
                  </a:schemeClr>
                </a:solidFill>
                <a:ea typeface="+mj-lt"/>
                <a:cs typeface="+mj-lt"/>
              </a:rPr>
              <a:t>Příklady poskytovatelů:</a:t>
            </a:r>
            <a:endParaRPr lang="cs-CZ" dirty="0">
              <a:solidFill>
                <a:schemeClr val="accent1">
                  <a:lumMod val="76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Amazon Web </a:t>
            </a:r>
            <a:r>
              <a:rPr lang="cs-CZ" err="1">
                <a:ea typeface="+mj-lt"/>
                <a:cs typeface="+mj-lt"/>
              </a:rPr>
              <a:t>Services</a:t>
            </a:r>
            <a:r>
              <a:rPr lang="cs-CZ" dirty="0">
                <a:ea typeface="+mj-lt"/>
                <a:cs typeface="+mj-lt"/>
              </a:rPr>
              <a:t> (AWS), Microsoft Azure, Google Cloud </a:t>
            </a:r>
            <a:r>
              <a:rPr lang="cs-CZ" err="1">
                <a:ea typeface="+mj-lt"/>
                <a:cs typeface="+mj-lt"/>
              </a:rPr>
              <a:t>Platform</a:t>
            </a:r>
            <a:r>
              <a:rPr lang="cs-CZ" dirty="0">
                <a:ea typeface="+mj-lt"/>
                <a:cs typeface="+mj-lt"/>
              </a:rPr>
              <a:t> (GCP).</a:t>
            </a:r>
            <a:endParaRPr lang="cs-CZ"/>
          </a:p>
          <a:p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D8D103F-8421-B514-B397-E6A4F3CBA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25D3-85EB-42CB-BCF1-0705974156E3}" type="datetime1">
              <a:t>12/9/2024</a:t>
            </a:fld>
            <a:endParaRPr lang="en-US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A85DA66-7070-34B4-C147-41F718046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DF878DC-82D4-7BBA-0729-0B7280FA1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747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708D5E-BA28-031E-BFBE-F5E83BC61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765" y="88034"/>
            <a:ext cx="10367562" cy="617074"/>
          </a:xfrm>
        </p:spPr>
        <p:txBody>
          <a:bodyPr>
            <a:normAutofit fontScale="90000"/>
          </a:bodyPr>
          <a:lstStyle/>
          <a:p>
            <a:pPr algn="ctr"/>
            <a:r>
              <a:rPr lang="cs-CZ" err="1">
                <a:solidFill>
                  <a:srgbClr val="00B0F0"/>
                </a:solidFill>
                <a:ea typeface="+mj-lt"/>
                <a:cs typeface="+mj-lt"/>
              </a:rPr>
              <a:t>PaaS</a:t>
            </a:r>
            <a:r>
              <a:rPr lang="cs-CZ" dirty="0">
                <a:solidFill>
                  <a:srgbClr val="00B0F0"/>
                </a:solidFill>
                <a:ea typeface="+mj-lt"/>
                <a:cs typeface="+mj-lt"/>
              </a:rPr>
              <a:t> (</a:t>
            </a:r>
            <a:r>
              <a:rPr lang="cs-CZ" err="1">
                <a:solidFill>
                  <a:srgbClr val="00B0F0"/>
                </a:solidFill>
                <a:ea typeface="+mj-lt"/>
                <a:cs typeface="+mj-lt"/>
              </a:rPr>
              <a:t>Platform</a:t>
            </a:r>
            <a:r>
              <a:rPr lang="cs-CZ" dirty="0">
                <a:solidFill>
                  <a:srgbClr val="00B0F0"/>
                </a:solidFill>
                <a:ea typeface="+mj-lt"/>
                <a:cs typeface="+mj-lt"/>
              </a:rPr>
              <a:t> as a </a:t>
            </a:r>
            <a:r>
              <a:rPr lang="cs-CZ" err="1">
                <a:solidFill>
                  <a:srgbClr val="00B0F0"/>
                </a:solidFill>
                <a:ea typeface="+mj-lt"/>
                <a:cs typeface="+mj-lt"/>
              </a:rPr>
              <a:t>Service</a:t>
            </a:r>
            <a:r>
              <a:rPr lang="cs-CZ" dirty="0">
                <a:solidFill>
                  <a:srgbClr val="00B0F0"/>
                </a:solidFill>
                <a:ea typeface="+mj-lt"/>
                <a:cs typeface="+mj-lt"/>
              </a:rPr>
              <a:t>)</a:t>
            </a:r>
            <a:endParaRPr lang="cs-CZ">
              <a:solidFill>
                <a:srgbClr val="00B0F0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214ADA-AEC4-42E6-1E1E-98F9D5FB7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96" y="703118"/>
            <a:ext cx="7845093" cy="61467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b="1" dirty="0">
                <a:solidFill>
                  <a:schemeClr val="accent5">
                    <a:lumMod val="76000"/>
                  </a:schemeClr>
                </a:solidFill>
                <a:ea typeface="+mj-lt"/>
                <a:cs typeface="+mj-lt"/>
              </a:rPr>
              <a:t>Definice:</a:t>
            </a:r>
            <a:endParaRPr lang="cs-CZ" dirty="0">
              <a:solidFill>
                <a:schemeClr val="accent5">
                  <a:lumMod val="76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err="1">
                <a:ea typeface="+mj-lt"/>
                <a:cs typeface="+mj-lt"/>
              </a:rPr>
              <a:t>PaaS</a:t>
            </a:r>
            <a:r>
              <a:rPr lang="cs-CZ" dirty="0">
                <a:ea typeface="+mj-lt"/>
                <a:cs typeface="+mj-lt"/>
              </a:rPr>
              <a:t> poskytuje vývojové prostředí a platformu pro vývoj, testování a nasazení aplikací bez potřeby spravovat základní infrastrukturu.</a:t>
            </a:r>
            <a:endParaRPr lang="cs-CZ"/>
          </a:p>
          <a:p>
            <a:r>
              <a:rPr lang="cs-CZ" b="1" dirty="0">
                <a:solidFill>
                  <a:schemeClr val="accent5">
                    <a:lumMod val="76000"/>
                  </a:schemeClr>
                </a:solidFill>
                <a:ea typeface="+mj-lt"/>
                <a:cs typeface="+mj-lt"/>
              </a:rPr>
              <a:t>Hlavní vlastnosti:</a:t>
            </a:r>
            <a:endParaRPr lang="cs-CZ" dirty="0">
              <a:solidFill>
                <a:schemeClr val="accent5">
                  <a:lumMod val="76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Poskytuje vývojové nástroje, databáze a </a:t>
            </a:r>
            <a:r>
              <a:rPr lang="cs-CZ" err="1">
                <a:ea typeface="+mj-lt"/>
                <a:cs typeface="+mj-lt"/>
              </a:rPr>
              <a:t>middleware</a:t>
            </a:r>
            <a:r>
              <a:rPr lang="cs-CZ" dirty="0">
                <a:ea typeface="+mj-lt"/>
                <a:cs typeface="+mj-lt"/>
              </a:rPr>
              <a:t>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Automatické škálování a správa infrastruktury.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Podporuje agilní vývoj a rychlé nasazení aplikací.</a:t>
            </a:r>
            <a:endParaRPr lang="cs-CZ"/>
          </a:p>
          <a:p>
            <a:r>
              <a:rPr lang="cs-CZ" b="1" dirty="0">
                <a:solidFill>
                  <a:schemeClr val="accent5">
                    <a:lumMod val="76000"/>
                  </a:schemeClr>
                </a:solidFill>
                <a:ea typeface="+mj-lt"/>
                <a:cs typeface="+mj-lt"/>
              </a:rPr>
              <a:t>Příklady použití:</a:t>
            </a:r>
            <a:endParaRPr lang="cs-CZ" dirty="0">
              <a:solidFill>
                <a:schemeClr val="accent5">
                  <a:lumMod val="76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Vývojové platformy jako Google </a:t>
            </a:r>
            <a:r>
              <a:rPr lang="cs-CZ" dirty="0" err="1">
                <a:ea typeface="+mj-lt"/>
                <a:cs typeface="+mj-lt"/>
              </a:rPr>
              <a:t>App</a:t>
            </a:r>
            <a:r>
              <a:rPr lang="cs-CZ" dirty="0">
                <a:ea typeface="+mj-lt"/>
                <a:cs typeface="+mj-lt"/>
              </a:rPr>
              <a:t> </a:t>
            </a:r>
            <a:r>
              <a:rPr lang="cs-CZ" dirty="0" err="1">
                <a:ea typeface="+mj-lt"/>
                <a:cs typeface="+mj-lt"/>
              </a:rPr>
              <a:t>Engine</a:t>
            </a:r>
            <a:r>
              <a:rPr lang="cs-CZ" dirty="0">
                <a:ea typeface="+mj-lt"/>
                <a:cs typeface="+mj-lt"/>
              </a:rPr>
              <a:t>, </a:t>
            </a:r>
            <a:r>
              <a:rPr lang="cs-CZ" dirty="0" err="1">
                <a:ea typeface="+mj-lt"/>
                <a:cs typeface="+mj-lt"/>
              </a:rPr>
              <a:t>Heroku</a:t>
            </a:r>
            <a:r>
              <a:rPr lang="cs-CZ" dirty="0">
                <a:ea typeface="+mj-lt"/>
                <a:cs typeface="+mj-lt"/>
              </a:rPr>
              <a:t>, Microsoft Azure </a:t>
            </a:r>
            <a:r>
              <a:rPr lang="cs-CZ" dirty="0" err="1">
                <a:ea typeface="+mj-lt"/>
                <a:cs typeface="+mj-lt"/>
              </a:rPr>
              <a:t>App</a:t>
            </a:r>
            <a:r>
              <a:rPr lang="cs-CZ" dirty="0">
                <a:ea typeface="+mj-lt"/>
                <a:cs typeface="+mj-lt"/>
              </a:rPr>
              <a:t> </a:t>
            </a:r>
            <a:r>
              <a:rPr lang="cs-CZ" dirty="0" err="1">
                <a:ea typeface="+mj-lt"/>
                <a:cs typeface="+mj-lt"/>
              </a:rPr>
              <a:t>Services</a:t>
            </a:r>
            <a:r>
              <a:rPr lang="cs-CZ" dirty="0">
                <a:ea typeface="+mj-lt"/>
                <a:cs typeface="+mj-lt"/>
              </a:rPr>
              <a:t>.</a:t>
            </a:r>
            <a:endParaRPr lang="cs-CZ"/>
          </a:p>
          <a:p>
            <a:endParaRPr lang="cs-CZ" dirty="0"/>
          </a:p>
        </p:txBody>
      </p:sp>
      <p:pic>
        <p:nvPicPr>
          <p:cNvPr id="8" name="Zástupný obsah 7" descr="The current trends in Platform as a Service (PaaS)">
            <a:extLst>
              <a:ext uri="{FF2B5EF4-FFF2-40B4-BE49-F238E27FC236}">
                <a16:creationId xmlns:a16="http://schemas.microsoft.com/office/drawing/2014/main" id="{39F2759F-3A6E-74F6-F8CF-389D2CE82C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90827" y="1510058"/>
            <a:ext cx="4344781" cy="2702120"/>
          </a:xfrm>
        </p:spPr>
      </p:pic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2A1DE47-88C6-4439-85FF-0746BF3E8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3EADF-CF16-4730-B492-6082B06D26C2}" type="datetime1">
              <a:t>12/9/2024</a:t>
            </a:fld>
            <a:endParaRPr lang="en-US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47267EA-B28A-CBE2-25FD-40230FDD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FD5574F-9A54-2D4C-2E50-8461571DC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725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B645F7-2520-711C-0709-22F0875AD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67562" cy="607178"/>
          </a:xfrm>
        </p:spPr>
        <p:txBody>
          <a:bodyPr>
            <a:normAutofit fontScale="90000"/>
          </a:bodyPr>
          <a:lstStyle/>
          <a:p>
            <a:pPr algn="ctr"/>
            <a:r>
              <a:rPr lang="cs-CZ" err="1">
                <a:solidFill>
                  <a:srgbClr val="FFC000"/>
                </a:solidFill>
                <a:ea typeface="+mj-lt"/>
                <a:cs typeface="+mj-lt"/>
              </a:rPr>
              <a:t>SaaS</a:t>
            </a:r>
            <a:r>
              <a:rPr lang="cs-CZ" dirty="0">
                <a:solidFill>
                  <a:srgbClr val="FFC000"/>
                </a:solidFill>
                <a:ea typeface="+mj-lt"/>
                <a:cs typeface="+mj-lt"/>
              </a:rPr>
              <a:t> (Software as a </a:t>
            </a:r>
            <a:r>
              <a:rPr lang="cs-CZ" err="1">
                <a:solidFill>
                  <a:srgbClr val="FFC000"/>
                </a:solidFill>
                <a:ea typeface="+mj-lt"/>
                <a:cs typeface="+mj-lt"/>
              </a:rPr>
              <a:t>Service</a:t>
            </a:r>
            <a:r>
              <a:rPr lang="cs-CZ" dirty="0">
                <a:solidFill>
                  <a:srgbClr val="FFC000"/>
                </a:solidFill>
                <a:ea typeface="+mj-lt"/>
                <a:cs typeface="+mj-lt"/>
              </a:rPr>
              <a:t>)</a:t>
            </a:r>
            <a:endParaRPr lang="cs-CZ">
              <a:solidFill>
                <a:srgbClr val="FFC000"/>
              </a:solidFill>
            </a:endParaRPr>
          </a:p>
        </p:txBody>
      </p:sp>
      <p:pic>
        <p:nvPicPr>
          <p:cNvPr id="8" name="Zástupný obsah 7" descr="What is Software as a Service (SaaS)? Definition, Examples">
            <a:extLst>
              <a:ext uri="{FF2B5EF4-FFF2-40B4-BE49-F238E27FC236}">
                <a16:creationId xmlns:a16="http://schemas.microsoft.com/office/drawing/2014/main" id="{8FFF096F-C530-0E69-8938-B1A3AAF91C3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9449" y="966516"/>
            <a:ext cx="4995863" cy="2997517"/>
          </a:xfrm>
        </p:spPr>
      </p:pic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D552B71-0C21-ED1D-8937-FDB10986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0862" y="1148443"/>
            <a:ext cx="6660810" cy="502851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cs-CZ" b="1" dirty="0">
                <a:solidFill>
                  <a:schemeClr val="accent6">
                    <a:lumMod val="76000"/>
                  </a:schemeClr>
                </a:solidFill>
                <a:ea typeface="+mj-lt"/>
                <a:cs typeface="+mj-lt"/>
              </a:rPr>
              <a:t>Definice:</a:t>
            </a:r>
            <a:endParaRPr lang="cs-CZ" dirty="0">
              <a:solidFill>
                <a:schemeClr val="accent6">
                  <a:lumMod val="76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 err="1">
                <a:ea typeface="+mj-lt"/>
                <a:cs typeface="+mj-lt"/>
              </a:rPr>
              <a:t>SaaS</a:t>
            </a:r>
            <a:r>
              <a:rPr lang="cs-CZ" dirty="0">
                <a:ea typeface="+mj-lt"/>
                <a:cs typeface="+mj-lt"/>
              </a:rPr>
              <a:t> poskytuje uživatelům přístup k softwarovým aplikacím hostovaným v cloudu prostřednictvím internetu.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Uživatelé nepotřebují instalovat aplikace na své lokální zařízení.</a:t>
            </a:r>
            <a:endParaRPr lang="cs-CZ"/>
          </a:p>
          <a:p>
            <a:r>
              <a:rPr lang="cs-CZ" b="1" dirty="0">
                <a:solidFill>
                  <a:schemeClr val="accent6">
                    <a:lumMod val="76000"/>
                  </a:schemeClr>
                </a:solidFill>
                <a:ea typeface="+mj-lt"/>
                <a:cs typeface="+mj-lt"/>
              </a:rPr>
              <a:t>Výhody:</a:t>
            </a:r>
            <a:endParaRPr lang="cs-CZ" dirty="0">
              <a:solidFill>
                <a:schemeClr val="accent6">
                  <a:lumMod val="76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Snadný přístup odkudkoli s připojením k internetu.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Automatické aktualizace a údržba prováděná poskytovatelem.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Nižší náklady na software a hardware.</a:t>
            </a:r>
            <a:endParaRPr lang="cs-CZ"/>
          </a:p>
          <a:p>
            <a:r>
              <a:rPr lang="cs-CZ" b="1" dirty="0">
                <a:solidFill>
                  <a:schemeClr val="accent6">
                    <a:lumMod val="76000"/>
                  </a:schemeClr>
                </a:solidFill>
                <a:ea typeface="+mj-lt"/>
                <a:cs typeface="+mj-lt"/>
              </a:rPr>
              <a:t>Příklady použití:</a:t>
            </a:r>
            <a:endParaRPr lang="cs-CZ" dirty="0">
              <a:solidFill>
                <a:schemeClr val="accent6">
                  <a:lumMod val="76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Online kancelářské nástroje (Google </a:t>
            </a:r>
            <a:r>
              <a:rPr lang="cs-CZ" err="1">
                <a:ea typeface="+mj-lt"/>
                <a:cs typeface="+mj-lt"/>
              </a:rPr>
              <a:t>Docs</a:t>
            </a:r>
            <a:r>
              <a:rPr lang="cs-CZ" dirty="0">
                <a:ea typeface="+mj-lt"/>
                <a:cs typeface="+mj-lt"/>
              </a:rPr>
              <a:t>, Microsoft Office 365).</a:t>
            </a:r>
            <a:endParaRPr lang="cs-CZ"/>
          </a:p>
          <a:p>
            <a:pPr lvl="1">
              <a:buFont typeface="Courier New" panose="020B0604020202020204" pitchFamily="34" charset="0"/>
              <a:buChar char="o"/>
            </a:pPr>
            <a:r>
              <a:rPr lang="cs-CZ" dirty="0">
                <a:ea typeface="+mj-lt"/>
                <a:cs typeface="+mj-lt"/>
              </a:rPr>
              <a:t>CRM systémy (</a:t>
            </a:r>
            <a:r>
              <a:rPr lang="cs-CZ" err="1">
                <a:ea typeface="+mj-lt"/>
                <a:cs typeface="+mj-lt"/>
              </a:rPr>
              <a:t>Salesforce</a:t>
            </a:r>
            <a:r>
              <a:rPr lang="cs-CZ" dirty="0">
                <a:ea typeface="+mj-lt"/>
                <a:cs typeface="+mj-lt"/>
              </a:rPr>
              <a:t>).</a:t>
            </a:r>
            <a:endParaRPr lang="cs-CZ"/>
          </a:p>
          <a:p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6D65CE6-589C-0BA1-F1C8-71F160AC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D0EAA-D785-4B18-A2FC-BC7172ADAD1F}" type="datetime1">
              <a:t>12/9/2024</a:t>
            </a:fld>
            <a:endParaRPr lang="en-US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1DD2D54-FE30-3DF8-3F54-A9E7CD9D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E1AE080-62DB-0A4B-511D-2E19264A5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19</a:t>
            </a:fld>
            <a:endParaRPr lang="en-US" dirty="0"/>
          </a:p>
        </p:txBody>
      </p:sp>
      <p:pic>
        <p:nvPicPr>
          <p:cNvPr id="9" name="Obrázek 8" descr="What are the IaaS, PaaS, and SaaS Cloud Service Models?">
            <a:extLst>
              <a:ext uri="{FF2B5EF4-FFF2-40B4-BE49-F238E27FC236}">
                <a16:creationId xmlns:a16="http://schemas.microsoft.com/office/drawing/2014/main" id="{1726489B-A418-8825-5237-74B6F08CF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30" y="3963023"/>
            <a:ext cx="4138549" cy="263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40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802D9-1368-7555-D83F-02E972909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</p:spPr>
        <p:txBody>
          <a:bodyPr anchor="b">
            <a:normAutofit/>
          </a:bodyPr>
          <a:lstStyle/>
          <a:p>
            <a:r>
              <a:rPr lang="en-US"/>
              <a:t>DĚKUJI ZA POZORNOST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412AD-D983-A05F-37F2-341DA417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5014" y="634204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C325CC-C48F-4FD0-8C77-FAE9CBEE3C0F}" type="datetime1">
              <a:pPr>
                <a:spcAft>
                  <a:spcPts val="600"/>
                </a:spcAft>
              </a:pPr>
              <a:t>12/9/2024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EDE96-7F64-244C-C078-925AE4039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96200" y="6342042"/>
            <a:ext cx="3470128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3817C-8831-1259-8763-938A481B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6329" y="6342042"/>
            <a:ext cx="52622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DFDE724-0293-4953-AE9D-4D814FA589B0}" type="slidenum">
              <a:rPr lang="en-US" dirty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54580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VeniceBeachVTI">
      <a:dk1>
        <a:sysClr val="windowText" lastClr="000000"/>
      </a:dk1>
      <a:lt1>
        <a:sysClr val="window" lastClr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VeniceBeachVTI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VeniceBeac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54706E44-6516-4822-8F8F-6BA182D64AC9}" vid="{F71BAAD1-41E5-4D56-97E1-12A04B86E5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VeniceBeachVTI</vt:lpstr>
      <vt:lpstr>Otázka 15 - výpočetní modely</vt:lpstr>
      <vt:lpstr>Výpočetní modely</vt:lpstr>
      <vt:lpstr>Co se očekává od výpočetního modelu</vt:lpstr>
      <vt:lpstr>Dávkové zpracování</vt:lpstr>
      <vt:lpstr>Model host / terminál</vt:lpstr>
      <vt:lpstr>Model desktop PC</vt:lpstr>
      <vt:lpstr>Model zlaté střední cesty</vt:lpstr>
      <vt:lpstr>Model file server / print server / workstation</vt:lpstr>
      <vt:lpstr>Model klient / server</vt:lpstr>
      <vt:lpstr>Model peer-to-peer (P2P)</vt:lpstr>
      <vt:lpstr>Modifikace modelu klient/server na 3 části</vt:lpstr>
      <vt:lpstr>Model tenkého a tlustého klienta</vt:lpstr>
      <vt:lpstr>Webové aplikace a moderní pojetí</vt:lpstr>
      <vt:lpstr>Rich Web Application (RWA)</vt:lpstr>
      <vt:lpstr>Virtualizace</vt:lpstr>
      <vt:lpstr>Hypervizor</vt:lpstr>
      <vt:lpstr>IaaS (Infrastructure as a Service)</vt:lpstr>
      <vt:lpstr>PaaS (Platform as a Service)</vt:lpstr>
      <vt:lpstr>SaaS (Software as a Service)</vt:lpstr>
      <vt:lpstr>DĚKUJI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375</cp:revision>
  <dcterms:created xsi:type="dcterms:W3CDTF">2024-10-14T07:39:21Z</dcterms:created>
  <dcterms:modified xsi:type="dcterms:W3CDTF">2024-12-10T07:53:57Z</dcterms:modified>
</cp:coreProperties>
</file>