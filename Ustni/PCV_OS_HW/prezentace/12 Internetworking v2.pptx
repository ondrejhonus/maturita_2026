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10/26/2024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ek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 s 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C9F812C-9547-CA79-0552-F74ADE7BF6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12. </a:t>
            </a:r>
            <a:r>
              <a:rPr lang="cs-CZ" dirty="0" err="1"/>
              <a:t>Internetworking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CF10660D-9621-98AD-F239-D5E53288C3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Ondřej </a:t>
            </a:r>
            <a:r>
              <a:rPr lang="cs-CZ" dirty="0" err="1"/>
              <a:t>němčík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40702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EEA8BB4-5DEC-8E27-A3B8-1EC3F0972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1771" y="-392135"/>
            <a:ext cx="9905998" cy="1478570"/>
          </a:xfrm>
        </p:spPr>
        <p:txBody>
          <a:bodyPr/>
          <a:lstStyle/>
          <a:p>
            <a:r>
              <a:rPr lang="en-US" dirty="0"/>
              <a:t>1. Internetworking - </a:t>
            </a:r>
            <a:r>
              <a:rPr lang="en-US" dirty="0" err="1"/>
              <a:t>Význam</a:t>
            </a:r>
            <a:r>
              <a:rPr lang="en-US" dirty="0"/>
              <a:t> a </a:t>
            </a:r>
            <a:r>
              <a:rPr lang="en-US" dirty="0" err="1"/>
              <a:t>důvod</a:t>
            </a:r>
            <a:endParaRPr lang="cs-CZ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9DEFDA2-F7FC-DECE-1DF2-697E590414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51052" y="1086435"/>
            <a:ext cx="1048671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Internetworking</a:t>
            </a: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Termín pro propojení více sítí, které využívají různé protokoly a infrastruktury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(např. propojení LAN a WAN).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Důvod</a:t>
            </a: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Umožňuje globální propojení různých systémů, aplikací a zařízení.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cs-CZ" altLang="cs-CZ" sz="1800" dirty="0">
                <a:latin typeface="Arial" panose="020B0604020202020204" pitchFamily="34" charset="0"/>
              </a:rPr>
              <a:t>	</a:t>
            </a: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Internet je největší příklad </a:t>
            </a:r>
            <a:r>
              <a:rPr kumimoji="0" lang="cs-CZ" altLang="cs-CZ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internetworkingu</a:t>
            </a: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Klíčová technologie</a:t>
            </a: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Protokoly, jako je IP (Internet </a:t>
            </a:r>
            <a:r>
              <a:rPr kumimoji="0" lang="cs-CZ" altLang="cs-CZ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Protocol</a:t>
            </a: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zajišťují jednotný komunikační rámec.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Výhody</a:t>
            </a: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Sdílení zdrojů (např. datová centra, cloudové aplikace).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Centralizovaná správa sítí.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Komunikace napříč geografickými oblastmi.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altLang="cs-C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7072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864484-FD7A-6A6C-FCF4-AB66DE1EB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7A3E151A-3F10-04C1-566D-E3EFC49E2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>
            <a:normAutofit/>
          </a:bodyPr>
          <a:lstStyle/>
          <a:p>
            <a:r>
              <a:rPr lang="cs-CZ" sz="3200"/>
              <a:t>2. Síťový hardware zajišťující funkcionalitu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D4FACCA-BD68-603E-7F71-DAC203EE62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2" y="2249487"/>
            <a:ext cx="4459287" cy="396504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Router</a:t>
            </a:r>
            <a:r>
              <a:rPr kumimoji="0" lang="cs-CZ" altLang="cs-CZ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Hlavní zařízení pro směrování packetů mezi různými sítěmi. 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cs-CZ" altLang="cs-CZ" sz="1100" dirty="0">
                <a:latin typeface="Arial" panose="020B0604020202020204" pitchFamily="34" charset="0"/>
              </a:rPr>
              <a:t>	</a:t>
            </a:r>
            <a:r>
              <a:rPr kumimoji="0" lang="cs-CZ" altLang="cs-CZ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Funguje na síťové vrstvě (L3) a používá IP adresy k určení, kam má data poslat.</a:t>
            </a:r>
            <a:endParaRPr lang="cs-CZ" altLang="cs-CZ" sz="1100" dirty="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cs-CZ" altLang="cs-CZ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	Příklady</a:t>
            </a:r>
            <a:r>
              <a:rPr kumimoji="0" lang="cs-CZ" altLang="cs-CZ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Domácí router pro připojení k internetu, podnikové routery pro složité sítě.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Switch</a:t>
            </a:r>
            <a:r>
              <a:rPr kumimoji="0" lang="cs-CZ" altLang="cs-CZ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Funguje na L2 vrstvě (linková vrstva) a propojuje zařízení v rámci jedné lokální sítě (LAN).</a:t>
            </a:r>
          </a:p>
          <a:p>
            <a:pPr marL="457200" lvl="1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  <a:buFontTx/>
              <a:buChar char="•"/>
            </a:pPr>
            <a:r>
              <a:rPr kumimoji="0" lang="cs-CZ" altLang="cs-CZ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Rozdíl od routeru</a:t>
            </a:r>
            <a:r>
              <a:rPr kumimoji="0" lang="cs-CZ" altLang="cs-CZ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Switch neposílá data mezi různými sítěmi, ale jen v rámci jedné sítě.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Firewall</a:t>
            </a:r>
            <a:r>
              <a:rPr kumimoji="0" lang="cs-CZ" altLang="cs-CZ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Bezpečnostní zařízení, které kontroluje příchozí a odchozí síťový provoz a blokuje nebo povoluje přístup na základě předdefinovaných pravidel.</a:t>
            </a:r>
          </a:p>
          <a:p>
            <a:pPr marL="457200" lvl="1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  <a:buFontTx/>
              <a:buChar char="•"/>
            </a:pPr>
            <a:r>
              <a:rPr kumimoji="0" lang="cs-CZ" altLang="cs-CZ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Typy firewallů</a:t>
            </a:r>
            <a:r>
              <a:rPr kumimoji="0" lang="cs-CZ" altLang="cs-CZ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Softwarový a hardwarový firewall.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Access Point (AP)</a:t>
            </a:r>
            <a:r>
              <a:rPr kumimoji="0" lang="cs-CZ" altLang="cs-CZ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Zařízení pro bezdrátovou komunikaci, které propojuje bezdrátové klienty (např. telefony, notebooky) s LAN. </a:t>
            </a:r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D93BEE3B-0E7E-9176-35D1-B95CF6F81B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922869"/>
            <a:ext cx="5456279" cy="2987312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52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4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5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6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7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8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9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60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61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62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63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64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65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66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67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68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69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70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71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72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73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74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75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76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77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78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3788656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E3D2FD-4656-F4F1-21DA-B47DABAE8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D2D0C42-6771-B79E-51FE-65FCFF078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>
            <a:normAutofit/>
          </a:bodyPr>
          <a:lstStyle/>
          <a:p>
            <a:r>
              <a:rPr lang="cs-CZ" sz="3200"/>
              <a:t>3. Základní popis IP packetu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F236590-F491-CBD9-6580-A085863184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2" y="2249487"/>
            <a:ext cx="4459287" cy="396504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IP packet</a:t>
            </a:r>
            <a:r>
              <a:rPr kumimoji="0" lang="cs-CZ" altLang="cs-CZ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Základní jednotka přenosu dat v IP sítích.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Struktura IP packetu</a:t>
            </a:r>
            <a:r>
              <a:rPr kumimoji="0" lang="cs-CZ" altLang="cs-CZ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457200" lvl="1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  <a:buFontTx/>
              <a:buChar char="•"/>
            </a:pPr>
            <a:r>
              <a:rPr kumimoji="0" lang="cs-CZ" altLang="cs-CZ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IP hlavička</a:t>
            </a:r>
            <a:r>
              <a:rPr kumimoji="0" lang="cs-CZ" altLang="cs-CZ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Obsahuje klíčové informace jako zdrojovou IP adresu, cílovou IP adresu, 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cs-CZ" altLang="cs-CZ" sz="1400" dirty="0">
                <a:latin typeface="Arial" panose="020B0604020202020204" pitchFamily="34" charset="0"/>
              </a:rPr>
              <a:t>		</a:t>
            </a:r>
            <a:r>
              <a:rPr kumimoji="0" lang="cs-CZ" altLang="cs-CZ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verzi IP (IPv4/IPv6), délku paketu a TTL.</a:t>
            </a:r>
          </a:p>
          <a:p>
            <a:pPr marL="457200" lvl="1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  <a:buFontTx/>
              <a:buChar char="•"/>
            </a:pPr>
            <a:r>
              <a:rPr kumimoji="0" lang="cs-CZ" altLang="cs-CZ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TTL (Time To Live)</a:t>
            </a:r>
            <a:r>
              <a:rPr kumimoji="0" lang="cs-CZ" altLang="cs-CZ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Číslo, které omezuje počet "skoků" packetu, aby se nezacyklil v síti.</a:t>
            </a:r>
          </a:p>
          <a:p>
            <a:pPr marL="457200" lvl="1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  <a:buFontTx/>
              <a:buChar char="•"/>
            </a:pPr>
            <a:r>
              <a:rPr kumimoji="0" lang="cs-CZ" altLang="cs-CZ" sz="14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Payload</a:t>
            </a:r>
            <a:r>
              <a:rPr kumimoji="0" lang="cs-CZ" altLang="cs-CZ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Data, která se přenášejí (např. obsah e-mailu, webová stránka).</a:t>
            </a:r>
          </a:p>
          <a:p>
            <a:pPr marL="457200" lvl="1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  <a:buFontTx/>
              <a:buChar char="•"/>
            </a:pPr>
            <a:r>
              <a:rPr kumimoji="0" lang="cs-CZ" altLang="cs-CZ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Fragmentace</a:t>
            </a:r>
            <a:r>
              <a:rPr kumimoji="0" lang="cs-CZ" altLang="cs-CZ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Pokud je packet větší než maximální povolená velikost pro konkrétní síť, </a:t>
            </a:r>
          </a:p>
          <a:p>
            <a:pPr marL="457200" lvl="1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  <a:buFontTx/>
              <a:buChar char="•"/>
            </a:pPr>
            <a:r>
              <a:rPr kumimoji="0" lang="cs-CZ" altLang="cs-CZ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rozdělí se na menší fragmenty.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cs-CZ" altLang="cs-CZ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8854F2AE-90BF-ED65-6359-AA5AC375B1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575031"/>
            <a:ext cx="5456279" cy="3682988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6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3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4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5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6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7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28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9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0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1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2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3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4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5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6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7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8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9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0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2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164276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89481A-212D-677B-C68F-0628198F3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16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18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20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8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9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0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1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32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3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4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5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6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7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8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9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0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2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3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4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5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6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38678AEC-393C-938D-A5F1-754FEC97F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015" y="1093787"/>
            <a:ext cx="3059969" cy="4697413"/>
          </a:xfrm>
        </p:spPr>
        <p:txBody>
          <a:bodyPr>
            <a:normAutofit/>
          </a:bodyPr>
          <a:lstStyle/>
          <a:p>
            <a:r>
              <a:rPr lang="cs-CZ" dirty="0"/>
              <a:t>4. Adresace na L3 vrstvě (IPv4 a IPv6)</a:t>
            </a:r>
          </a:p>
        </p:txBody>
      </p:sp>
      <p:sp useBgFill="1">
        <p:nvSpPr>
          <p:cNvPr id="48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5084" y="0"/>
            <a:ext cx="756691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370325E-DBB7-1C2E-28F9-90CB035213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5467" y="1093788"/>
            <a:ext cx="5831944" cy="46974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IPv4</a:t>
            </a:r>
            <a:r>
              <a:rPr kumimoji="0" lang="cs-CZ" altLang="cs-CZ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32bitová adresa rozdělena do čtyř bloků, každý obsahuje číslo mezi 0 a 255. Příklad: 192.168.0.1.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Omezený počet adres (4,3 miliardy adres), což vedlo k vyčerpání adresního prostoru.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IPv6</a:t>
            </a:r>
            <a:r>
              <a:rPr kumimoji="0" lang="cs-CZ" altLang="cs-CZ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Nová verze IP adresování s 128bitovou délkou. Poskytuje téměř neomezený počet adres.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Formát</a:t>
            </a:r>
            <a:r>
              <a:rPr kumimoji="0" lang="cs-CZ" altLang="cs-CZ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Hexadecimální bloky oddělené dvojtečkami. Příklad: 2001:0db8:85a3:0000:0000:8a2e:0370:7334.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Výhody IPv6</a:t>
            </a:r>
            <a:r>
              <a:rPr kumimoji="0" lang="cs-CZ" altLang="cs-CZ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Lepší podpora pro mobilní zařízení, vestavěná podpora pro bezpečnostní prvky (</a:t>
            </a:r>
            <a:r>
              <a:rPr kumimoji="0" lang="cs-CZ" altLang="cs-CZ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IPSec</a:t>
            </a:r>
            <a:r>
              <a:rPr kumimoji="0" lang="cs-CZ" altLang="cs-CZ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), jednodušší automatická konfigurace adres.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cs-CZ" altLang="cs-CZ" sz="19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1032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FBB740-8A2D-9852-5E66-58EF2A626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09775186-B02C-BD51-2BEF-11CD4FE4E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>
            <a:normAutofit/>
          </a:bodyPr>
          <a:lstStyle/>
          <a:p>
            <a:r>
              <a:rPr lang="pt-BR" sz="3200"/>
              <a:t>5. IPv4 - Adresace a Privátní rozsahy</a:t>
            </a:r>
            <a:endParaRPr lang="cs-CZ" sz="320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631EA80-6AF7-33D7-68C9-E910FB9AC7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2" y="2249487"/>
            <a:ext cx="4459287" cy="396504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Veřejné vs. privátní adresy</a:t>
            </a:r>
            <a:r>
              <a:rPr kumimoji="0" lang="cs-CZ" altLang="cs-CZ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Veřejné adresy</a:t>
            </a:r>
            <a:r>
              <a:rPr kumimoji="0" lang="cs-CZ" altLang="cs-CZ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</a:t>
            </a:r>
            <a:r>
              <a:rPr kumimoji="0" lang="cs-CZ" altLang="cs-CZ" sz="1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Routovatelné</a:t>
            </a:r>
            <a:r>
              <a:rPr kumimoji="0" lang="cs-CZ" altLang="cs-CZ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na internetu, musí být jedinečné.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Privátní adresy</a:t>
            </a:r>
            <a:r>
              <a:rPr kumimoji="0" lang="cs-CZ" altLang="cs-CZ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Používají se v rámci lokálních sítí, nejsou </a:t>
            </a:r>
            <a:r>
              <a:rPr kumimoji="0" lang="cs-CZ" altLang="cs-CZ" sz="1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routovatelné</a:t>
            </a:r>
            <a:r>
              <a:rPr kumimoji="0" lang="cs-CZ" altLang="cs-CZ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na internetu (používají se v kombinaci s NAT).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Rozsahy privátních adres</a:t>
            </a:r>
            <a:r>
              <a:rPr kumimoji="0" lang="cs-CZ" altLang="cs-CZ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podle tříd: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Třída A</a:t>
            </a:r>
            <a:r>
              <a:rPr kumimoji="0" lang="cs-CZ" altLang="cs-CZ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10.0.0.0 – 10.255.255.255 (pro velké sítě).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Třída B</a:t>
            </a:r>
            <a:r>
              <a:rPr kumimoji="0" lang="cs-CZ" altLang="cs-CZ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172.16.0.0 – 172.31.255.255 (středně velké sítě).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Třída C</a:t>
            </a:r>
            <a:r>
              <a:rPr kumimoji="0" lang="cs-CZ" altLang="cs-CZ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192.168.0.0 – 192.168.255.255 (malé sítě).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cs-CZ" altLang="cs-CZ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6CA00B53-82D5-EDA2-8769-2A2299E035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827384"/>
            <a:ext cx="5456279" cy="3178282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50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1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2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4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5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6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7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8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9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60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61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62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63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64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65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66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67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68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69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70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71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72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73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74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75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76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879822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EE3798-7076-9F68-B6A3-3E0348A44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80C0855-8EEE-9C4C-D55B-ECF0802DE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>
            <a:normAutofit/>
          </a:bodyPr>
          <a:lstStyle/>
          <a:p>
            <a:r>
              <a:rPr lang="cs-CZ" sz="3200"/>
              <a:t>6. IPv6 - Adresace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B18B013-A019-3075-9A32-DC1971C5D5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2" y="2249487"/>
            <a:ext cx="4459287" cy="396504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Typy IPv6 adres</a:t>
            </a:r>
            <a:r>
              <a:rPr kumimoji="0" lang="cs-CZ" altLang="cs-CZ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Globální </a:t>
            </a:r>
            <a:r>
              <a:rPr kumimoji="0" lang="cs-CZ" altLang="cs-CZ" sz="17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unicast</a:t>
            </a:r>
            <a:r>
              <a:rPr kumimoji="0" lang="cs-CZ" altLang="cs-CZ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Adresy přidělované pro komunikaci na internetu.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Link-</a:t>
            </a:r>
            <a:r>
              <a:rPr kumimoji="0" lang="cs-CZ" altLang="cs-CZ" sz="17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local</a:t>
            </a:r>
            <a:r>
              <a:rPr kumimoji="0" lang="cs-CZ" altLang="cs-CZ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Používá se pro komunikaci mezi zařízeními na stejné lince, bez nutnosti routeru.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7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Multicast</a:t>
            </a:r>
            <a:r>
              <a:rPr kumimoji="0" lang="cs-CZ" altLang="cs-CZ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Používá se pro komunikaci se skupinou zařízení najednou.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NAT a IPv6</a:t>
            </a:r>
            <a:r>
              <a:rPr kumimoji="0" lang="cs-CZ" altLang="cs-CZ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IPv6 nepoužívá NAT, protože jeho adresní prostor je dostatečně velký, aby každý měl veřejnou IP adresu. </a:t>
            </a: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65C13609-248C-8F04-3295-B247C80316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943330"/>
            <a:ext cx="5456279" cy="2946390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6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3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4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5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6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7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28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9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0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1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2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3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4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5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6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7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8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9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0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2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2444369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37E587-4048-B1B3-C529-4F25F759E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3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5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6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7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8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0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1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2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3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4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5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6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7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8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7A876089-B031-3CC5-6DC7-B730490FE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015" y="1093787"/>
            <a:ext cx="3059969" cy="4697413"/>
          </a:xfrm>
        </p:spPr>
        <p:txBody>
          <a:bodyPr>
            <a:normAutofit/>
          </a:bodyPr>
          <a:lstStyle/>
          <a:p>
            <a:r>
              <a:rPr lang="cs-CZ" dirty="0"/>
              <a:t>7. Směrování - Základní pojmy</a:t>
            </a:r>
          </a:p>
        </p:txBody>
      </p:sp>
      <p:sp useBgFill="1">
        <p:nvSpPr>
          <p:cNvPr id="40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5084" y="0"/>
            <a:ext cx="756691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FC92E18-C4B2-D2BF-D0E9-7A5D942035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5467" y="1093788"/>
            <a:ext cx="5831944" cy="46974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20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Routing</a:t>
            </a:r>
            <a:r>
              <a:rPr kumimoji="0" lang="cs-CZ" altLang="cs-CZ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Proces výběru cesty, kterou se packet dostane z jednoho místa do druhého v síti.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Směrovací tabulka</a:t>
            </a:r>
            <a:r>
              <a:rPr kumimoji="0" lang="cs-CZ" altLang="cs-CZ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Obsahuje seznam známých sítí a nejlepší cestu k jejich dosažení. Každý router má vlastní tabulku, kterou využívá k rozhodování, kam poslat data.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Příklady směrovacích metrik</a:t>
            </a:r>
            <a:r>
              <a:rPr kumimoji="0" lang="cs-CZ" altLang="cs-CZ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Hop </a:t>
            </a:r>
            <a:r>
              <a:rPr kumimoji="0" lang="cs-CZ" altLang="cs-CZ" sz="20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count</a:t>
            </a:r>
            <a:r>
              <a:rPr kumimoji="0" lang="cs-CZ" altLang="cs-CZ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Počet skoků mezi routery.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20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Bandwidth</a:t>
            </a:r>
            <a:r>
              <a:rPr kumimoji="0" lang="cs-CZ" altLang="cs-CZ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Šířka pásma na cestě.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20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Latency</a:t>
            </a:r>
            <a:r>
              <a:rPr kumimoji="0" lang="cs-CZ" altLang="cs-CZ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Zpoždění přenosu dat.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cs-CZ" altLang="cs-CZ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3237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1A3582-F16F-84CD-3DBC-3EAEF313F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C34AB443-2AAD-21BB-C8DC-F4FA2D525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>
            <a:normAutofit/>
          </a:bodyPr>
          <a:lstStyle/>
          <a:p>
            <a:r>
              <a:rPr lang="cs-CZ" sz="3200"/>
              <a:t>8. Statické směrování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FBEA650-1329-EAFB-72F4-CE19DA8CB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4459287" cy="3965046"/>
          </a:xfrm>
        </p:spPr>
        <p:txBody>
          <a:bodyPr>
            <a:normAutofit fontScale="85000" lnSpcReduction="10000"/>
          </a:bodyPr>
          <a:lstStyle/>
          <a:p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Princip: Administrátor manuálně nakonfiguruje cestu mezi dvěma sítěmi.</a:t>
            </a:r>
          </a:p>
          <a:p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Použití: Malé nebo jednoduché sítě, kde nejsou často změny.</a:t>
            </a:r>
          </a:p>
          <a:p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Nevýhody:</a:t>
            </a:r>
          </a:p>
          <a:p>
            <a:pPr lvl="1"/>
            <a:r>
              <a:rPr lang="cs-CZ" sz="1600" dirty="0">
                <a:latin typeface="Arial" panose="020B0604020202020204" pitchFamily="34" charset="0"/>
                <a:cs typeface="Arial" panose="020B0604020202020204" pitchFamily="34" charset="0"/>
              </a:rPr>
              <a:t>Při změně sítě je potřeba ruční aktualizace.</a:t>
            </a:r>
          </a:p>
          <a:p>
            <a:pPr lvl="1"/>
            <a:r>
              <a:rPr lang="cs-CZ" sz="1600" dirty="0">
                <a:latin typeface="Arial" panose="020B0604020202020204" pitchFamily="34" charset="0"/>
                <a:cs typeface="Arial" panose="020B0604020202020204" pitchFamily="34" charset="0"/>
              </a:rPr>
              <a:t>Není efektivní pro velké sítě s častými změnami.</a:t>
            </a:r>
            <a:endParaRPr lang="cs-CZ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Výhody:</a:t>
            </a:r>
          </a:p>
          <a:p>
            <a:pPr lvl="1"/>
            <a:r>
              <a:rPr lang="cs-CZ" sz="1600" dirty="0">
                <a:latin typeface="Arial" panose="020B0604020202020204" pitchFamily="34" charset="0"/>
                <a:cs typeface="Arial" panose="020B0604020202020204" pitchFamily="34" charset="0"/>
              </a:rPr>
              <a:t>Nižší nároky na zdroje routeru.</a:t>
            </a:r>
          </a:p>
          <a:p>
            <a:pPr lvl="1"/>
            <a:r>
              <a:rPr lang="cs-CZ" sz="1600" dirty="0">
                <a:latin typeface="Arial" panose="020B0604020202020204" pitchFamily="34" charset="0"/>
                <a:cs typeface="Arial" panose="020B0604020202020204" pitchFamily="34" charset="0"/>
              </a:rPr>
              <a:t>Stabilita (trasy se nemění automaticky).</a:t>
            </a:r>
          </a:p>
          <a:p>
            <a:pPr marL="457200" lvl="1" indent="0">
              <a:buNone/>
            </a:pPr>
            <a:endParaRPr lang="cs-CZ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Obrázek 3" descr="Static Routing Configuration Guide with Examples">
            <a:extLst>
              <a:ext uri="{FF2B5EF4-FFF2-40B4-BE49-F238E27FC236}">
                <a16:creationId xmlns:a16="http://schemas.microsoft.com/office/drawing/2014/main" id="{DF964937-B0D8-7177-D0F0-BCA196A874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035405"/>
            <a:ext cx="5456279" cy="2762241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5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26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0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1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2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3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4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5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6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7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8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9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0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1668887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1AA56C-FB41-222A-583F-1C6A60083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EADBD52-1061-8737-DE16-27158A9B3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>
            <a:normAutofit/>
          </a:bodyPr>
          <a:lstStyle/>
          <a:p>
            <a:r>
              <a:rPr lang="cs-CZ" sz="3200"/>
              <a:t>9. Dynamické směrování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3719273-F73C-A3A4-1C41-63F288E3E6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2" y="2249487"/>
            <a:ext cx="4459287" cy="396504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Protokoly dynamického směrování</a:t>
            </a:r>
            <a:r>
              <a:rPr kumimoji="0" lang="cs-CZ" altLang="cs-CZ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Routery se automaticky učí nové cesty a sdílí si je mezi sebou.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RIP</a:t>
            </a:r>
            <a:r>
              <a:rPr kumimoji="0" lang="cs-CZ" altLang="cs-CZ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Starší protokol, používá hop </a:t>
            </a:r>
            <a:r>
              <a:rPr kumimoji="0" lang="cs-CZ" altLang="cs-CZ" sz="17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count</a:t>
            </a:r>
            <a:r>
              <a:rPr kumimoji="0" lang="cs-CZ" altLang="cs-CZ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pro výběr cesty, maximálně 15 skoků.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OSPF</a:t>
            </a:r>
            <a:r>
              <a:rPr kumimoji="0" lang="cs-CZ" altLang="cs-CZ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Protokol používaný ve velkých sítích, vybírá nejkratší cestu na základě metrik jako šířka pásma, zpoždění apod.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BGP</a:t>
            </a:r>
            <a:r>
              <a:rPr kumimoji="0" lang="cs-CZ" altLang="cs-CZ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Protokol používaný pro směrování mezi autonomními systémy na internetu, důležitý pro fungování globální sítě. </a:t>
            </a: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53A4D204-C0FD-9C0C-DA3C-82771EAA60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079737"/>
            <a:ext cx="5456279" cy="2673577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6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3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4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5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6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7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28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9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0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1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2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3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4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5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6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7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8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9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0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2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2265033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E141A92-1BBD-1C00-5D45-100412480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643" y="618518"/>
            <a:ext cx="6188402" cy="1478570"/>
          </a:xfrm>
        </p:spPr>
        <p:txBody>
          <a:bodyPr>
            <a:normAutofit/>
          </a:bodyPr>
          <a:lstStyle/>
          <a:p>
            <a:r>
              <a:rPr lang="cs-CZ" dirty="0"/>
              <a:t>OSPF, RIP</a:t>
            </a:r>
          </a:p>
        </p:txBody>
      </p:sp>
      <p:sp>
        <p:nvSpPr>
          <p:cNvPr id="1033" name="Round Diagonal Corner Rectangle 6">
            <a:extLst>
              <a:ext uri="{FF2B5EF4-FFF2-40B4-BE49-F238E27FC236}">
                <a16:creationId xmlns:a16="http://schemas.microsoft.com/office/drawing/2014/main" id="{C169E84F-4748-4D61-A105-357962627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4579" y="808057"/>
            <a:ext cx="3821429" cy="5234394"/>
          </a:xfrm>
          <a:prstGeom prst="round2DiagRect">
            <a:avLst>
              <a:gd name="adj1" fmla="val 11323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Obsah obrázku text, snímek obrazovky, Písmo, diagram&#10;&#10;Popis se vygeneroval automaticky.">
            <a:extLst>
              <a:ext uri="{FF2B5EF4-FFF2-40B4-BE49-F238E27FC236}">
                <a16:creationId xmlns:a16="http://schemas.microsoft.com/office/drawing/2014/main" id="{C3BD9753-C3E3-4042-5306-E48A437FD5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26617" y="1374619"/>
            <a:ext cx="3178638" cy="1732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bsah obrázku text, snímek obrazovky, Písmo, řada/pruh&#10;&#10;Popis se vygeneroval automaticky.">
            <a:extLst>
              <a:ext uri="{FF2B5EF4-FFF2-40B4-BE49-F238E27FC236}">
                <a16:creationId xmlns:a16="http://schemas.microsoft.com/office/drawing/2014/main" id="{23F2F60B-69C4-F360-7CB4-817DAC27FB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26616" y="3805162"/>
            <a:ext cx="3178638" cy="1613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81D64D5-AECD-688E-E3AE-2BEDF579A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6008" y="2249487"/>
            <a:ext cx="7555992" cy="354171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cs-CZ" dirty="0"/>
              <a:t>RIPv2</a:t>
            </a:r>
          </a:p>
          <a:p>
            <a:pPr marL="0" indent="0">
              <a:buNone/>
            </a:pPr>
            <a:r>
              <a:rPr lang="cs-CZ" dirty="0"/>
              <a:t>@		router </a:t>
            </a:r>
            <a:r>
              <a:rPr lang="cs-CZ" dirty="0" err="1"/>
              <a:t>rip</a:t>
            </a:r>
            <a:endParaRPr lang="cs-CZ" dirty="0"/>
          </a:p>
          <a:p>
            <a:pPr marL="0" indent="0">
              <a:buNone/>
            </a:pPr>
            <a:r>
              <a:rPr lang="cs-CZ" dirty="0"/>
              <a:t>@-router 	</a:t>
            </a:r>
            <a:r>
              <a:rPr lang="cs-CZ" dirty="0" err="1"/>
              <a:t>version</a:t>
            </a:r>
            <a:r>
              <a:rPr lang="cs-CZ" dirty="0"/>
              <a:t> 2</a:t>
            </a:r>
            <a:br>
              <a:rPr lang="cs-CZ" dirty="0"/>
            </a:br>
            <a:r>
              <a:rPr lang="cs-CZ" dirty="0"/>
              <a:t>@-router 	network 192.168.1.0</a:t>
            </a:r>
            <a:br>
              <a:rPr lang="cs-CZ" dirty="0"/>
            </a:br>
            <a:r>
              <a:rPr lang="cs-CZ" dirty="0"/>
              <a:t>@router 	network 10.0.0.0</a:t>
            </a:r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cs-CZ" dirty="0"/>
              <a:t>OSPF</a:t>
            </a:r>
            <a:br>
              <a:rPr lang="cs-CZ" dirty="0"/>
            </a:br>
            <a:r>
              <a:rPr lang="cs-CZ" dirty="0"/>
              <a:t>@	router </a:t>
            </a:r>
            <a:r>
              <a:rPr lang="cs-CZ" dirty="0" err="1"/>
              <a:t>ospf</a:t>
            </a:r>
            <a:r>
              <a:rPr lang="cs-CZ" dirty="0"/>
              <a:t> 1</a:t>
            </a:r>
            <a:br>
              <a:rPr lang="cs-CZ" dirty="0"/>
            </a:br>
            <a:r>
              <a:rPr lang="cs-CZ" dirty="0"/>
              <a:t>@-router	</a:t>
            </a:r>
            <a:r>
              <a:rPr lang="cs-CZ" dirty="0" err="1"/>
              <a:t>passive</a:t>
            </a:r>
            <a:r>
              <a:rPr lang="cs-CZ" dirty="0"/>
              <a:t>-interface g0/2</a:t>
            </a:r>
            <a:br>
              <a:rPr lang="cs-CZ" dirty="0"/>
            </a:br>
            <a:r>
              <a:rPr lang="cs-CZ" dirty="0"/>
              <a:t>@-router 	network </a:t>
            </a:r>
            <a:r>
              <a:rPr lang="cs-CZ"/>
              <a:t>192.168.1.0  	 0.0.0.255</a:t>
            </a:r>
            <a:r>
              <a:rPr lang="cs-CZ" dirty="0"/>
              <a:t>		area 0</a:t>
            </a:r>
            <a:br>
              <a:rPr lang="cs-CZ" dirty="0"/>
            </a:br>
            <a:r>
              <a:rPr lang="cs-CZ" dirty="0"/>
              <a:t>@-router	network 10.0.0.0 	 0.255.255.255	area 0</a:t>
            </a:r>
            <a:br>
              <a:rPr lang="cs-CZ" dirty="0"/>
            </a:br>
            <a:r>
              <a:rPr lang="cs-CZ" dirty="0"/>
              <a:t>@-router	default-</a:t>
            </a:r>
            <a:r>
              <a:rPr lang="cs-CZ" dirty="0" err="1"/>
              <a:t>information</a:t>
            </a:r>
            <a:r>
              <a:rPr lang="cs-CZ" dirty="0"/>
              <a:t> </a:t>
            </a:r>
            <a:r>
              <a:rPr lang="cs-CZ" dirty="0" err="1"/>
              <a:t>originate</a:t>
            </a:r>
            <a:r>
              <a:rPr lang="cs-CZ" dirty="0"/>
              <a:t> # static-</a:t>
            </a:r>
            <a:r>
              <a:rPr lang="cs-CZ" dirty="0" err="1"/>
              <a:t>ip</a:t>
            </a:r>
            <a:r>
              <a:rPr lang="cs-CZ" dirty="0"/>
              <a:t> </a:t>
            </a:r>
            <a:r>
              <a:rPr lang="cs-CZ" dirty="0" err="1"/>
              <a:t>route</a:t>
            </a:r>
            <a:r>
              <a:rPr lang="cs-CZ" dirty="0"/>
              <a:t> 0.0.0.0 0.0.0.0 </a:t>
            </a:r>
            <a:r>
              <a:rPr lang="cs-CZ" dirty="0" err="1"/>
              <a:t>next</a:t>
            </a:r>
            <a:r>
              <a:rPr lang="cs-CZ" dirty="0"/>
              <a:t>-hop, </a:t>
            </a:r>
            <a:r>
              <a:rPr lang="cs-CZ" dirty="0" err="1"/>
              <a:t>ip</a:t>
            </a:r>
            <a:r>
              <a:rPr lang="cs-CZ" dirty="0"/>
              <a:t> default-network</a:t>
            </a:r>
          </a:p>
        </p:txBody>
      </p:sp>
    </p:spTree>
    <p:extLst>
      <p:ext uri="{BB962C8B-B14F-4D97-AF65-F5344CB8AC3E}">
        <p14:creationId xmlns:p14="http://schemas.microsoft.com/office/powerpoint/2010/main" val="1248067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BFCDB4-0E92-DD17-0BCE-2F2FD152E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E394DFBA-9542-89B2-6A5B-8E96B3FDF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>
            <a:normAutofit/>
          </a:bodyPr>
          <a:lstStyle/>
          <a:p>
            <a:r>
              <a:rPr lang="cs-CZ" sz="3200"/>
              <a:t>10. Směrování mezi VLANami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3D2C7FB-2150-11F1-D484-C8A9CC6FDA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2" y="2249487"/>
            <a:ext cx="4459287" cy="396504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VLAN</a:t>
            </a:r>
            <a:r>
              <a:rPr kumimoji="0" lang="cs-CZ" altLang="cs-CZ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Virtuální LAN, která rozděluje síť na menší logické části pro zvýšení efektivity a bezpečnosti.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Router-on-a-</a:t>
            </a:r>
            <a:r>
              <a:rPr kumimoji="0" lang="cs-CZ" altLang="cs-CZ" sz="20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stick</a:t>
            </a:r>
            <a:r>
              <a:rPr kumimoji="0" lang="cs-CZ" altLang="cs-CZ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Router s jedním fyzickým rozhraním, který obsluhuje více VLAN pomocí </a:t>
            </a:r>
            <a:r>
              <a:rPr kumimoji="0" lang="cs-CZ" altLang="cs-CZ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trunkingového</a:t>
            </a:r>
            <a:r>
              <a:rPr kumimoji="0" lang="cs-CZ" altLang="cs-CZ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protokolu.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20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Multilayer</a:t>
            </a:r>
            <a:r>
              <a:rPr kumimoji="0" lang="cs-CZ" altLang="cs-CZ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switch</a:t>
            </a:r>
            <a:r>
              <a:rPr kumimoji="0" lang="cs-CZ" altLang="cs-CZ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Zařízení, které umí fungovat jako switch i router a zajišťuje směrování mezi </a:t>
            </a:r>
            <a:r>
              <a:rPr kumimoji="0" lang="cs-CZ" altLang="cs-CZ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VLANami</a:t>
            </a:r>
            <a:r>
              <a:rPr kumimoji="0" lang="cs-CZ" altLang="cs-CZ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na hardwarové úrovni. 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2EA74258-346B-C708-F6FA-6D4DFF7169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534109"/>
            <a:ext cx="5456279" cy="3764832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6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3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4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5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6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7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28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9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0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1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2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3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4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5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6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7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8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9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0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2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3061114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4E282B-7083-14B4-A92E-13FD34EE4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BABD0FEF-CB3D-7F9F-1E74-A4D209FFD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>
            <a:normAutofit/>
          </a:bodyPr>
          <a:lstStyle/>
          <a:p>
            <a:r>
              <a:rPr lang="en-US" sz="3200"/>
              <a:t>11. Protokoly transportní vrstvy (Layer 4)</a:t>
            </a:r>
            <a:endParaRPr lang="cs-CZ" sz="320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71E3707-3A9C-17D6-1054-16C16C9EC7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2" y="2249487"/>
            <a:ext cx="4459287" cy="396504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cs-CZ" sz="1800" dirty="0"/>
              <a:t>transportní protokol UDP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lang="cs-CZ" sz="1100" dirty="0"/>
              <a:t> nespojovaný a nespolehlivý – stejně jako protokol IP 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lang="cs-CZ" sz="1100" dirty="0"/>
              <a:t>velmi jednoduchý protokol – stejně jako protokol IP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lang="cs-CZ" sz="1100" dirty="0"/>
              <a:t>funguje stylem </a:t>
            </a:r>
            <a:r>
              <a:rPr lang="cs-CZ" sz="1100" dirty="0" err="1"/>
              <a:t>best</a:t>
            </a:r>
            <a:r>
              <a:rPr lang="cs-CZ" sz="1100" dirty="0"/>
              <a:t> </a:t>
            </a:r>
            <a:r>
              <a:rPr lang="cs-CZ" sz="1100" dirty="0" err="1"/>
              <a:t>effort</a:t>
            </a:r>
            <a:r>
              <a:rPr lang="cs-CZ" sz="1100" dirty="0"/>
              <a:t>, bez </a:t>
            </a:r>
            <a:r>
              <a:rPr lang="cs-CZ" sz="1100" dirty="0" err="1"/>
              <a:t>QoS</a:t>
            </a:r>
            <a:r>
              <a:rPr lang="cs-CZ" sz="1100" dirty="0"/>
              <a:t> – stejně jako protokol IP 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lang="cs-CZ" sz="1100" dirty="0"/>
              <a:t>nezajišťuje řízení toku ani nepředchází zahlcení – stejně jako protokol IP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lang="cs-CZ" sz="1100" dirty="0"/>
              <a:t> přenáší data po blocích (datagramech) – stejně jako protokol IP UDP b) 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cs-CZ" sz="1800" dirty="0"/>
              <a:t>transportní protokol TCP 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lang="cs-CZ" sz="1100" dirty="0"/>
              <a:t> spojovaný a spolehlivý– na rozdíl od protokolu IP 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lang="cs-CZ" sz="1100" dirty="0"/>
              <a:t> velmi složitý a komplexní protokol – na rozdíl od protokolu IP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lang="cs-CZ" sz="1100" dirty="0"/>
              <a:t> funguje stylem </a:t>
            </a:r>
            <a:r>
              <a:rPr lang="cs-CZ" sz="1100" dirty="0" err="1"/>
              <a:t>best</a:t>
            </a:r>
            <a:r>
              <a:rPr lang="cs-CZ" sz="1100" dirty="0"/>
              <a:t> </a:t>
            </a:r>
            <a:r>
              <a:rPr lang="cs-CZ" sz="1100" dirty="0" err="1"/>
              <a:t>effort</a:t>
            </a:r>
            <a:r>
              <a:rPr lang="cs-CZ" sz="1100" dirty="0"/>
              <a:t>, bez </a:t>
            </a:r>
            <a:r>
              <a:rPr lang="cs-CZ" sz="1100" dirty="0" err="1"/>
              <a:t>QoS</a:t>
            </a:r>
            <a:r>
              <a:rPr lang="cs-CZ" sz="1100" dirty="0"/>
              <a:t> – stejně jako protokol IP 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lang="cs-CZ" sz="1100" dirty="0"/>
              <a:t> zajišťuje řízení toku a předchází zahlcení – na rozdíl od protokolu IP 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lang="cs-CZ" sz="1100" dirty="0"/>
              <a:t> přenáší data jako proud bytů (stream) – na rozdíl od protokolu IP </a:t>
            </a:r>
            <a:endParaRPr kumimoji="0" lang="cs-CZ" altLang="cs-CZ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48AD8DF9-BDF3-7D04-6DA8-245381A3FC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124249"/>
            <a:ext cx="5456279" cy="2584552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6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3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4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5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6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7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28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9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0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1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2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3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4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5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6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7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8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9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0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2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434470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229E57D-876D-8392-6864-F99DFB9D0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5894387" cy="1478570"/>
          </a:xfrm>
        </p:spPr>
        <p:txBody>
          <a:bodyPr anchor="b">
            <a:normAutofit/>
          </a:bodyPr>
          <a:lstStyle/>
          <a:p>
            <a:r>
              <a:rPr lang="cs-CZ" dirty="0"/>
              <a:t>12. Porty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A546983-FD61-19C0-9359-392F3A1E0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5894388" cy="354171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cs-CZ" sz="1500" dirty="0"/>
              <a:t>porty jsou číslovány (adresovány pomocí čísel) – jde o čísla v rozsahu 16 bitů: s hodnotami od 0 do 65 535 </a:t>
            </a:r>
          </a:p>
          <a:p>
            <a:pPr>
              <a:lnSpc>
                <a:spcPct val="110000"/>
              </a:lnSpc>
            </a:pPr>
            <a:r>
              <a:rPr lang="cs-CZ" sz="1500" dirty="0"/>
              <a:t>• číslo portu představuje transportní adresu (adresu na transportní vrstvě) – tato adresa je relativní  - je vztažená (relativně) jen k danému uzlu – absolutní adresu  představuje až dvojice &lt;síťová adresa&gt;:&lt;transportní adresa&gt;  </a:t>
            </a:r>
          </a:p>
          <a:p>
            <a:pPr>
              <a:lnSpc>
                <a:spcPct val="110000"/>
              </a:lnSpc>
            </a:pPr>
            <a:r>
              <a:rPr lang="cs-CZ" sz="1500" dirty="0"/>
              <a:t>• princip identifikace (aplikačního) spojení – odesilatel odesílá svá data „z konkrétního portu na konkrétním uzlu“ </a:t>
            </a:r>
          </a:p>
          <a:p>
            <a:pPr>
              <a:lnSpc>
                <a:spcPct val="110000"/>
              </a:lnSpc>
            </a:pPr>
            <a:r>
              <a:rPr lang="cs-CZ" sz="1500" dirty="0"/>
              <a:t>• z uzlu se síťovou adresou IP1, z portu P1 – odesilatel posílá svá data „na konkrétní port na konkrét. uzlu“ </a:t>
            </a:r>
          </a:p>
          <a:p>
            <a:pPr>
              <a:lnSpc>
                <a:spcPct val="110000"/>
              </a:lnSpc>
            </a:pPr>
            <a:r>
              <a:rPr lang="cs-CZ" sz="1500" dirty="0"/>
              <a:t>• adresuje je dvojici IP2:P2   (například: 195.113.20.128 : 80) </a:t>
            </a:r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51AE6F93-8C32-9E6C-BD50-A23763E427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57" r="1" b="1"/>
          <a:stretch/>
        </p:blipFill>
        <p:spPr>
          <a:xfrm>
            <a:off x="7619998" y="780235"/>
            <a:ext cx="3425199" cy="4840332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19800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F4ECA2A-4554-3874-81F9-E53F9E1F7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Zdroj: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58D00F4-DC3B-342A-BBF5-840F68ECD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cs-CZ" dirty="0"/>
              <a:t>0100 IPv4 CIDR VLMS</a:t>
            </a:r>
          </a:p>
          <a:p>
            <a:r>
              <a:rPr lang="en-US" dirty="0"/>
              <a:t>0110 IPv6 LLA Neighbor DHCPv6</a:t>
            </a:r>
            <a:endParaRPr lang="cs-CZ" dirty="0"/>
          </a:p>
          <a:p>
            <a:r>
              <a:rPr lang="en-US" dirty="0"/>
              <a:t>0120 STATIC a VLAN routing</a:t>
            </a:r>
            <a:endParaRPr lang="cs-CZ" dirty="0"/>
          </a:p>
          <a:p>
            <a:r>
              <a:rPr lang="cs-CZ" dirty="0"/>
              <a:t>0130 STATIC IPv6 </a:t>
            </a:r>
            <a:r>
              <a:rPr lang="cs-CZ" dirty="0" err="1"/>
              <a:t>routování</a:t>
            </a:r>
            <a:endParaRPr lang="cs-CZ" dirty="0"/>
          </a:p>
          <a:p>
            <a:r>
              <a:rPr lang="cs-CZ" dirty="0"/>
              <a:t>0150 DYNAMIC </a:t>
            </a:r>
            <a:r>
              <a:rPr lang="cs-CZ" dirty="0" err="1"/>
              <a:t>routování</a:t>
            </a:r>
            <a:endParaRPr lang="cs-CZ" dirty="0"/>
          </a:p>
          <a:p>
            <a:r>
              <a:rPr lang="cs-CZ" dirty="0"/>
              <a:t>8 PCS síťová vrstva a směrování</a:t>
            </a:r>
          </a:p>
          <a:p>
            <a:r>
              <a:rPr lang="cs-CZ" dirty="0"/>
              <a:t>B2 PCS </a:t>
            </a:r>
            <a:r>
              <a:rPr lang="cs-CZ" dirty="0" err="1"/>
              <a:t>internetworking</a:t>
            </a:r>
            <a:r>
              <a:rPr lang="cs-CZ" dirty="0"/>
              <a:t> II</a:t>
            </a:r>
          </a:p>
          <a:p>
            <a:r>
              <a:rPr lang="cs-CZ" dirty="0"/>
              <a:t>9 PCS transportní vrstva</a:t>
            </a:r>
          </a:p>
        </p:txBody>
      </p:sp>
    </p:spTree>
    <p:extLst>
      <p:ext uri="{BB962C8B-B14F-4D97-AF65-F5344CB8AC3E}">
        <p14:creationId xmlns:p14="http://schemas.microsoft.com/office/powerpoint/2010/main" val="16447945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bvod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TM04033919[[fn=Obvod]]</Template>
  <TotalTime>91</TotalTime>
  <Words>1250</Words>
  <Application>Microsoft Office PowerPoint</Application>
  <PresentationFormat>Širokoúhlá obrazovka</PresentationFormat>
  <Paragraphs>109</Paragraphs>
  <Slides>15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15</vt:i4>
      </vt:variant>
    </vt:vector>
  </HeadingPairs>
  <TitlesOfParts>
    <vt:vector size="18" baseType="lpstr">
      <vt:lpstr>Arial</vt:lpstr>
      <vt:lpstr>Tw Cen MT</vt:lpstr>
      <vt:lpstr>Obvod</vt:lpstr>
      <vt:lpstr>12. Internetworking</vt:lpstr>
      <vt:lpstr>1. Internetworking - Význam a důvod</vt:lpstr>
      <vt:lpstr>2. Síťový hardware zajišťující funkcionalitu</vt:lpstr>
      <vt:lpstr>3. Základní popis IP packetu</vt:lpstr>
      <vt:lpstr>4. Adresace na L3 vrstvě (IPv4 a IPv6)</vt:lpstr>
      <vt:lpstr>5. IPv4 - Adresace a Privátní rozsahy</vt:lpstr>
      <vt:lpstr>6. IPv6 - Adresace</vt:lpstr>
      <vt:lpstr>7. Směrování - Základní pojmy</vt:lpstr>
      <vt:lpstr>8. Statické směrování</vt:lpstr>
      <vt:lpstr>9. Dynamické směrování</vt:lpstr>
      <vt:lpstr>OSPF, RIP</vt:lpstr>
      <vt:lpstr>10. Směrování mezi VLANami</vt:lpstr>
      <vt:lpstr>11. Protokoly transportní vrstvy (Layer 4)</vt:lpstr>
      <vt:lpstr>12. Porty</vt:lpstr>
      <vt:lpstr>Zdroj: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Ondřej Němčík</dc:creator>
  <cp:lastModifiedBy>Ondřej Němčík</cp:lastModifiedBy>
  <cp:revision>2</cp:revision>
  <dcterms:created xsi:type="dcterms:W3CDTF">2024-10-14T13:42:37Z</dcterms:created>
  <dcterms:modified xsi:type="dcterms:W3CDTF">2024-10-26T18:36:12Z</dcterms:modified>
</cp:coreProperties>
</file>