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0"/>
  </p:notesMasterIdLst>
  <p:handoutMasterIdLst>
    <p:handoutMasterId r:id="rId21"/>
  </p:handoutMasterIdLst>
  <p:sldIdLst>
    <p:sldId id="257" r:id="rId5"/>
    <p:sldId id="268" r:id="rId6"/>
    <p:sldId id="267" r:id="rId7"/>
    <p:sldId id="272" r:id="rId8"/>
    <p:sldId id="269" r:id="rId9"/>
    <p:sldId id="281" r:id="rId10"/>
    <p:sldId id="270" r:id="rId11"/>
    <p:sldId id="261" r:id="rId12"/>
    <p:sldId id="262" r:id="rId13"/>
    <p:sldId id="274" r:id="rId14"/>
    <p:sldId id="275" r:id="rId15"/>
    <p:sldId id="276" r:id="rId16"/>
    <p:sldId id="277" r:id="rId17"/>
    <p:sldId id="279" r:id="rId18"/>
    <p:sldId id="280" r:id="rId19"/>
  </p:sldIdLst>
  <p:sldSz cx="12188825" cy="6858000"/>
  <p:notesSz cx="6858000" cy="9144000"/>
  <p:defaultTextStyle>
    <a:defPPr rtl="0">
      <a:defRPr lang="cs-cz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DF8E90-38E2-EE00-D8C4-7FE0596CCDC5}" v="2" dt="2024-11-19T09:07:20.9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39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ojtěch Šíma" userId="S::it2126@sspu-opava.cz::6bbd2c04-2c9a-4cb1-9647-d07cf75585d8" providerId="AD" clId="Web-{69DF8E90-38E2-EE00-D8C4-7FE0596CCDC5}"/>
    <pc:docChg chg="addSld delSld">
      <pc:chgData name="Vojtěch Šíma" userId="S::it2126@sspu-opava.cz::6bbd2c04-2c9a-4cb1-9647-d07cf75585d8" providerId="AD" clId="Web-{69DF8E90-38E2-EE00-D8C4-7FE0596CCDC5}" dt="2024-11-19T09:07:20.905" v="1"/>
      <pc:docMkLst>
        <pc:docMk/>
      </pc:docMkLst>
      <pc:sldChg chg="new del">
        <pc:chgData name="Vojtěch Šíma" userId="S::it2126@sspu-opava.cz::6bbd2c04-2c9a-4cb1-9647-d07cf75585d8" providerId="AD" clId="Web-{69DF8E90-38E2-EE00-D8C4-7FE0596CCDC5}" dt="2024-11-19T09:07:20.905" v="1"/>
        <pc:sldMkLst>
          <pc:docMk/>
          <pc:sldMk cId="442896684" sldId="28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D92DAF1D-8F38-49AC-B404-1337A10650DD}" type="datetime1">
              <a:rPr lang="cs-CZ" smtClean="0"/>
              <a:t>19.11.2024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79429053-DC2A-4342-ADD4-2FD729D91E2C}" type="slidenum">
              <a:rPr lang="cs-CZ" smtClean="0"/>
              <a:pPr algn="r" rtl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2084BE0D-C9E9-4F18-B817-2DBEF890598A}" type="datetime1">
              <a:rPr lang="cs-CZ" smtClean="0"/>
              <a:pPr/>
              <a:t>19.11.2024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Kliknutím lze upravit styly předlohy textu.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/>
            <a:fld id="{3EBA5BD7-F043-4D1B-AA17-CD412FC534DE}" type="slidenum">
              <a:rPr lang="cs-CZ" smtClean="0"/>
              <a:pPr algn="r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cs-CZ" smtClean="0"/>
              <a:pPr algn="r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52411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cs-CZ" smtClean="0"/>
              <a:pPr algn="r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132791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cs-CZ" smtClean="0"/>
              <a:pPr algn="r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737401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cs-CZ" smtClean="0"/>
              <a:pPr algn="r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948113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obrázku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algn="r" rtl="0"/>
            <a:fld id="{3EBA5BD7-F043-4D1B-AA17-CD412FC534DE}" type="slidenum">
              <a:rPr lang="cs-CZ" smtClean="0"/>
              <a:pPr algn="r" rtl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78821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obrázku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algn="r" rtl="0"/>
            <a:fld id="{3EBA5BD7-F043-4D1B-AA17-CD412FC534DE}" type="slidenum">
              <a:rPr lang="cs-CZ" smtClean="0"/>
              <a:pPr algn="r" rtl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172290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cs-CZ" smtClean="0"/>
              <a:pPr algn="r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014529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cs-CZ" smtClean="0"/>
              <a:pPr algn="r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153682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D505A-52B3-72D7-24B4-3BE258769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obrázku snímku 1">
            <a:extLst>
              <a:ext uri="{FF2B5EF4-FFF2-40B4-BE49-F238E27FC236}">
                <a16:creationId xmlns:a16="http://schemas.microsoft.com/office/drawing/2014/main" id="{68BD1E3B-8DE3-776D-0355-BB042886A0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294B9871-DFD0-BB9B-56DA-A14BB1F698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F602CB9-F8F5-01C4-D921-5202323133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algn="r" rtl="0"/>
            <a:fld id="{3EBA5BD7-F043-4D1B-AA17-CD412FC534DE}" type="slidenum">
              <a:rPr lang="cs-CZ" smtClean="0"/>
              <a:pPr algn="r" rtl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407347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55BE7-00DB-4017-1EF2-92EAE280D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obrázku snímku 1">
            <a:extLst>
              <a:ext uri="{FF2B5EF4-FFF2-40B4-BE49-F238E27FC236}">
                <a16:creationId xmlns:a16="http://schemas.microsoft.com/office/drawing/2014/main" id="{F93C85B1-5B65-69CA-A5C7-F8FBB0B311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0C5C1F11-E6B8-DA87-4D3E-1D0A025B1F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4FD858F-895B-DB8F-0F7F-D29D26AA20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algn="r" rtl="0"/>
            <a:fld id="{3EBA5BD7-F043-4D1B-AA17-CD412FC534DE}" type="slidenum">
              <a:rPr lang="cs-CZ" smtClean="0"/>
              <a:pPr algn="r" rtl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28994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úhlopříčky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Přímá spojnice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Přímá spojnice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Přímá spojnice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řádky dole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Volný tvar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cs-CZ"/>
            </a:p>
          </p:txBody>
        </p:sp>
        <p:sp>
          <p:nvSpPr>
            <p:cNvPr id="10" name="Volný tvar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cs-CZ"/>
            </a:p>
          </p:txBody>
        </p:sp>
        <p:sp>
          <p:nvSpPr>
            <p:cNvPr id="11" name="Volný tvar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cs-CZ"/>
            </a:p>
          </p:txBody>
        </p:sp>
      </p:grp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 rtlCol="0">
            <a:normAutofit/>
          </a:bodyPr>
          <a:lstStyle>
            <a:lvl1pPr algn="l" rtl="0">
              <a:defRPr sz="5400"/>
            </a:lvl1pPr>
          </a:lstStyle>
          <a:p>
            <a:pPr rtl="0"/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1625176" y="2616200"/>
            <a:ext cx="8735325" cy="17526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</a:p>
        </p:txBody>
      </p:sp>
      <p:sp>
        <p:nvSpPr>
          <p:cNvPr id="22" name="Zástupný symbol pro datum 2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33624B7-88E2-4120-AFAD-14AFCE9AD940}" type="datetime1">
              <a:rPr lang="cs-CZ" smtClean="0"/>
              <a:pPr/>
              <a:t>19.11.2024</a:t>
            </a:fld>
            <a:endParaRPr lang="cs-CZ"/>
          </a:p>
        </p:txBody>
      </p:sp>
      <p:sp>
        <p:nvSpPr>
          <p:cNvPr id="23" name="Zástupný symbol pro zápatí 2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/>
          </a:p>
        </p:txBody>
      </p:sp>
      <p:sp>
        <p:nvSpPr>
          <p:cNvPr id="24" name="Zástupný symbol pro číslo snímku 2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cs-CZ"/>
              <a:t>Upravit styly předlohy textu.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ABC4919-B29C-4171-8AC2-52CB8E2BF1DE}" type="datetime1">
              <a:rPr lang="cs-CZ" smtClean="0"/>
              <a:pPr/>
              <a:t>19.11.2024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úhlopříčky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Přímá spojnice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Přímá spojnice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Přímá spojnice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rtlCol="0" anchor="b">
            <a:normAutofit/>
          </a:bodyPr>
          <a:lstStyle>
            <a:lvl1pPr algn="l" rtl="0">
              <a:defRPr sz="5400" b="0" cap="none" baseline="0"/>
            </a:lvl1pPr>
          </a:lstStyle>
          <a:p>
            <a:pPr rtl="0"/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1625176" y="4951266"/>
            <a:ext cx="7069519" cy="1220933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l" rtl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cs-CZ"/>
              <a:t>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F32E52D-1DC2-4D1F-BE8C-CB8F7D7727B2}" type="datetime1">
              <a:rPr lang="cs-CZ" smtClean="0"/>
              <a:pPr/>
              <a:t>19.11.2024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ě obsahové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1218883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cs-CZ"/>
              <a:t>Upravit styly předlohy textu.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6500707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/>
            </a:lvl8pPr>
            <a:lvl9pPr algn="l" rtl="0">
              <a:defRPr sz="2000"/>
            </a:lvl9pPr>
          </a:lstStyle>
          <a:p>
            <a:pPr lvl="0" rtl="0"/>
            <a:r>
              <a:rPr lang="cs-CZ"/>
              <a:t>Upravit styly předlohy textu.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2038EBEA-6151-4C48-8157-C296FC19C9C6}" type="datetime1">
              <a:rPr lang="cs-CZ" smtClean="0"/>
              <a:pPr/>
              <a:t>19.11.2024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1218883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cs-CZ"/>
              <a:t>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1218883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cs-CZ"/>
              <a:t>Upravit styly předlohy textu.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 hasCustomPrompt="1"/>
          </p:nvPr>
        </p:nvSpPr>
        <p:spPr>
          <a:xfrm>
            <a:off x="6496644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cs-CZ"/>
              <a:t>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 hasCustomPrompt="1"/>
          </p:nvPr>
        </p:nvSpPr>
        <p:spPr>
          <a:xfrm>
            <a:off x="6500707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 baseline="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cs-CZ"/>
              <a:t>Upravit styly předlohy textu.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DEF4067-9867-44E1-8104-A47AAADDD6D7}" type="datetime1">
              <a:rPr lang="cs-CZ" smtClean="0"/>
              <a:pPr/>
              <a:t>19.11.2024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8A307B0-F685-4A84-9D3C-1A601E3FC0A5}" type="datetime1">
              <a:rPr lang="cs-CZ" smtClean="0"/>
              <a:pPr/>
              <a:t>19.11.2024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847830E-D3ED-4862-A3DA-519F54D317D1}" type="datetime1">
              <a:rPr lang="cs-CZ" smtClean="0"/>
              <a:pPr/>
              <a:t>19.11.2024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 hasCustomPrompt="1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cs-CZ"/>
              <a:t>Upravit styly předlohy textu.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5484971" y="584200"/>
            <a:ext cx="6094413" cy="558800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cs-CZ"/>
              <a:t>Upravit styly předlohy textu.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69FC2B6D-D6B4-4A07-B229-6B7F217D9BA3}" type="datetime1">
              <a:rPr lang="cs-CZ" smtClean="0"/>
              <a:pPr/>
              <a:t>19.11.2024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 hasCustomPrompt="1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cs-CZ"/>
              <a:t>Upravit styly předlohy textu.</a:t>
            </a:r>
          </a:p>
        </p:txBody>
      </p:sp>
      <p:sp>
        <p:nvSpPr>
          <p:cNvPr id="3" name="Zástupný symbol obrázku 2" descr="Prázdný zástupný symbol pro přidání obrázku Klikněte na zástupný symbol a vyberte obrázek, který chcete přidat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 algn="l" rtl="0">
              <a:buNone/>
              <a:defRPr sz="2800"/>
            </a:lvl1pPr>
            <a:lvl2pPr marL="609493" indent="0" algn="l" rtl="0">
              <a:buNone/>
              <a:defRPr sz="3700"/>
            </a:lvl2pPr>
            <a:lvl3pPr marL="1218987" indent="0" algn="l" rtl="0">
              <a:buNone/>
              <a:defRPr sz="3200"/>
            </a:lvl3pPr>
            <a:lvl4pPr marL="1828480" indent="0" algn="l" rtl="0">
              <a:buNone/>
              <a:defRPr sz="2700"/>
            </a:lvl4pPr>
            <a:lvl5pPr marL="2437973" indent="0" algn="l" rtl="0">
              <a:buNone/>
              <a:defRPr sz="2700"/>
            </a:lvl5pPr>
            <a:lvl6pPr marL="3047467" indent="0" algn="l" rtl="0">
              <a:buNone/>
              <a:defRPr sz="2700"/>
            </a:lvl6pPr>
            <a:lvl7pPr marL="3656960" indent="0" algn="l" rtl="0">
              <a:buNone/>
              <a:defRPr sz="2700"/>
            </a:lvl7pPr>
            <a:lvl8pPr marL="4266453" indent="0" algn="l" rtl="0">
              <a:buNone/>
              <a:defRPr sz="2700"/>
            </a:lvl8pPr>
            <a:lvl9pPr marL="4875947" indent="0" algn="l" rtl="0">
              <a:buNone/>
              <a:defRPr sz="2700"/>
            </a:lvl9pPr>
          </a:lstStyle>
          <a:p>
            <a:pPr rtl="0"/>
            <a:r>
              <a:rPr lang="cs-CZ"/>
              <a:t>Kliknutím na ikonu přidáte obrázek.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426D6B7-6AAE-4978-AF22-38FE2E59CEB2}" type="datetime1">
              <a:rPr lang="cs-CZ" smtClean="0"/>
              <a:pPr/>
              <a:t>19.11.2024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 baseline="0"/>
            </a:lvl8pPr>
            <a:lvl9pPr algn="l" rtl="0">
              <a:defRPr baseline="0"/>
            </a:lvl9pPr>
          </a:lstStyle>
          <a:p>
            <a:pPr lvl="0" rtl="0"/>
            <a:r>
              <a:rPr lang="cs-CZ"/>
              <a:t>Upravit styly předlohy textu.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BBA07F0-6680-4943-BD7A-CAE075672D6F}" type="datetime1">
              <a:rPr lang="cs-CZ" smtClean="0"/>
              <a:pPr/>
              <a:t>19.11.2024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 rtlCol="0"/>
          <a:lstStyle>
            <a:lvl1pPr rtl="0">
              <a:defRPr/>
            </a:lvl1pPr>
          </a:lstStyle>
          <a:p>
            <a:pPr rtl="0"/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 hasCustomPrompt="1"/>
          </p:nvPr>
        </p:nvSpPr>
        <p:spPr>
          <a:xfrm>
            <a:off x="1218882" y="584200"/>
            <a:ext cx="7414869" cy="5588000"/>
          </a:xfrm>
        </p:spPr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cs-CZ"/>
              <a:t>Upravit styly předlohy textu.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ABB6AFB-FD75-4ED4-B0A1-06DAC4B142EF}" type="datetime1">
              <a:rPr lang="cs-CZ" smtClean="0"/>
              <a:pPr/>
              <a:t>19.11.2024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řádky vlevo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Volný tvar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cs-CZ"/>
            </a:p>
          </p:txBody>
        </p:sp>
        <p:sp>
          <p:nvSpPr>
            <p:cNvPr id="11" name="Volný tvar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cs-CZ"/>
            </a:p>
          </p:txBody>
        </p:sp>
        <p:sp>
          <p:nvSpPr>
            <p:cNvPr id="14" name="Volný tvar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cs-CZ"/>
            </a:p>
          </p:txBody>
        </p:sp>
      </p:grpSp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cs-CZ"/>
              <a:t>Upravit styly předlohy textu.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0E752B-6572-436C-91E9-2D00E8BF5CDF}" type="datetime1">
              <a:rPr lang="cs-CZ" smtClean="0"/>
              <a:pPr/>
              <a:t>19.11.2024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zive.cz/clanky/historie-operacnich-systemu-vecna-brzda-hardwaru/sc-3-a-147538/default.aspx" TargetMode="External"/><Relationship Id="rId2" Type="http://schemas.openxmlformats.org/officeDocument/2006/relationships/hyperlink" Target="https://cs.wikipedia.org/wiki/Opera%C4%8Dn%C3%AD_syst%C3%A9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geeksforgeeks.org/introduction-of-operating-system-set-1/" TargetMode="External"/><Relationship Id="rId4" Type="http://schemas.openxmlformats.org/officeDocument/2006/relationships/hyperlink" Target="https://etechblog.cz/operacni-systemy-funkce-a-typy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cs-CZ"/>
              <a:t>Operační systémy</a:t>
            </a:r>
          </a:p>
        </p:txBody>
      </p:sp>
      <p:sp>
        <p:nvSpPr>
          <p:cNvPr id="5" name="Podnadpis 4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cs-CZ"/>
              <a:t>Vytvořil: FILIP </a:t>
            </a:r>
            <a:r>
              <a:rPr lang="cs-CZ" err="1"/>
              <a:t>řÍČNÝ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Nadpis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cs-CZ"/>
              <a:t>Co jsou to operační systémy</a:t>
            </a:r>
          </a:p>
        </p:txBody>
      </p:sp>
      <p:sp>
        <p:nvSpPr>
          <p:cNvPr id="14" name="Zástupný symbol pro obsah 13"/>
          <p:cNvSpPr>
            <a:spLocks noGrp="1"/>
          </p:cNvSpPr>
          <p:nvPr>
            <p:ph idx="1"/>
          </p:nvPr>
        </p:nvSpPr>
        <p:spPr/>
        <p:txBody>
          <a:bodyPr vert="horz" lIns="121899" tIns="60949" rIns="121899" bIns="60949" rtlCol="0" anchor="t">
            <a:normAutofit/>
          </a:bodyPr>
          <a:lstStyle/>
          <a:p>
            <a:pPr marL="304165" indent="-304165" rtl="0"/>
            <a:r>
              <a:rPr lang="cs-CZ"/>
              <a:t>Základní software, který </a:t>
            </a:r>
            <a:r>
              <a:rPr lang="cs-CZ">
                <a:solidFill>
                  <a:srgbClr val="FF0000"/>
                </a:solidFill>
              </a:rPr>
              <a:t>spravuje hardware počítače</a:t>
            </a:r>
            <a:r>
              <a:rPr lang="cs-CZ"/>
              <a:t>, </a:t>
            </a:r>
            <a:r>
              <a:rPr lang="cs-CZ">
                <a:solidFill>
                  <a:srgbClr val="FF0000"/>
                </a:solidFill>
              </a:rPr>
              <a:t>poskytuje služby pro aplikace</a:t>
            </a:r>
            <a:r>
              <a:rPr lang="cs-CZ"/>
              <a:t> a </a:t>
            </a:r>
            <a:r>
              <a:rPr lang="cs-CZ">
                <a:solidFill>
                  <a:srgbClr val="FF0000"/>
                </a:solidFill>
              </a:rPr>
              <a:t>umožňuje interakci mezi uživatelem a počítačem</a:t>
            </a:r>
            <a:endParaRPr lang="en-US">
              <a:solidFill>
                <a:srgbClr val="FF0000"/>
              </a:solidFill>
              <a:cs typeface="Calibri"/>
            </a:endParaRPr>
          </a:p>
          <a:p>
            <a:pPr marL="304165" indent="-304165" rtl="0"/>
            <a:r>
              <a:rPr lang="cs-CZ" b="1"/>
              <a:t>Funkce OS</a:t>
            </a:r>
            <a:r>
              <a:rPr lang="cs-CZ"/>
              <a:t>: Zajišťuje správu paměti, procesů, souborů, a vstupně/výstupních operací.</a:t>
            </a:r>
            <a:endParaRPr lang="cs-CZ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</p:spPr>
        <p:txBody>
          <a:bodyPr rtlCol="0" anchor="b">
            <a:normAutofit/>
          </a:bodyPr>
          <a:lstStyle/>
          <a:p>
            <a:r>
              <a:rPr lang="cs-CZ"/>
              <a:t>Historie operačních systémů (1940-1990)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9F57271-2FC1-7249-8E85-8B87B8630F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8883" y="1716471"/>
            <a:ext cx="6603479" cy="4858576"/>
          </a:xfrm>
        </p:spPr>
        <p:txBody>
          <a:bodyPr vert="horz" lIns="121899" tIns="60949" rIns="121899" bIns="60949" rtlCol="0" anchor="t">
            <a:normAutofit fontScale="92500"/>
          </a:bodyPr>
          <a:lstStyle/>
          <a:p>
            <a:pPr marL="304165" indent="-304165"/>
            <a:r>
              <a:rPr lang="cs-CZ" sz="1800" b="1">
                <a:ea typeface="+mn-lt"/>
                <a:cs typeface="+mn-lt"/>
              </a:rPr>
              <a:t>1. Počátky (1940–1950)</a:t>
            </a:r>
            <a:r>
              <a:rPr lang="cs-CZ" sz="1800">
                <a:ea typeface="+mn-lt"/>
                <a:cs typeface="+mn-lt"/>
              </a:rPr>
              <a:t>: První operační systémy vznikaly </a:t>
            </a:r>
            <a:r>
              <a:rPr lang="cs-CZ" sz="1800">
                <a:solidFill>
                  <a:srgbClr val="FF0000"/>
                </a:solidFill>
                <a:ea typeface="+mn-lt"/>
                <a:cs typeface="+mn-lt"/>
              </a:rPr>
              <a:t>pro sálové počítače</a:t>
            </a:r>
            <a:r>
              <a:rPr lang="cs-CZ" sz="1800">
                <a:ea typeface="+mn-lt"/>
                <a:cs typeface="+mn-lt"/>
              </a:rPr>
              <a:t> a sloužily k dávkovému zpracování úloh. Tyto systémy umožnily </a:t>
            </a:r>
            <a:r>
              <a:rPr lang="cs-CZ" sz="1800">
                <a:solidFill>
                  <a:srgbClr val="FF0000"/>
                </a:solidFill>
                <a:ea typeface="+mn-lt"/>
                <a:cs typeface="+mn-lt"/>
              </a:rPr>
              <a:t>plánování úloh a správu hardwarových zdrojů,</a:t>
            </a:r>
            <a:r>
              <a:rPr lang="cs-CZ" sz="1800">
                <a:ea typeface="+mn-lt"/>
                <a:cs typeface="+mn-lt"/>
              </a:rPr>
              <a:t> což vedlo k efektivnějšímu využití procesorů.</a:t>
            </a:r>
            <a:endParaRPr lang="en-US">
              <a:ea typeface="+mn-lt"/>
              <a:cs typeface="+mn-lt"/>
            </a:endParaRPr>
          </a:p>
          <a:p>
            <a:pPr marL="304165" indent="-304165"/>
            <a:r>
              <a:rPr lang="cs-CZ" sz="1800" b="1">
                <a:ea typeface="+mn-lt"/>
                <a:cs typeface="+mn-lt"/>
              </a:rPr>
              <a:t>2. Dávkové zpracování (1960–1970)</a:t>
            </a:r>
            <a:r>
              <a:rPr lang="cs-CZ" sz="1800">
                <a:ea typeface="+mn-lt"/>
                <a:cs typeface="+mn-lt"/>
              </a:rPr>
              <a:t>: V šedesátých letech se rozvinuly </a:t>
            </a:r>
            <a:r>
              <a:rPr lang="cs-CZ" sz="1800">
                <a:solidFill>
                  <a:srgbClr val="FF0000"/>
                </a:solidFill>
                <a:ea typeface="+mn-lt"/>
                <a:cs typeface="+mn-lt"/>
              </a:rPr>
              <a:t>pokročilejší dávkové operační systémy</a:t>
            </a:r>
            <a:r>
              <a:rPr lang="cs-CZ" sz="1800">
                <a:ea typeface="+mn-lt"/>
                <a:cs typeface="+mn-lt"/>
              </a:rPr>
              <a:t>, které zefektivnily správu procesů a zaváděly techniky jako </a:t>
            </a:r>
            <a:r>
              <a:rPr lang="cs-CZ" sz="1800" err="1">
                <a:solidFill>
                  <a:srgbClr val="FF0000"/>
                </a:solidFill>
                <a:ea typeface="+mn-lt"/>
                <a:cs typeface="+mn-lt"/>
              </a:rPr>
              <a:t>multiprogramming</a:t>
            </a:r>
            <a:r>
              <a:rPr lang="cs-CZ" sz="1800">
                <a:ea typeface="+mn-lt"/>
                <a:cs typeface="+mn-lt"/>
              </a:rPr>
              <a:t>. To umožnilo zpracování </a:t>
            </a:r>
            <a:r>
              <a:rPr lang="cs-CZ" sz="1800">
                <a:solidFill>
                  <a:srgbClr val="FF0000"/>
                </a:solidFill>
                <a:ea typeface="+mn-lt"/>
                <a:cs typeface="+mn-lt"/>
              </a:rPr>
              <a:t>více úloh</a:t>
            </a:r>
            <a:r>
              <a:rPr lang="cs-CZ" sz="1800">
                <a:ea typeface="+mn-lt"/>
                <a:cs typeface="+mn-lt"/>
              </a:rPr>
              <a:t> v jednom</a:t>
            </a:r>
            <a:r>
              <a:rPr lang="cs-CZ" sz="1800">
                <a:solidFill>
                  <a:srgbClr val="FF0000"/>
                </a:solidFill>
                <a:ea typeface="+mn-lt"/>
                <a:cs typeface="+mn-lt"/>
              </a:rPr>
              <a:t> časovém úseku</a:t>
            </a:r>
            <a:r>
              <a:rPr lang="cs-CZ" sz="1800">
                <a:ea typeface="+mn-lt"/>
                <a:cs typeface="+mn-lt"/>
              </a:rPr>
              <a:t>.</a:t>
            </a:r>
            <a:endParaRPr lang="cs-CZ">
              <a:ea typeface="+mn-lt"/>
              <a:cs typeface="+mn-lt"/>
            </a:endParaRPr>
          </a:p>
          <a:p>
            <a:pPr marL="304165" indent="-304165"/>
            <a:r>
              <a:rPr lang="cs-CZ" sz="1800" b="1">
                <a:ea typeface="+mn-lt"/>
                <a:cs typeface="+mn-lt"/>
              </a:rPr>
              <a:t>3. Víceúlohové systémy (1970–1980)</a:t>
            </a:r>
            <a:r>
              <a:rPr lang="cs-CZ" sz="1800">
                <a:ea typeface="+mn-lt"/>
                <a:cs typeface="+mn-lt"/>
              </a:rPr>
              <a:t>: S příchodem víceúlohových operačních systémů, jako je Unix, se umožnilo </a:t>
            </a:r>
            <a:r>
              <a:rPr lang="cs-CZ" sz="1800">
                <a:solidFill>
                  <a:srgbClr val="FF0000"/>
                </a:solidFill>
                <a:ea typeface="+mn-lt"/>
                <a:cs typeface="+mn-lt"/>
              </a:rPr>
              <a:t>běh více procesů současně</a:t>
            </a:r>
            <a:r>
              <a:rPr lang="cs-CZ" sz="1800">
                <a:ea typeface="+mn-lt"/>
                <a:cs typeface="+mn-lt"/>
              </a:rPr>
              <a:t>. Tyto systémy zavedly také rozšířené techniky </a:t>
            </a:r>
            <a:r>
              <a:rPr lang="cs-CZ" sz="1800">
                <a:solidFill>
                  <a:srgbClr val="FF0000"/>
                </a:solidFill>
                <a:ea typeface="+mn-lt"/>
                <a:cs typeface="+mn-lt"/>
              </a:rPr>
              <a:t>správy paměti a plánování procesů</a:t>
            </a:r>
            <a:r>
              <a:rPr lang="cs-CZ" sz="1800">
                <a:ea typeface="+mn-lt"/>
                <a:cs typeface="+mn-lt"/>
              </a:rPr>
              <a:t>, které zvýšily efektivitu.</a:t>
            </a:r>
            <a:endParaRPr lang="en-US">
              <a:ea typeface="+mn-lt"/>
              <a:cs typeface="+mn-lt"/>
            </a:endParaRPr>
          </a:p>
          <a:p>
            <a:pPr marL="304165" indent="-304165"/>
            <a:r>
              <a:rPr lang="cs-CZ" sz="1800" b="1">
                <a:ea typeface="+mn-lt"/>
                <a:cs typeface="+mn-lt"/>
              </a:rPr>
              <a:t>4. Grafická uživatelská rozhraní (1980–1990)</a:t>
            </a:r>
            <a:r>
              <a:rPr lang="cs-CZ" sz="1800">
                <a:ea typeface="+mn-lt"/>
                <a:cs typeface="+mn-lt"/>
              </a:rPr>
              <a:t>: V osmdesátých letech se začala prosazovat </a:t>
            </a:r>
            <a:r>
              <a:rPr lang="cs-CZ" sz="1800">
                <a:solidFill>
                  <a:srgbClr val="FF0000"/>
                </a:solidFill>
                <a:ea typeface="+mn-lt"/>
                <a:cs typeface="+mn-lt"/>
              </a:rPr>
              <a:t>grafická uživatelská rozhraní </a:t>
            </a:r>
            <a:r>
              <a:rPr lang="cs-CZ" sz="1800">
                <a:ea typeface="+mn-lt"/>
                <a:cs typeface="+mn-lt"/>
              </a:rPr>
              <a:t>(GUI), která zjednodušila </a:t>
            </a:r>
            <a:r>
              <a:rPr lang="cs-CZ" sz="1800">
                <a:solidFill>
                  <a:srgbClr val="FF0000"/>
                </a:solidFill>
                <a:ea typeface="+mn-lt"/>
                <a:cs typeface="+mn-lt"/>
              </a:rPr>
              <a:t>interakci uživatelů s počítačem</a:t>
            </a:r>
            <a:r>
              <a:rPr lang="cs-CZ" sz="1800">
                <a:ea typeface="+mn-lt"/>
                <a:cs typeface="+mn-lt"/>
              </a:rPr>
              <a:t>. Tato revoluce zpřístupnila technologie širší veřejnosti a podpořila </a:t>
            </a:r>
            <a:r>
              <a:rPr lang="cs-CZ" sz="1800">
                <a:solidFill>
                  <a:srgbClr val="FF0000"/>
                </a:solidFill>
                <a:ea typeface="+mn-lt"/>
                <a:cs typeface="+mn-lt"/>
              </a:rPr>
              <a:t>rozvoj osobních počítačů</a:t>
            </a:r>
            <a:r>
              <a:rPr lang="cs-CZ" sz="1800">
                <a:ea typeface="+mn-lt"/>
                <a:cs typeface="+mn-lt"/>
              </a:rPr>
              <a:t>.</a:t>
            </a:r>
            <a:endParaRPr lang="cs-CZ">
              <a:ea typeface="+mn-lt"/>
              <a:cs typeface="+mn-lt"/>
            </a:endParaRPr>
          </a:p>
          <a:p>
            <a:pPr marL="304165" indent="-304165"/>
            <a:endParaRPr lang="cs-CZ" sz="1800">
              <a:ea typeface="+mn-lt"/>
              <a:cs typeface="+mn-lt"/>
            </a:endParaRPr>
          </a:p>
          <a:p>
            <a:pPr marL="304165" indent="-304165">
              <a:buFont typeface="Arial" panose="020B0604020202020204" pitchFamily="34" charset="0"/>
              <a:buChar char="•"/>
            </a:pPr>
            <a:endParaRPr lang="cs-CZ" sz="1800">
              <a:ea typeface="Calibri"/>
              <a:cs typeface="Calibri"/>
            </a:endParaRPr>
          </a:p>
          <a:p>
            <a:pPr marL="514350" indent="-514350">
              <a:buFont typeface="+mj-lt"/>
              <a:buAutoNum type="arabicPeriod"/>
            </a:pPr>
            <a:endParaRPr lang="cs-CZ" sz="1800"/>
          </a:p>
        </p:txBody>
      </p:sp>
      <p:pic>
        <p:nvPicPr>
          <p:cNvPr id="4" name="Obrázek 3" descr="Sálové počítače">
            <a:extLst>
              <a:ext uri="{FF2B5EF4-FFF2-40B4-BE49-F238E27FC236}">
                <a16:creationId xmlns:a16="http://schemas.microsoft.com/office/drawing/2014/main" id="{32B34AD6-C439-F103-58EC-B29D7B436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9386" y="2103559"/>
            <a:ext cx="4383081" cy="35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8117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5089534-6189-FF54-B9FD-763040CA9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/>
              <a:t>Moderní operační systémy (1990-současnost)</a:t>
            </a:r>
            <a:br>
              <a:rPr lang="cs-CZ" b="1"/>
            </a:b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27C7FCA-6175-0C34-4ED1-1B345234A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394865"/>
            <a:ext cx="9484041" cy="3186263"/>
          </a:xfrm>
        </p:spPr>
        <p:txBody>
          <a:bodyPr vert="horz" lIns="121899" tIns="60949" rIns="121899" bIns="60949" rtlCol="0" anchor="t">
            <a:normAutofit fontScale="70000" lnSpcReduction="20000"/>
          </a:bodyPr>
          <a:lstStyle/>
          <a:p>
            <a:pPr marL="304165" indent="-304165"/>
            <a:r>
              <a:rPr lang="cs-CZ" b="1">
                <a:ea typeface="+mn-lt"/>
                <a:cs typeface="+mn-lt"/>
              </a:rPr>
              <a:t>5. Otevřené a uzavřené systémy (1990–2000)</a:t>
            </a:r>
            <a:r>
              <a:rPr lang="cs-CZ">
                <a:ea typeface="+mn-lt"/>
                <a:cs typeface="+mn-lt"/>
              </a:rPr>
              <a:t>: Devadesátá léta přinesla nárůst jak otevřených (např. Linux), tak uzavřených operačních systémů (např. Windows). Otevřené systémy umožnily </a:t>
            </a:r>
            <a:r>
              <a:rPr lang="cs-CZ">
                <a:solidFill>
                  <a:srgbClr val="FF0000"/>
                </a:solidFill>
                <a:ea typeface="+mn-lt"/>
                <a:cs typeface="+mn-lt"/>
              </a:rPr>
              <a:t>komunitní vývoj</a:t>
            </a:r>
            <a:r>
              <a:rPr lang="cs-CZ">
                <a:ea typeface="+mn-lt"/>
                <a:cs typeface="+mn-lt"/>
              </a:rPr>
              <a:t>, zatímco uzavřené systémy </a:t>
            </a:r>
            <a:r>
              <a:rPr lang="cs-CZ">
                <a:solidFill>
                  <a:srgbClr val="FF0000"/>
                </a:solidFill>
                <a:ea typeface="+mn-lt"/>
                <a:cs typeface="+mn-lt"/>
              </a:rPr>
              <a:t>nabízely stabilní a uživatelsky přívětivé prostředí</a:t>
            </a:r>
            <a:r>
              <a:rPr lang="cs-CZ"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  <a:p>
            <a:pPr marL="304165" indent="-304165"/>
            <a:r>
              <a:rPr lang="cs-CZ" b="1">
                <a:ea typeface="+mn-lt"/>
                <a:cs typeface="+mn-lt"/>
              </a:rPr>
              <a:t>6. Virtualizace a mobilní operační systémy (2000–2010)</a:t>
            </a:r>
            <a:r>
              <a:rPr lang="cs-CZ">
                <a:ea typeface="+mn-lt"/>
                <a:cs typeface="+mn-lt"/>
              </a:rPr>
              <a:t>: Virtualizace umožnila </a:t>
            </a:r>
            <a:r>
              <a:rPr lang="cs-CZ">
                <a:solidFill>
                  <a:srgbClr val="FF0000"/>
                </a:solidFill>
                <a:ea typeface="+mn-lt"/>
                <a:cs typeface="+mn-lt"/>
              </a:rPr>
              <a:t>spouštění více operačních systémů</a:t>
            </a:r>
            <a:r>
              <a:rPr lang="cs-CZ">
                <a:ea typeface="+mn-lt"/>
                <a:cs typeface="+mn-lt"/>
              </a:rPr>
              <a:t> na jednom fyzickém zařízení, což vedlo ke zefektivnění správy serverů. V této době se také objevily mobilní operační systémy, </a:t>
            </a:r>
            <a:r>
              <a:rPr lang="cs-CZ">
                <a:solidFill>
                  <a:srgbClr val="FF0000"/>
                </a:solidFill>
                <a:ea typeface="+mn-lt"/>
                <a:cs typeface="+mn-lt"/>
              </a:rPr>
              <a:t>jako Android a iOS</a:t>
            </a:r>
            <a:r>
              <a:rPr lang="cs-CZ">
                <a:ea typeface="+mn-lt"/>
                <a:cs typeface="+mn-lt"/>
              </a:rPr>
              <a:t>, které podnítily boom mobilních zařízení.</a:t>
            </a:r>
          </a:p>
          <a:p>
            <a:pPr marL="304165" indent="-304165"/>
            <a:r>
              <a:rPr lang="cs-CZ" b="1">
                <a:ea typeface="+mn-lt"/>
                <a:cs typeface="+mn-lt"/>
              </a:rPr>
              <a:t>7. Moderní operační systémy (2010–současnost)</a:t>
            </a:r>
            <a:r>
              <a:rPr lang="cs-CZ">
                <a:ea typeface="+mn-lt"/>
                <a:cs typeface="+mn-lt"/>
              </a:rPr>
              <a:t>: V poslední dekádě se operační systémy soustředí </a:t>
            </a:r>
            <a:r>
              <a:rPr lang="cs-CZ">
                <a:solidFill>
                  <a:srgbClr val="FF0000"/>
                </a:solidFill>
                <a:ea typeface="+mn-lt"/>
                <a:cs typeface="+mn-lt"/>
              </a:rPr>
              <a:t>na cloudovou integraci, zabezpečení a uživatelskou přívětivost</a:t>
            </a:r>
            <a:r>
              <a:rPr lang="cs-CZ">
                <a:ea typeface="+mn-lt"/>
                <a:cs typeface="+mn-lt"/>
              </a:rPr>
              <a:t>. Systémy jako Windows 10, macOS a různé distribuce Linuxu stále inovují, aby splnily potřeby moderních uživatelů a podniků.</a:t>
            </a:r>
          </a:p>
          <a:p>
            <a:pPr marL="304165" indent="-304165"/>
            <a:endParaRPr lang="cs-CZ">
              <a:ea typeface="Calibri"/>
              <a:cs typeface="Calibri"/>
            </a:endParaRPr>
          </a:p>
        </p:txBody>
      </p:sp>
      <p:pic>
        <p:nvPicPr>
          <p:cNvPr id="9" name="Picture 12" descr="Most Popular Computer Operating Systems 2024 #PC #operatingsystems #windows  #microsoft #windows10 #windows11 #desktop #computers #macos : r/Windows_PC">
            <a:extLst>
              <a:ext uri="{FF2B5EF4-FFF2-40B4-BE49-F238E27FC236}">
                <a16:creationId xmlns:a16="http://schemas.microsoft.com/office/drawing/2014/main" id="{8DE70FEA-A1EA-CFE7-360C-5A8F2C36F5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4172" y="4427379"/>
            <a:ext cx="4320480" cy="2430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8356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cs-CZ"/>
              <a:t>Struktura operačního systému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E269F4C-375F-FD47-F25D-D51BA6F589A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892825" y="1489624"/>
            <a:ext cx="5739625" cy="5222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04165" indent="-304165" defTabSz="914400" eaLnBrk="0" fontAlgn="base" hangingPunct="0">
              <a:buClrTx/>
              <a:buSzTx/>
              <a:buFont typeface="Arial"/>
              <a:buChar char="•"/>
            </a:pPr>
            <a:r>
              <a:rPr lang="cs-CZ" sz="1800" b="1">
                <a:ea typeface="+mn-lt"/>
                <a:cs typeface="+mn-lt"/>
              </a:rPr>
              <a:t>Jádro - </a:t>
            </a:r>
            <a:r>
              <a:rPr lang="cs-CZ" sz="1800" b="1" err="1">
                <a:ea typeface="+mn-lt"/>
                <a:cs typeface="+mn-lt"/>
              </a:rPr>
              <a:t>core</a:t>
            </a:r>
            <a:r>
              <a:rPr lang="cs-CZ" sz="1800" b="1">
                <a:ea typeface="+mn-lt"/>
                <a:cs typeface="+mn-lt"/>
              </a:rPr>
              <a:t> (Kernel)</a:t>
            </a:r>
            <a:r>
              <a:rPr lang="cs-CZ" sz="1800">
                <a:solidFill>
                  <a:srgbClr val="FFFFFF"/>
                </a:solidFill>
                <a:ea typeface="+mn-lt"/>
                <a:cs typeface="+mn-lt"/>
              </a:rPr>
              <a:t>: Základní součást operačního systému, která spravuje </a:t>
            </a:r>
            <a:r>
              <a:rPr lang="cs-CZ" sz="1800">
                <a:solidFill>
                  <a:srgbClr val="FF0000"/>
                </a:solidFill>
                <a:ea typeface="+mn-lt"/>
                <a:cs typeface="+mn-lt"/>
              </a:rPr>
              <a:t>systémové prostředky</a:t>
            </a:r>
            <a:r>
              <a:rPr lang="cs-CZ" sz="1800">
                <a:solidFill>
                  <a:srgbClr val="FFFFFF"/>
                </a:solidFill>
                <a:ea typeface="+mn-lt"/>
                <a:cs typeface="+mn-lt"/>
              </a:rPr>
              <a:t> a zajišťuje komunikaci mezi </a:t>
            </a:r>
            <a:r>
              <a:rPr lang="cs-CZ" sz="1800">
                <a:solidFill>
                  <a:srgbClr val="FF0000"/>
                </a:solidFill>
                <a:ea typeface="+mn-lt"/>
                <a:cs typeface="+mn-lt"/>
              </a:rPr>
              <a:t>hardwarem a softwarem</a:t>
            </a:r>
            <a:r>
              <a:rPr lang="cs-CZ" sz="1800">
                <a:solidFill>
                  <a:srgbClr val="FFFFFF"/>
                </a:solidFill>
                <a:ea typeface="+mn-lt"/>
                <a:cs typeface="+mn-lt"/>
              </a:rPr>
              <a:t>. Dělí se na </a:t>
            </a:r>
            <a:r>
              <a:rPr lang="cs-CZ" sz="1800">
                <a:solidFill>
                  <a:srgbClr val="FF0000"/>
                </a:solidFill>
                <a:ea typeface="+mn-lt"/>
                <a:cs typeface="+mn-lt"/>
              </a:rPr>
              <a:t>monolitická</a:t>
            </a:r>
            <a:r>
              <a:rPr lang="cs-CZ" sz="1800">
                <a:ea typeface="+mn-lt"/>
                <a:cs typeface="+mn-lt"/>
              </a:rPr>
              <a:t> (např. Linux) a </a:t>
            </a:r>
            <a:r>
              <a:rPr lang="cs-CZ" sz="1800">
                <a:solidFill>
                  <a:srgbClr val="FF0000"/>
                </a:solidFill>
                <a:ea typeface="+mn-lt"/>
                <a:cs typeface="+mn-lt"/>
              </a:rPr>
              <a:t>mikrojádra</a:t>
            </a:r>
            <a:r>
              <a:rPr lang="cs-CZ" sz="1800">
                <a:ea typeface="+mn-lt"/>
                <a:cs typeface="+mn-lt"/>
              </a:rPr>
              <a:t> (např. </a:t>
            </a:r>
            <a:r>
              <a:rPr lang="cs-CZ" sz="1800" err="1">
                <a:ea typeface="+mn-lt"/>
                <a:cs typeface="+mn-lt"/>
              </a:rPr>
              <a:t>Minix</a:t>
            </a:r>
            <a:r>
              <a:rPr lang="cs-CZ" sz="1800">
                <a:ea typeface="+mn-lt"/>
                <a:cs typeface="+mn-lt"/>
              </a:rPr>
              <a:t>). </a:t>
            </a:r>
            <a:endParaRPr lang="cs-CZ">
              <a:latin typeface="Calibri"/>
              <a:ea typeface="Calibri"/>
              <a:cs typeface="Calibri"/>
            </a:endParaRPr>
          </a:p>
          <a:p>
            <a:pPr marL="304165" indent="-304165" defTabSz="914400">
              <a:buClrTx/>
              <a:buSzTx/>
              <a:buFont typeface="Arial"/>
              <a:buChar char="•"/>
            </a:pPr>
            <a:r>
              <a:rPr lang="cs-CZ" sz="1800" b="1">
                <a:ea typeface="+mn-lt"/>
                <a:cs typeface="+mn-lt"/>
              </a:rPr>
              <a:t>Správa procesorů</a:t>
            </a:r>
            <a:r>
              <a:rPr lang="cs-CZ" sz="1800">
                <a:ea typeface="+mn-lt"/>
                <a:cs typeface="+mn-lt"/>
              </a:rPr>
              <a:t>:</a:t>
            </a:r>
            <a:r>
              <a:rPr lang="cs-CZ" sz="1800">
                <a:solidFill>
                  <a:srgbClr val="FFFFFF"/>
                </a:solidFill>
                <a:ea typeface="+mn-lt"/>
                <a:cs typeface="+mn-lt"/>
              </a:rPr>
              <a:t> Řídí </a:t>
            </a:r>
            <a:r>
              <a:rPr lang="cs-CZ" sz="1800">
                <a:solidFill>
                  <a:srgbClr val="FF0000"/>
                </a:solidFill>
                <a:ea typeface="+mn-lt"/>
                <a:cs typeface="+mn-lt"/>
              </a:rPr>
              <a:t>alokaci </a:t>
            </a:r>
            <a:r>
              <a:rPr lang="cs-CZ" sz="1800">
                <a:solidFill>
                  <a:srgbClr val="FFFFFF"/>
                </a:solidFill>
                <a:ea typeface="+mn-lt"/>
                <a:cs typeface="+mn-lt"/>
              </a:rPr>
              <a:t>(přidělení omezených zdrojů) procesorového času </a:t>
            </a:r>
            <a:r>
              <a:rPr lang="cs-CZ" sz="1800">
                <a:solidFill>
                  <a:srgbClr val="FF0000"/>
                </a:solidFill>
                <a:ea typeface="+mn-lt"/>
                <a:cs typeface="+mn-lt"/>
              </a:rPr>
              <a:t>procesům a vláknům</a:t>
            </a:r>
            <a:r>
              <a:rPr lang="cs-CZ" sz="1800">
                <a:solidFill>
                  <a:srgbClr val="FFFFFF"/>
                </a:solidFill>
                <a:ea typeface="+mn-lt"/>
                <a:cs typeface="+mn-lt"/>
              </a:rPr>
              <a:t>. Plánování určuje, kdy a jak dlouho budou jednotlivé procesy a vlákna vykonávány. </a:t>
            </a:r>
          </a:p>
          <a:p>
            <a:pPr marL="304165" indent="-304165" defTabSz="914400">
              <a:buClrTx/>
              <a:buSzTx/>
              <a:buFont typeface="Arial"/>
              <a:buChar char="•"/>
            </a:pPr>
            <a:r>
              <a:rPr lang="cs-CZ" sz="1800" b="1">
                <a:solidFill>
                  <a:srgbClr val="FFFFFF"/>
                </a:solidFill>
                <a:ea typeface="+mn-lt"/>
                <a:cs typeface="+mn-lt"/>
              </a:rPr>
              <a:t>Procesy a vlákna:</a:t>
            </a:r>
            <a:r>
              <a:rPr lang="cs-CZ" sz="1800">
                <a:solidFill>
                  <a:srgbClr val="FFFFFF"/>
                </a:solidFill>
                <a:ea typeface="+mn-lt"/>
                <a:cs typeface="+mn-lt"/>
              </a:rPr>
              <a:t> Procesy jsou </a:t>
            </a:r>
            <a:r>
              <a:rPr lang="cs-CZ" sz="1800">
                <a:solidFill>
                  <a:srgbClr val="FF0000"/>
                </a:solidFill>
                <a:ea typeface="+mn-lt"/>
                <a:cs typeface="+mn-lt"/>
              </a:rPr>
              <a:t>samostatné běžící instance programů</a:t>
            </a:r>
            <a:r>
              <a:rPr lang="cs-CZ" sz="1800">
                <a:solidFill>
                  <a:srgbClr val="FFFFFF"/>
                </a:solidFill>
                <a:ea typeface="+mn-lt"/>
                <a:cs typeface="+mn-lt"/>
              </a:rPr>
              <a:t> s </a:t>
            </a:r>
            <a:r>
              <a:rPr lang="cs-CZ" sz="1800" u="sng">
                <a:solidFill>
                  <a:srgbClr val="FFFFFF"/>
                </a:solidFill>
                <a:ea typeface="+mn-lt"/>
                <a:cs typeface="+mn-lt"/>
              </a:rPr>
              <a:t>vlastní pamětí a systémovými prostředky</a:t>
            </a:r>
            <a:r>
              <a:rPr lang="cs-CZ" sz="1800">
                <a:solidFill>
                  <a:srgbClr val="FFFFFF"/>
                </a:solidFill>
                <a:ea typeface="+mn-lt"/>
                <a:cs typeface="+mn-lt"/>
              </a:rPr>
              <a:t>. Vlákna jsou lehčí než procesy, </a:t>
            </a:r>
            <a:r>
              <a:rPr lang="cs-CZ" sz="1800">
                <a:solidFill>
                  <a:srgbClr val="FF0000"/>
                </a:solidFill>
                <a:ea typeface="+mn-lt"/>
                <a:cs typeface="+mn-lt"/>
              </a:rPr>
              <a:t>sdílejí prostředky v rámci procesu</a:t>
            </a:r>
            <a:r>
              <a:rPr lang="cs-CZ" sz="1800">
                <a:solidFill>
                  <a:srgbClr val="FFFFFF"/>
                </a:solidFill>
                <a:ea typeface="+mn-lt"/>
                <a:cs typeface="+mn-lt"/>
              </a:rPr>
              <a:t>, což umožňuje efektivnější multitasking. </a:t>
            </a:r>
            <a:endParaRPr lang="cs-CZ"/>
          </a:p>
          <a:p>
            <a:pPr marL="304165" indent="-304165" defTabSz="914400">
              <a:buClrTx/>
              <a:buSzTx/>
              <a:buFont typeface="Arial"/>
              <a:buChar char="•"/>
            </a:pPr>
            <a:r>
              <a:rPr lang="cs-CZ" sz="1800" b="1">
                <a:ea typeface="+mn-lt"/>
                <a:cs typeface="+mn-lt"/>
              </a:rPr>
              <a:t>Systémové volání</a:t>
            </a:r>
            <a:r>
              <a:rPr lang="cs-CZ" sz="1800">
                <a:ea typeface="+mn-lt"/>
                <a:cs typeface="+mn-lt"/>
              </a:rPr>
              <a:t>:</a:t>
            </a:r>
            <a:r>
              <a:rPr lang="cs-CZ" sz="1800">
                <a:solidFill>
                  <a:srgbClr val="FFFFFF"/>
                </a:solidFill>
                <a:ea typeface="+mn-lt"/>
                <a:cs typeface="+mn-lt"/>
              </a:rPr>
              <a:t> Rozhraní mezi </a:t>
            </a:r>
            <a:r>
              <a:rPr lang="cs-CZ" sz="1800">
                <a:solidFill>
                  <a:srgbClr val="FF0000"/>
                </a:solidFill>
                <a:ea typeface="+mn-lt"/>
                <a:cs typeface="+mn-lt"/>
              </a:rPr>
              <a:t>aplikačním softwarem a jádrem </a:t>
            </a:r>
            <a:r>
              <a:rPr kumimoji="0" lang="cs-CZ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ea typeface="+mn-lt"/>
                <a:cs typeface="+mn-lt"/>
              </a:rPr>
              <a:t>OS</a:t>
            </a:r>
            <a:r>
              <a:rPr lang="cs-CZ" sz="1800">
                <a:solidFill>
                  <a:srgbClr val="FFFFFF"/>
                </a:solidFill>
                <a:ea typeface="+mn-lt"/>
                <a:cs typeface="+mn-lt"/>
              </a:rPr>
              <a:t>, které umožňuje aplikacím provádět operace, jako je </a:t>
            </a:r>
            <a:r>
              <a:rPr lang="cs-CZ" sz="1800">
                <a:solidFill>
                  <a:srgbClr val="FF0000"/>
                </a:solidFill>
                <a:ea typeface="+mn-lt"/>
                <a:cs typeface="+mn-lt"/>
              </a:rPr>
              <a:t>čtení a zápis na disk</a:t>
            </a:r>
            <a:r>
              <a:rPr kumimoji="0" lang="cs-CZ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ea typeface="+mn-lt"/>
                <a:cs typeface="+mn-lt"/>
              </a:rPr>
              <a:t>.</a:t>
            </a:r>
            <a:r>
              <a:rPr lang="cs-CZ" sz="1800">
                <a:solidFill>
                  <a:srgbClr val="FFFFFF"/>
                </a:solidFill>
                <a:ea typeface="+mn-lt"/>
                <a:cs typeface="+mn-lt"/>
              </a:rPr>
              <a:t> Tato volání zajišťují bezpečný a kontrolovaný </a:t>
            </a:r>
            <a:r>
              <a:rPr lang="cs-CZ" sz="1800">
                <a:solidFill>
                  <a:srgbClr val="FF0000"/>
                </a:solidFill>
                <a:ea typeface="+mn-lt"/>
                <a:cs typeface="+mn-lt"/>
              </a:rPr>
              <a:t>přístup k hardwaru</a:t>
            </a:r>
            <a:r>
              <a:rPr lang="cs-CZ" sz="1800">
                <a:solidFill>
                  <a:srgbClr val="FFFFFF"/>
                </a:solidFill>
                <a:ea typeface="+mn-lt"/>
                <a:cs typeface="+mn-lt"/>
              </a:rPr>
              <a:t>.</a:t>
            </a:r>
            <a:endParaRPr lang="cs-CZ"/>
          </a:p>
          <a:p>
            <a:pPr marL="0" indent="0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cs-CZ" altLang="cs-CZ" sz="1800">
              <a:solidFill>
                <a:srgbClr val="FFFFFF"/>
              </a:solidFill>
              <a:latin typeface="Arial"/>
              <a:ea typeface="Calibri"/>
              <a:cs typeface="Arial"/>
            </a:endParaRPr>
          </a:p>
        </p:txBody>
      </p:sp>
      <p:pic>
        <p:nvPicPr>
          <p:cNvPr id="4102" name="Picture 6" descr="What is Kernel in Operating System (OS)? - Javatpoint">
            <a:extLst>
              <a:ext uri="{FF2B5EF4-FFF2-40B4-BE49-F238E27FC236}">
                <a16:creationId xmlns:a16="http://schemas.microsoft.com/office/drawing/2014/main" id="{47A916D0-75BE-0BF6-AFDA-F8B7585A72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6500" y="2302603"/>
            <a:ext cx="5056038" cy="3180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19111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cs-CZ"/>
              <a:t>Typy operačních systémů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7395809" cy="4465320"/>
          </a:xfrm>
        </p:spPr>
        <p:txBody>
          <a:bodyPr vert="horz" lIns="121899" tIns="60949" rIns="121899" bIns="60949" rtlCol="0" anchor="t">
            <a:normAutofit fontScale="92500" lnSpcReduction="10000"/>
          </a:bodyPr>
          <a:lstStyle/>
          <a:p>
            <a:pPr marL="304165" indent="-304165" algn="just"/>
            <a:r>
              <a:rPr lang="cs-CZ" sz="2000" b="1">
                <a:ea typeface="+mn-lt"/>
                <a:cs typeface="+mn-lt"/>
              </a:rPr>
              <a:t>Otevřený operační systém</a:t>
            </a:r>
            <a:r>
              <a:rPr lang="cs-CZ" sz="2000">
                <a:ea typeface="+mn-lt"/>
                <a:cs typeface="+mn-lt"/>
              </a:rPr>
              <a:t>: Otevřené operační systémy mají </a:t>
            </a:r>
            <a:r>
              <a:rPr lang="cs-CZ" sz="2000">
                <a:solidFill>
                  <a:srgbClr val="FF0000"/>
                </a:solidFill>
                <a:ea typeface="+mn-lt"/>
                <a:cs typeface="+mn-lt"/>
              </a:rPr>
              <a:t>veřejně dostupný zdrojový kód</a:t>
            </a:r>
            <a:r>
              <a:rPr lang="cs-CZ" sz="2000">
                <a:ea typeface="+mn-lt"/>
                <a:cs typeface="+mn-lt"/>
              </a:rPr>
              <a:t>, což umožňuje uživatelům a vývojářům přizpůsobování. To podporuje komunitní vývoj a zvyšuje inovace. </a:t>
            </a:r>
            <a:endParaRPr lang="cs-CZ">
              <a:ea typeface="+mn-lt"/>
              <a:cs typeface="+mn-lt"/>
            </a:endParaRPr>
          </a:p>
          <a:p>
            <a:pPr marL="0" indent="0" algn="just">
              <a:buNone/>
            </a:pPr>
            <a:r>
              <a:rPr lang="cs-CZ" sz="2000" b="1">
                <a:ea typeface="+mn-lt"/>
                <a:cs typeface="+mn-lt"/>
              </a:rPr>
              <a:t> Příklady</a:t>
            </a:r>
            <a:r>
              <a:rPr lang="cs-CZ" sz="2000">
                <a:ea typeface="+mn-lt"/>
                <a:cs typeface="+mn-lt"/>
              </a:rPr>
              <a:t>: </a:t>
            </a:r>
            <a:r>
              <a:rPr lang="cs-CZ" sz="2100">
                <a:ea typeface="+mn-lt"/>
                <a:cs typeface="+mn-lt"/>
              </a:rPr>
              <a:t>Linux (distribuce jako </a:t>
            </a:r>
            <a:r>
              <a:rPr lang="cs-CZ" sz="2100" err="1">
                <a:ea typeface="+mn-lt"/>
                <a:cs typeface="+mn-lt"/>
              </a:rPr>
              <a:t>Ubuntu</a:t>
            </a:r>
            <a:r>
              <a:rPr lang="cs-CZ" sz="2100">
                <a:ea typeface="+mn-lt"/>
                <a:cs typeface="+mn-lt"/>
              </a:rPr>
              <a:t>, Fedora), </a:t>
            </a:r>
            <a:r>
              <a:rPr lang="cs-CZ" sz="2100" err="1">
                <a:ea typeface="+mn-lt"/>
                <a:cs typeface="+mn-lt"/>
              </a:rPr>
              <a:t>FreeBSD</a:t>
            </a:r>
            <a:r>
              <a:rPr lang="cs-CZ" sz="2100">
                <a:ea typeface="+mn-lt"/>
                <a:cs typeface="+mn-lt"/>
              </a:rPr>
              <a:t>..</a:t>
            </a:r>
          </a:p>
          <a:p>
            <a:pPr marL="304165" indent="-304165" algn="just"/>
            <a:r>
              <a:rPr lang="cs-CZ" sz="2000" b="1">
                <a:ea typeface="+mn-lt"/>
                <a:cs typeface="+mn-lt"/>
              </a:rPr>
              <a:t>Monolitický operační systém</a:t>
            </a:r>
            <a:r>
              <a:rPr lang="cs-CZ" sz="2000">
                <a:ea typeface="+mn-lt"/>
                <a:cs typeface="+mn-lt"/>
              </a:rPr>
              <a:t>: Monolitické operační systémy zahrnují </a:t>
            </a:r>
            <a:r>
              <a:rPr lang="cs-CZ" sz="2000">
                <a:solidFill>
                  <a:srgbClr val="FF0000"/>
                </a:solidFill>
                <a:ea typeface="+mn-lt"/>
                <a:cs typeface="+mn-lt"/>
              </a:rPr>
              <a:t>veškerou funkcionalitu jádra v jednom celku</a:t>
            </a:r>
            <a:r>
              <a:rPr lang="cs-CZ" sz="2000">
                <a:ea typeface="+mn-lt"/>
                <a:cs typeface="+mn-lt"/>
              </a:rPr>
              <a:t>, což zajišťuje vysokou efektivitu. Nicméně, tato struktura může být složitější na údržbu. </a:t>
            </a:r>
            <a:endParaRPr lang="cs-CZ">
              <a:ea typeface="+mn-lt"/>
              <a:cs typeface="+mn-lt"/>
            </a:endParaRPr>
          </a:p>
          <a:p>
            <a:pPr marL="0" indent="0" algn="just">
              <a:buNone/>
            </a:pPr>
            <a:r>
              <a:rPr lang="cs-CZ" sz="2000" b="1">
                <a:ea typeface="+mn-lt"/>
                <a:cs typeface="+mn-lt"/>
              </a:rPr>
              <a:t> Příklady</a:t>
            </a:r>
            <a:r>
              <a:rPr lang="cs-CZ" sz="2000">
                <a:ea typeface="+mn-lt"/>
                <a:cs typeface="+mn-lt"/>
              </a:rPr>
              <a:t>: Linux, Unix, Windows.</a:t>
            </a:r>
            <a:endParaRPr lang="cs-CZ">
              <a:ea typeface="Calibri"/>
              <a:cs typeface="Calibri"/>
            </a:endParaRPr>
          </a:p>
          <a:p>
            <a:pPr marL="304165" indent="-304165" algn="just"/>
            <a:r>
              <a:rPr lang="cs-CZ" sz="2000" b="1">
                <a:ea typeface="+mn-lt"/>
                <a:cs typeface="+mn-lt"/>
              </a:rPr>
              <a:t>Víceuživatelský operační systém</a:t>
            </a:r>
            <a:r>
              <a:rPr lang="cs-CZ" sz="2000">
                <a:ea typeface="+mn-lt"/>
                <a:cs typeface="+mn-lt"/>
              </a:rPr>
              <a:t>: Víceuživatelské operační systémy umožňují </a:t>
            </a:r>
            <a:r>
              <a:rPr lang="cs-CZ" sz="2000">
                <a:solidFill>
                  <a:srgbClr val="FF0000"/>
                </a:solidFill>
                <a:ea typeface="+mn-lt"/>
                <a:cs typeface="+mn-lt"/>
              </a:rPr>
              <a:t>více uživatelům přístup</a:t>
            </a:r>
            <a:r>
              <a:rPr lang="cs-CZ" sz="2000">
                <a:ea typeface="+mn-lt"/>
                <a:cs typeface="+mn-lt"/>
              </a:rPr>
              <a:t> k systému současně, každý s </a:t>
            </a:r>
            <a:r>
              <a:rPr lang="cs-CZ" sz="2000">
                <a:solidFill>
                  <a:srgbClr val="FF0000"/>
                </a:solidFill>
                <a:ea typeface="+mn-lt"/>
                <a:cs typeface="+mn-lt"/>
              </a:rPr>
              <a:t>vlastním prostředím</a:t>
            </a:r>
            <a:r>
              <a:rPr lang="cs-CZ" sz="2000">
                <a:ea typeface="+mn-lt"/>
                <a:cs typeface="+mn-lt"/>
              </a:rPr>
              <a:t>. Zajišťují izolaci uživatelských dat a procesů pro zvýšení bezpečnosti. </a:t>
            </a:r>
            <a:endParaRPr lang="cs-CZ">
              <a:ea typeface="+mn-lt"/>
              <a:cs typeface="+mn-lt"/>
            </a:endParaRPr>
          </a:p>
          <a:p>
            <a:pPr marL="0" indent="0" algn="just">
              <a:buNone/>
            </a:pPr>
            <a:r>
              <a:rPr lang="cs-CZ" sz="2000" b="1">
                <a:ea typeface="+mn-lt"/>
                <a:cs typeface="+mn-lt"/>
              </a:rPr>
              <a:t> Příklady</a:t>
            </a:r>
            <a:r>
              <a:rPr lang="cs-CZ" sz="2000">
                <a:ea typeface="+mn-lt"/>
                <a:cs typeface="+mn-lt"/>
              </a:rPr>
              <a:t>: </a:t>
            </a:r>
            <a:r>
              <a:rPr lang="cs-CZ" sz="2100">
                <a:ea typeface="+mn-lt"/>
                <a:cs typeface="+mn-lt"/>
              </a:rPr>
              <a:t>Unix, Linux (např. </a:t>
            </a:r>
            <a:r>
              <a:rPr lang="cs-CZ" sz="2100" err="1">
                <a:ea typeface="+mn-lt"/>
                <a:cs typeface="+mn-lt"/>
              </a:rPr>
              <a:t>Red</a:t>
            </a:r>
            <a:r>
              <a:rPr lang="cs-CZ" sz="2100">
                <a:ea typeface="+mn-lt"/>
                <a:cs typeface="+mn-lt"/>
              </a:rPr>
              <a:t> </a:t>
            </a:r>
            <a:r>
              <a:rPr lang="cs-CZ" sz="2100" err="1">
                <a:ea typeface="+mn-lt"/>
                <a:cs typeface="+mn-lt"/>
              </a:rPr>
              <a:t>Hat</a:t>
            </a:r>
            <a:r>
              <a:rPr lang="cs-CZ" sz="2100">
                <a:ea typeface="+mn-lt"/>
                <a:cs typeface="+mn-lt"/>
              </a:rPr>
              <a:t>, </a:t>
            </a:r>
            <a:r>
              <a:rPr lang="cs-CZ" sz="2100" err="1">
                <a:ea typeface="+mn-lt"/>
                <a:cs typeface="+mn-lt"/>
              </a:rPr>
              <a:t>CentOS</a:t>
            </a:r>
            <a:r>
              <a:rPr lang="cs-CZ" sz="2100">
                <a:ea typeface="+mn-lt"/>
                <a:cs typeface="+mn-lt"/>
              </a:rPr>
              <a:t>).</a:t>
            </a:r>
          </a:p>
          <a:p>
            <a:pPr marL="514350" indent="-514350" algn="just">
              <a:buAutoNum type="arabicPeriod"/>
            </a:pPr>
            <a:endParaRPr lang="cs-CZ" sz="2000">
              <a:ea typeface="Calibri"/>
              <a:cs typeface="Calibri"/>
            </a:endParaRPr>
          </a:p>
          <a:p>
            <a:pPr marL="514350" indent="-514350" algn="just">
              <a:buFont typeface="+mj-lt"/>
              <a:buAutoNum type="arabicPeriod"/>
            </a:pPr>
            <a:endParaRPr lang="cs-CZ"/>
          </a:p>
          <a:p>
            <a:pPr marL="514350" indent="-514350" algn="ctr" rtl="0">
              <a:buFont typeface="+mj-lt"/>
              <a:buAutoNum type="arabicPeriod"/>
            </a:pPr>
            <a:endParaRPr lang="cs-CZ"/>
          </a:p>
          <a:p>
            <a:pPr marL="304165" indent="-304165" algn="ctr"/>
            <a:endParaRPr lang="cs-CZ" sz="2000">
              <a:cs typeface="Calibri"/>
            </a:endParaRPr>
          </a:p>
        </p:txBody>
      </p:sp>
      <p:pic>
        <p:nvPicPr>
          <p:cNvPr id="4" name="Obrázek 3" descr="Redhat vs Ubuntu - MEGATEK ICT ACADEMY">
            <a:extLst>
              <a:ext uri="{FF2B5EF4-FFF2-40B4-BE49-F238E27FC236}">
                <a16:creationId xmlns:a16="http://schemas.microsoft.com/office/drawing/2014/main" id="{6CA8D002-26EE-A7B0-A220-6AC6EFAD1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3620" y="1852065"/>
            <a:ext cx="2743199" cy="1830228"/>
          </a:xfrm>
          <a:prstGeom prst="rect">
            <a:avLst/>
          </a:prstGeom>
        </p:spPr>
      </p:pic>
      <p:pic>
        <p:nvPicPr>
          <p:cNvPr id="6" name="Obrázek 5" descr="FreeBSD, a system that is more present in homes than you imagine">
            <a:extLst>
              <a:ext uri="{FF2B5EF4-FFF2-40B4-BE49-F238E27FC236}">
                <a16:creationId xmlns:a16="http://schemas.microsoft.com/office/drawing/2014/main" id="{78FA560A-67BC-AA4F-9E7F-71C7531E4D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3620" y="4246205"/>
            <a:ext cx="2743200" cy="164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4965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cs-CZ"/>
              <a:t>Typy operačních systémů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7146471" cy="4465320"/>
          </a:xfrm>
        </p:spPr>
        <p:txBody>
          <a:bodyPr vert="horz" lIns="121899" tIns="60949" rIns="121899" bIns="60949" rtlCol="0" anchor="t">
            <a:normAutofit fontScale="92500" lnSpcReduction="10000"/>
          </a:bodyPr>
          <a:lstStyle/>
          <a:p>
            <a:pPr marL="304165" indent="-304165" algn="just"/>
            <a:r>
              <a:rPr lang="cs-CZ" sz="2100" b="1">
                <a:ea typeface="+mn-lt"/>
                <a:cs typeface="+mn-lt"/>
              </a:rPr>
              <a:t>Diskový operační systém</a:t>
            </a:r>
            <a:r>
              <a:rPr lang="cs-CZ" sz="2100">
                <a:ea typeface="+mn-lt"/>
                <a:cs typeface="+mn-lt"/>
              </a:rPr>
              <a:t>: Diskové operační systémy </a:t>
            </a:r>
            <a:r>
              <a:rPr lang="cs-CZ" sz="2100">
                <a:solidFill>
                  <a:srgbClr val="FF0000"/>
                </a:solidFill>
                <a:ea typeface="+mn-lt"/>
                <a:cs typeface="+mn-lt"/>
              </a:rPr>
              <a:t>spravují soubory na pevných discích</a:t>
            </a:r>
            <a:r>
              <a:rPr lang="cs-CZ" sz="2100">
                <a:ea typeface="+mn-lt"/>
                <a:cs typeface="+mn-lt"/>
              </a:rPr>
              <a:t> a jiných úložných médiích. Zahrnují pokročilé funkce pro manipulaci se soubory a optimalizaci přístupu k datům. </a:t>
            </a:r>
            <a:endParaRPr lang="cs-CZ"/>
          </a:p>
          <a:p>
            <a:pPr marL="0" indent="0" algn="just">
              <a:buNone/>
            </a:pPr>
            <a:r>
              <a:rPr lang="cs-CZ" sz="2100" b="1">
                <a:ea typeface="+mn-lt"/>
                <a:cs typeface="+mn-lt"/>
              </a:rPr>
              <a:t>     Příklady</a:t>
            </a:r>
            <a:r>
              <a:rPr lang="cs-CZ" sz="2100">
                <a:ea typeface="+mn-lt"/>
                <a:cs typeface="+mn-lt"/>
              </a:rPr>
              <a:t>: NTFS (Windows), FAT32 (Windows), ext4 (Linux).</a:t>
            </a:r>
            <a:endParaRPr lang="cs-CZ"/>
          </a:p>
          <a:p>
            <a:pPr marL="304165" indent="-304165" algn="just"/>
            <a:r>
              <a:rPr lang="cs-CZ" sz="2100" b="1">
                <a:ea typeface="+mn-lt"/>
                <a:cs typeface="+mn-lt"/>
              </a:rPr>
              <a:t>Síťový operační systém</a:t>
            </a:r>
            <a:r>
              <a:rPr lang="cs-CZ" sz="2100">
                <a:ea typeface="+mn-lt"/>
                <a:cs typeface="+mn-lt"/>
              </a:rPr>
              <a:t>: Síťové operační systémy </a:t>
            </a:r>
            <a:r>
              <a:rPr lang="cs-CZ" sz="2100">
                <a:solidFill>
                  <a:srgbClr val="FF0000"/>
                </a:solidFill>
                <a:ea typeface="+mn-lt"/>
                <a:cs typeface="+mn-lt"/>
              </a:rPr>
              <a:t>usnadňují komunikaci a sdílení zdrojů</a:t>
            </a:r>
            <a:r>
              <a:rPr lang="cs-CZ" sz="2100">
                <a:ea typeface="+mn-lt"/>
                <a:cs typeface="+mn-lt"/>
              </a:rPr>
              <a:t> mezi počítači v síti. Zajišťují správu síťových zdrojů a umožňují vzdálený přístup. </a:t>
            </a:r>
          </a:p>
          <a:p>
            <a:pPr marL="0" indent="0" algn="just">
              <a:buNone/>
            </a:pPr>
            <a:r>
              <a:rPr lang="cs-CZ" sz="2100" b="1">
                <a:ea typeface="+mn-lt"/>
                <a:cs typeface="+mn-lt"/>
              </a:rPr>
              <a:t>   Příklady</a:t>
            </a:r>
            <a:r>
              <a:rPr lang="cs-CZ" sz="2100">
                <a:ea typeface="+mn-lt"/>
                <a:cs typeface="+mn-lt"/>
              </a:rPr>
              <a:t>: Novell </a:t>
            </a:r>
            <a:r>
              <a:rPr lang="cs-CZ" sz="2100" err="1">
                <a:ea typeface="+mn-lt"/>
                <a:cs typeface="+mn-lt"/>
              </a:rPr>
              <a:t>NetWare</a:t>
            </a:r>
            <a:r>
              <a:rPr lang="cs-CZ" sz="2100">
                <a:ea typeface="+mn-lt"/>
                <a:cs typeface="+mn-lt"/>
              </a:rPr>
              <a:t>, Windows Server, Linux (např. </a:t>
            </a:r>
            <a:r>
              <a:rPr lang="cs-CZ" sz="2100" err="1">
                <a:ea typeface="+mn-lt"/>
                <a:cs typeface="+mn-lt"/>
              </a:rPr>
              <a:t>Ubuntu</a:t>
            </a:r>
            <a:r>
              <a:rPr lang="cs-CZ" sz="2100">
                <a:ea typeface="+mn-lt"/>
                <a:cs typeface="+mn-lt"/>
              </a:rPr>
              <a:t>   Server). </a:t>
            </a:r>
          </a:p>
          <a:p>
            <a:pPr marL="304165" indent="-304165" algn="just"/>
            <a:r>
              <a:rPr lang="cs-CZ" sz="2100" b="1">
                <a:ea typeface="+mn-lt"/>
                <a:cs typeface="+mn-lt"/>
              </a:rPr>
              <a:t>Virtualizační operační systém</a:t>
            </a:r>
            <a:r>
              <a:rPr lang="cs-CZ" sz="2100">
                <a:ea typeface="+mn-lt"/>
                <a:cs typeface="+mn-lt"/>
              </a:rPr>
              <a:t>: Virtualizační operační </a:t>
            </a:r>
            <a:r>
              <a:rPr lang="cs-CZ" sz="2100">
                <a:solidFill>
                  <a:srgbClr val="FF0000"/>
                </a:solidFill>
                <a:ea typeface="+mn-lt"/>
                <a:cs typeface="+mn-lt"/>
              </a:rPr>
              <a:t>systémy umožňují běh více virtuálních strojů</a:t>
            </a:r>
            <a:r>
              <a:rPr lang="cs-CZ" sz="2100">
                <a:ea typeface="+mn-lt"/>
                <a:cs typeface="+mn-lt"/>
              </a:rPr>
              <a:t> na </a:t>
            </a:r>
            <a:r>
              <a:rPr lang="cs-CZ" sz="2100" u="sng">
                <a:ea typeface="+mn-lt"/>
                <a:cs typeface="+mn-lt"/>
              </a:rPr>
              <a:t>jednom fyzickém hardwaru</a:t>
            </a:r>
            <a:r>
              <a:rPr lang="cs-CZ" sz="2100">
                <a:ea typeface="+mn-lt"/>
                <a:cs typeface="+mn-lt"/>
              </a:rPr>
              <a:t>. Zvyšují efektivitu využití zdrojů a usnadňují správu serverů. </a:t>
            </a:r>
          </a:p>
          <a:p>
            <a:pPr marL="0" indent="0" algn="just">
              <a:buNone/>
            </a:pPr>
            <a:r>
              <a:rPr lang="cs-CZ" sz="2100" b="1">
                <a:ea typeface="+mn-lt"/>
                <a:cs typeface="+mn-lt"/>
              </a:rPr>
              <a:t>      Příklady</a:t>
            </a:r>
            <a:r>
              <a:rPr lang="cs-CZ" sz="2100">
                <a:ea typeface="+mn-lt"/>
                <a:cs typeface="+mn-lt"/>
              </a:rPr>
              <a:t>: </a:t>
            </a:r>
            <a:r>
              <a:rPr lang="cs-CZ" sz="2100" err="1">
                <a:ea typeface="+mn-lt"/>
                <a:cs typeface="+mn-lt"/>
              </a:rPr>
              <a:t>VMware</a:t>
            </a:r>
            <a:r>
              <a:rPr lang="cs-CZ" sz="2100">
                <a:ea typeface="+mn-lt"/>
                <a:cs typeface="+mn-lt"/>
              </a:rPr>
              <a:t>, Microsoft Hyper-V.</a:t>
            </a:r>
            <a:endParaRPr lang="cs-CZ" sz="2100">
              <a:ea typeface="Calibri"/>
              <a:cs typeface="Calibri"/>
            </a:endParaRPr>
          </a:p>
          <a:p>
            <a:pPr marL="304165" indent="-304165" algn="just"/>
            <a:endParaRPr lang="cs-CZ" sz="2000">
              <a:ea typeface="Calibri"/>
              <a:cs typeface="Calibri"/>
            </a:endParaRPr>
          </a:p>
        </p:txBody>
      </p:sp>
      <p:pic>
        <p:nvPicPr>
          <p:cNvPr id="5128" name="Picture 8" descr="Linux Server">
            <a:extLst>
              <a:ext uri="{FF2B5EF4-FFF2-40B4-BE49-F238E27FC236}">
                <a16:creationId xmlns:a16="http://schemas.microsoft.com/office/drawing/2014/main" id="{99DC0B9C-1787-FF71-301B-7016D146A3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689" y="4151126"/>
            <a:ext cx="3556891" cy="1482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Obrázek 3" descr="Recover Data on an Ext4 File System -- How Gillware Can Help">
            <a:extLst>
              <a:ext uri="{FF2B5EF4-FFF2-40B4-BE49-F238E27FC236}">
                <a16:creationId xmlns:a16="http://schemas.microsoft.com/office/drawing/2014/main" id="{8E3C5E4C-CE78-EFA9-FE35-63B9777456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8289" y="1712519"/>
            <a:ext cx="2743199" cy="191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1892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cs-CZ" err="1"/>
              <a:t>Command</a:t>
            </a:r>
            <a:r>
              <a:rPr lang="cs-CZ"/>
              <a:t>-Line Interface a </a:t>
            </a:r>
            <a:r>
              <a:rPr lang="cs-CZ" err="1"/>
              <a:t>Graphical</a:t>
            </a:r>
            <a:r>
              <a:rPr lang="cs-CZ"/>
              <a:t> User Interface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53626F68-E74B-65B8-436E-7F2224C83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7152" y="1844824"/>
            <a:ext cx="7914520" cy="3632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0391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</p:spPr>
        <p:txBody>
          <a:bodyPr rtlCol="0" anchor="b">
            <a:normAutofit/>
          </a:bodyPr>
          <a:lstStyle/>
          <a:p>
            <a:pPr rtl="0"/>
            <a:r>
              <a:rPr lang="cs-CZ"/>
              <a:t>Využití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E4BD5FA-FABB-D00F-5AB9-FD951B4621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8883" y="1628800"/>
            <a:ext cx="5078677" cy="4465320"/>
          </a:xfrm>
        </p:spPr>
        <p:txBody>
          <a:bodyPr vert="horz" lIns="121899" tIns="60949" rIns="121899" bIns="60949" rtlCol="0" anchor="t">
            <a:normAutofit/>
          </a:bodyPr>
          <a:lstStyle/>
          <a:p>
            <a:pPr marL="0" indent="0">
              <a:buNone/>
            </a:pPr>
            <a:r>
              <a:rPr lang="cs-CZ" b="1" err="1"/>
              <a:t>Command</a:t>
            </a:r>
            <a:r>
              <a:rPr lang="cs-CZ" b="1"/>
              <a:t> line interface</a:t>
            </a:r>
          </a:p>
          <a:p>
            <a:pPr marL="304165" indent="-304165">
              <a:buFont typeface="Arial" panose="020B0604020202020204" pitchFamily="34" charset="0"/>
              <a:buChar char="•"/>
            </a:pPr>
            <a:r>
              <a:rPr lang="cs-CZ" sz="2000" b="1"/>
              <a:t>Cílová skupina</a:t>
            </a:r>
            <a:r>
              <a:rPr lang="cs-CZ" sz="2000"/>
              <a:t>: Systémoví administrátoři, vývojáři, pokročilí uživatelé.</a:t>
            </a:r>
            <a:endParaRPr lang="cs-CZ" sz="2000">
              <a:cs typeface="Calibri"/>
            </a:endParaRPr>
          </a:p>
          <a:p>
            <a:pPr marL="304165" indent="-304165">
              <a:buFont typeface="Arial" panose="020B0604020202020204" pitchFamily="34" charset="0"/>
              <a:buChar char="•"/>
            </a:pPr>
            <a:r>
              <a:rPr lang="cs-CZ" sz="2000" b="1"/>
              <a:t>Výhody</a:t>
            </a:r>
            <a:r>
              <a:rPr lang="cs-CZ" sz="2000"/>
              <a:t>:</a:t>
            </a:r>
            <a:endParaRPr lang="cs-CZ" sz="2000"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sz="1800"/>
              <a:t>Rychlost a efektivita při provádění opakovaných úloh.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sz="1800"/>
              <a:t>Vhodné pro </a:t>
            </a:r>
            <a:r>
              <a:rPr lang="cs-CZ" sz="1800">
                <a:solidFill>
                  <a:srgbClr val="FF0000"/>
                </a:solidFill>
              </a:rPr>
              <a:t>správu serverů a skriptování</a:t>
            </a:r>
            <a:r>
              <a:rPr lang="cs-CZ" sz="1800"/>
              <a:t>.</a:t>
            </a:r>
          </a:p>
          <a:p>
            <a:pPr marL="304165" indent="-304165"/>
            <a:endParaRPr lang="en-US" sz="2000">
              <a:cs typeface="Calibri"/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3C55034-DA20-738B-E63F-6A4DBE28CF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00707" y="1628800"/>
            <a:ext cx="5078677" cy="4465320"/>
          </a:xfrm>
        </p:spPr>
        <p:txBody>
          <a:bodyPr vert="horz" lIns="121899" tIns="60949" rIns="121899" bIns="60949" rtlCol="0" anchor="t">
            <a:normAutofit/>
          </a:bodyPr>
          <a:lstStyle/>
          <a:p>
            <a:pPr marL="0" indent="0">
              <a:buNone/>
            </a:pPr>
            <a:r>
              <a:rPr lang="cs-CZ" err="1"/>
              <a:t>Graphical</a:t>
            </a:r>
            <a:r>
              <a:rPr lang="cs-CZ"/>
              <a:t> user interface</a:t>
            </a:r>
          </a:p>
          <a:p>
            <a:pPr marL="304165" indent="-304165">
              <a:buFont typeface="Arial" panose="020B0604020202020204" pitchFamily="34" charset="0"/>
              <a:buChar char="•"/>
            </a:pPr>
            <a:r>
              <a:rPr lang="cs-CZ" sz="2000" b="1"/>
              <a:t>Cílová skupina</a:t>
            </a:r>
            <a:r>
              <a:rPr lang="cs-CZ" sz="2000"/>
              <a:t>: Běžní uživatelé, kteří preferují jednoduchost.</a:t>
            </a:r>
            <a:endParaRPr lang="cs-CZ" sz="2000">
              <a:cs typeface="Calibri"/>
            </a:endParaRPr>
          </a:p>
          <a:p>
            <a:pPr marL="304165" indent="-304165">
              <a:buFont typeface="Arial" panose="020B0604020202020204" pitchFamily="34" charset="0"/>
              <a:buChar char="•"/>
            </a:pPr>
            <a:r>
              <a:rPr lang="cs-CZ" sz="2000" b="1"/>
              <a:t>Výhody:</a:t>
            </a:r>
            <a:endParaRPr lang="cs-CZ" sz="2000" b="1"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sz="2000"/>
              <a:t>Vizuální a intuitivní přístup k funkcím.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sz="2000"/>
              <a:t>Snadná orientace díky </a:t>
            </a:r>
            <a:r>
              <a:rPr lang="cs-CZ" sz="2000">
                <a:solidFill>
                  <a:srgbClr val="FF0000"/>
                </a:solidFill>
              </a:rPr>
              <a:t>grafickým prvkům a menu</a:t>
            </a:r>
            <a:r>
              <a:rPr lang="cs-CZ" sz="2000"/>
              <a:t>.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6151" name="Picture 7" descr="CLI vs GUI - Which one is better?">
            <a:extLst>
              <a:ext uri="{FF2B5EF4-FFF2-40B4-BE49-F238E27FC236}">
                <a16:creationId xmlns:a16="http://schemas.microsoft.com/office/drawing/2014/main" id="{9E7FB04D-4F91-DB10-F9CE-CE7F4A278B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993304" y="4365104"/>
            <a:ext cx="4608512" cy="2371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7108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BC3C1-9ECE-BDF1-B8A0-68C12C4E5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97B3FAF-9120-47CB-D689-D89AB9E0B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</p:spPr>
        <p:txBody>
          <a:bodyPr rtlCol="0" anchor="b">
            <a:normAutofit/>
          </a:bodyPr>
          <a:lstStyle/>
          <a:p>
            <a:pPr rtl="0"/>
            <a:r>
              <a:rPr lang="cs-CZ"/>
              <a:t>Proces zavedení OS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6E921BEF-258B-8C54-562D-A0C239F986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 vert="horz" lIns="121899" tIns="60949" rIns="121899" bIns="60949" rtlCol="0" anchor="t">
            <a:normAutofit/>
          </a:bodyPr>
          <a:lstStyle/>
          <a:p>
            <a:pPr marL="0" indent="0">
              <a:buNone/>
            </a:pPr>
            <a:r>
              <a:rPr lang="cs-CZ" sz="1500" b="1"/>
              <a:t>Hlavní kroky:</a:t>
            </a:r>
          </a:p>
          <a:p>
            <a:pPr marL="304165" indent="-304165">
              <a:buFont typeface="Arial" panose="020B0604020202020204" pitchFamily="34" charset="0"/>
              <a:buChar char="•"/>
            </a:pPr>
            <a:r>
              <a:rPr lang="cs-CZ" sz="1500" b="1"/>
              <a:t>POST (</a:t>
            </a:r>
            <a:r>
              <a:rPr lang="cs-CZ" sz="1500" b="1" err="1"/>
              <a:t>Power</a:t>
            </a:r>
            <a:r>
              <a:rPr lang="cs-CZ" sz="1500" b="1"/>
              <a:t>-On </a:t>
            </a:r>
            <a:r>
              <a:rPr lang="cs-CZ" sz="1500" b="1" err="1"/>
              <a:t>Self</a:t>
            </a:r>
            <a:r>
              <a:rPr lang="cs-CZ" sz="1500" b="1"/>
              <a:t> Test)</a:t>
            </a:r>
            <a:r>
              <a:rPr lang="cs-CZ" sz="1500"/>
              <a:t>: </a:t>
            </a:r>
            <a:r>
              <a:rPr lang="cs-CZ" sz="1500">
                <a:solidFill>
                  <a:srgbClr val="FF0000"/>
                </a:solidFill>
              </a:rPr>
              <a:t>Kontrola hardware</a:t>
            </a:r>
            <a:r>
              <a:rPr lang="cs-CZ" sz="1500"/>
              <a:t>, připravení </a:t>
            </a:r>
            <a:r>
              <a:rPr lang="cs-CZ" sz="1500" err="1"/>
              <a:t>zařizení</a:t>
            </a:r>
            <a:r>
              <a:rPr lang="cs-CZ" sz="1500"/>
              <a:t> pro práci</a:t>
            </a:r>
            <a:endParaRPr lang="cs-CZ" sz="1500">
              <a:cs typeface="Calibri"/>
            </a:endParaRPr>
          </a:p>
          <a:p>
            <a:pPr marL="304165" indent="-304165">
              <a:buFont typeface="Arial" panose="020B0604020202020204" pitchFamily="34" charset="0"/>
              <a:buChar char="•"/>
            </a:pPr>
            <a:r>
              <a:rPr lang="cs-CZ" sz="1500" b="1"/>
              <a:t>Načtení zaváděcího sektoru</a:t>
            </a:r>
            <a:r>
              <a:rPr lang="cs-CZ" sz="1500"/>
              <a:t>: Program (</a:t>
            </a:r>
            <a:r>
              <a:rPr lang="cs-CZ" sz="1500" err="1">
                <a:solidFill>
                  <a:srgbClr val="FF0000"/>
                </a:solidFill>
              </a:rPr>
              <a:t>bootloader</a:t>
            </a:r>
            <a:r>
              <a:rPr lang="cs-CZ" sz="1500"/>
              <a:t>) načte jádro OS, </a:t>
            </a:r>
            <a:r>
              <a:rPr lang="cs-CZ" sz="1500">
                <a:solidFill>
                  <a:srgbClr val="FF0000"/>
                </a:solidFill>
              </a:rPr>
              <a:t>inicializuje hardware</a:t>
            </a:r>
            <a:r>
              <a:rPr lang="cs-CZ" sz="1500"/>
              <a:t>.</a:t>
            </a:r>
            <a:endParaRPr lang="cs-CZ" sz="1500">
              <a:cs typeface="Calibri"/>
            </a:endParaRPr>
          </a:p>
          <a:p>
            <a:pPr marL="304165" indent="-304165">
              <a:buFont typeface="Arial" panose="020B0604020202020204" pitchFamily="34" charset="0"/>
              <a:buChar char="•"/>
            </a:pPr>
            <a:r>
              <a:rPr lang="cs-CZ" sz="1500" b="1"/>
              <a:t>Zavádění jádra OS</a:t>
            </a:r>
            <a:r>
              <a:rPr lang="cs-CZ" sz="1500"/>
              <a:t>: Centrální část operačního systému. Načtení a inicializace </a:t>
            </a:r>
            <a:r>
              <a:rPr lang="cs-CZ" sz="1500">
                <a:solidFill>
                  <a:srgbClr val="FF0000"/>
                </a:solidFill>
              </a:rPr>
              <a:t>systémových zdrojů</a:t>
            </a:r>
            <a:r>
              <a:rPr lang="cs-CZ" sz="1500"/>
              <a:t>.</a:t>
            </a:r>
            <a:endParaRPr lang="cs-CZ" sz="1500">
              <a:cs typeface="Calibri"/>
            </a:endParaRPr>
          </a:p>
          <a:p>
            <a:pPr marL="304165" indent="-304165">
              <a:buFont typeface="Arial" panose="020B0604020202020204" pitchFamily="34" charset="0"/>
              <a:buChar char="•"/>
            </a:pPr>
            <a:r>
              <a:rPr lang="cs-CZ" sz="1500" b="1"/>
              <a:t>Spuštění systémových procesů</a:t>
            </a:r>
            <a:r>
              <a:rPr lang="cs-CZ" sz="1500"/>
              <a:t>: Aktivace nezbytných procesů pro běh OS. </a:t>
            </a:r>
            <a:r>
              <a:rPr lang="cs-CZ" sz="1500">
                <a:solidFill>
                  <a:srgbClr val="FF0000"/>
                </a:solidFill>
              </a:rPr>
              <a:t>Řízení paměti a procesorů</a:t>
            </a:r>
            <a:endParaRPr lang="cs-CZ" sz="1500">
              <a:solidFill>
                <a:srgbClr val="FF0000"/>
              </a:solidFill>
              <a:cs typeface="Calibri"/>
            </a:endParaRPr>
          </a:p>
          <a:p>
            <a:pPr marL="304165" indent="-304165">
              <a:buFont typeface="Arial" panose="020B0604020202020204" pitchFamily="34" charset="0"/>
              <a:buChar char="•"/>
            </a:pPr>
            <a:r>
              <a:rPr lang="cs-CZ" sz="1500" b="1"/>
              <a:t>Aktivace uživatelského rozhraní</a:t>
            </a:r>
            <a:r>
              <a:rPr lang="cs-CZ" sz="1500"/>
              <a:t>: Umožňuje uživateli </a:t>
            </a:r>
            <a:r>
              <a:rPr lang="cs-CZ" sz="1500">
                <a:solidFill>
                  <a:srgbClr val="FF0000"/>
                </a:solidFill>
              </a:rPr>
              <a:t>interagovat s OS</a:t>
            </a:r>
            <a:r>
              <a:rPr lang="cs-CZ" sz="1500"/>
              <a:t>.</a:t>
            </a:r>
            <a:endParaRPr lang="cs-CZ" sz="1500">
              <a:cs typeface="Calibri"/>
            </a:endParaRPr>
          </a:p>
          <a:p>
            <a:pPr marL="304165" indent="-304165"/>
            <a:endParaRPr lang="cs-CZ" sz="1500">
              <a:cs typeface="Calibri"/>
            </a:endParaRPr>
          </a:p>
        </p:txBody>
      </p:sp>
      <p:pic>
        <p:nvPicPr>
          <p:cNvPr id="7170" name="Picture 2" descr="undefined">
            <a:extLst>
              <a:ext uri="{FF2B5EF4-FFF2-40B4-BE49-F238E27FC236}">
                <a16:creationId xmlns:a16="http://schemas.microsoft.com/office/drawing/2014/main" id="{7385E400-B511-D0A7-B602-9949BFD80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00707" y="2035036"/>
            <a:ext cx="5078677" cy="3809007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41317071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2E5E4-EE48-3573-685F-A2E16FBA1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9C335DF-A6E8-3715-8A50-F9A3C0829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</p:spPr>
        <p:txBody>
          <a:bodyPr rtlCol="0" anchor="b">
            <a:normAutofit/>
          </a:bodyPr>
          <a:lstStyle/>
          <a:p>
            <a:pPr rtl="0"/>
            <a:r>
              <a:rPr lang="cs-CZ"/>
              <a:t>LOGY v operačních systémech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A0EF47F2-7FF0-0190-6216-09923B28BD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 vert="horz" lIns="121899" tIns="60949" rIns="121899" bIns="60949" rtlCol="0" anchor="t">
            <a:normAutofit/>
          </a:bodyPr>
          <a:lstStyle/>
          <a:p>
            <a:pPr marL="304165" indent="-304165"/>
            <a:r>
              <a:rPr lang="cs-CZ" sz="1500"/>
              <a:t>představují </a:t>
            </a:r>
            <a:r>
              <a:rPr lang="cs-CZ" sz="1500">
                <a:solidFill>
                  <a:srgbClr val="FF0000"/>
                </a:solidFill>
              </a:rPr>
              <a:t>záznamy událostí a činností</a:t>
            </a:r>
            <a:r>
              <a:rPr lang="cs-CZ" sz="1500"/>
              <a:t>, které jsou zásadní pro diagnostiku, sledování </a:t>
            </a:r>
            <a:r>
              <a:rPr lang="cs-CZ" sz="1500">
                <a:solidFill>
                  <a:srgbClr val="FF0000"/>
                </a:solidFill>
              </a:rPr>
              <a:t>výkonu a zabezpečení</a:t>
            </a:r>
            <a:r>
              <a:rPr lang="cs-CZ" sz="1500"/>
              <a:t> systémů.</a:t>
            </a:r>
            <a:endParaRPr lang="en-US"/>
          </a:p>
          <a:p>
            <a:pPr marL="0" indent="0">
              <a:buNone/>
            </a:pPr>
            <a:r>
              <a:rPr lang="cs-CZ" sz="1500" b="1"/>
              <a:t>Důvody použití:</a:t>
            </a:r>
            <a:endParaRPr lang="cs-CZ" sz="1500" b="1">
              <a:cs typeface="Calibri"/>
            </a:endParaRPr>
          </a:p>
          <a:p>
            <a:pPr marL="0" indent="0">
              <a:buNone/>
            </a:pPr>
            <a:r>
              <a:rPr lang="cs-CZ" sz="1500"/>
              <a:t>Používají se </a:t>
            </a:r>
            <a:r>
              <a:rPr lang="cs-CZ" sz="1500">
                <a:solidFill>
                  <a:srgbClr val="FF0000"/>
                </a:solidFill>
              </a:rPr>
              <a:t>k diagnostice a řešení problému</a:t>
            </a:r>
            <a:r>
              <a:rPr lang="cs-CZ" sz="1500"/>
              <a:t>, což zahrnuje sledování chyb a událostí, které mohou administrátorovi pomoct při </a:t>
            </a:r>
            <a:r>
              <a:rPr lang="cs-CZ" sz="1500">
                <a:solidFill>
                  <a:srgbClr val="FF0000"/>
                </a:solidFill>
              </a:rPr>
              <a:t>identifikaci a odstranění problémů</a:t>
            </a:r>
            <a:r>
              <a:rPr lang="cs-CZ" sz="1500"/>
              <a:t>.</a:t>
            </a:r>
            <a:endParaRPr lang="cs-CZ" sz="1500">
              <a:cs typeface="Calibri"/>
            </a:endParaRPr>
          </a:p>
          <a:p>
            <a:pPr marL="0" indent="0">
              <a:buNone/>
            </a:pPr>
            <a:r>
              <a:rPr lang="cs-CZ" sz="1500"/>
              <a:t>Umožňují</a:t>
            </a:r>
            <a:r>
              <a:rPr lang="cs-CZ" sz="1500">
                <a:solidFill>
                  <a:srgbClr val="FF0000"/>
                </a:solidFill>
              </a:rPr>
              <a:t> sledovat výkon systému a aplikací</a:t>
            </a:r>
            <a:r>
              <a:rPr lang="cs-CZ" sz="1500"/>
              <a:t> a identifikovat možné </a:t>
            </a:r>
            <a:r>
              <a:rPr lang="cs-CZ" sz="1500">
                <a:solidFill>
                  <a:srgbClr val="FF0000"/>
                </a:solidFill>
              </a:rPr>
              <a:t>úzké hrdlo</a:t>
            </a:r>
            <a:r>
              <a:rPr lang="cs-CZ" sz="1500"/>
              <a:t>.</a:t>
            </a:r>
          </a:p>
          <a:p>
            <a:pPr marL="0" indent="0">
              <a:buNone/>
            </a:pPr>
            <a:r>
              <a:rPr lang="cs-CZ" sz="1500"/>
              <a:t>Jsou </a:t>
            </a:r>
            <a:r>
              <a:rPr lang="cs-CZ" sz="1500">
                <a:solidFill>
                  <a:srgbClr val="FF0000"/>
                </a:solidFill>
              </a:rPr>
              <a:t>nezbytné pro zajištění bezpečnosti</a:t>
            </a:r>
            <a:r>
              <a:rPr lang="cs-CZ" sz="1500"/>
              <a:t>, neboť zaznamenávají </a:t>
            </a:r>
            <a:r>
              <a:rPr lang="cs-CZ" sz="1500">
                <a:solidFill>
                  <a:srgbClr val="FF0000"/>
                </a:solidFill>
              </a:rPr>
              <a:t>podezřelé aktivity</a:t>
            </a:r>
            <a:r>
              <a:rPr lang="cs-CZ" sz="1500"/>
              <a:t> a pokusy o </a:t>
            </a:r>
            <a:r>
              <a:rPr lang="cs-CZ" sz="1500">
                <a:solidFill>
                  <a:srgbClr val="FF0000"/>
                </a:solidFill>
              </a:rPr>
              <a:t>neautorizovaný přístup</a:t>
            </a:r>
            <a:r>
              <a:rPr lang="cs-CZ" sz="1500"/>
              <a:t>.</a:t>
            </a:r>
            <a:endParaRPr lang="cs-CZ" sz="1500">
              <a:cs typeface="Calibri"/>
            </a:endParaRPr>
          </a:p>
          <a:p>
            <a:pPr marL="0" indent="0">
              <a:buNone/>
            </a:pPr>
            <a:r>
              <a:rPr lang="cs-CZ" sz="1500"/>
              <a:t>Poskytují </a:t>
            </a:r>
            <a:r>
              <a:rPr lang="cs-CZ" sz="1500">
                <a:solidFill>
                  <a:srgbClr val="FF0000"/>
                </a:solidFill>
              </a:rPr>
              <a:t>historické údaje</a:t>
            </a:r>
            <a:r>
              <a:rPr lang="cs-CZ" sz="1500"/>
              <a:t>, které jsou důležité pro</a:t>
            </a:r>
            <a:r>
              <a:rPr lang="cs-CZ" sz="1500">
                <a:solidFill>
                  <a:srgbClr val="FF0000"/>
                </a:solidFill>
              </a:rPr>
              <a:t> auditování a sledování změn </a:t>
            </a:r>
            <a:r>
              <a:rPr lang="cs-CZ" sz="1500"/>
              <a:t>v systému.</a:t>
            </a:r>
            <a:endParaRPr lang="cs-CZ" sz="1500">
              <a:cs typeface="Calibri"/>
            </a:endParaRPr>
          </a:p>
          <a:p>
            <a:pPr marL="0" indent="0">
              <a:buNone/>
            </a:pPr>
            <a:endParaRPr lang="cs-CZ" sz="1500"/>
          </a:p>
        </p:txBody>
      </p:sp>
      <p:pic>
        <p:nvPicPr>
          <p:cNvPr id="8199" name="Picture 7" descr="How to Read Log Files on Windows, Mac, and Linux">
            <a:extLst>
              <a:ext uri="{FF2B5EF4-FFF2-40B4-BE49-F238E27FC236}">
                <a16:creationId xmlns:a16="http://schemas.microsoft.com/office/drawing/2014/main" id="{32FAC0F3-ADFF-CD46-452C-5442CFBB8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00707" y="2352453"/>
            <a:ext cx="5078677" cy="3174173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36903390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A140EE0-DD3B-E6E5-0A81-A1FD965B9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</p:spPr>
        <p:txBody>
          <a:bodyPr/>
          <a:lstStyle/>
          <a:p>
            <a:r>
              <a:rPr lang="cs-CZ" b="1"/>
              <a:t>Typy logových souborů</a:t>
            </a:r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804486E-2673-0E78-8B0F-B275510A0C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18883" y="1762795"/>
            <a:ext cx="761183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04165" marR="0" lvl="0" indent="-304165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cs-CZ" altLang="cs-CZ" sz="1800" b="1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Systémové logy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: Zaznamenávají 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/>
                <a:cs typeface="Arial"/>
              </a:rPr>
              <a:t>události systému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, jako jsou chyby jádra a další klíčové události.</a:t>
            </a:r>
            <a:endParaRPr lang="en-US"/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cs-CZ" altLang="cs-CZ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04165" marR="0" lvl="0" indent="-304165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cs-CZ" altLang="cs-CZ" sz="1800" b="1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Aplikační logy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: Zaměřují se na 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/>
                <a:cs typeface="Arial"/>
              </a:rPr>
              <a:t>konkrétní aplikace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 a jejich chování.</a:t>
            </a:r>
            <a:endParaRPr lang="cs-CZ" altLang="cs-CZ" sz="1800" b="0" i="0" u="none" strike="noStrike" cap="none" normalizeH="0" baseline="0">
              <a:ln>
                <a:noFill/>
              </a:ln>
              <a:effectLst/>
              <a:latin typeface="Arial"/>
              <a:cs typeface="Arial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</a:pPr>
            <a:endParaRPr lang="cs-CZ" altLang="cs-CZ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4165" marR="0" lvl="0" indent="-304165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cs-CZ" altLang="cs-CZ" sz="1800" b="1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Bezpečnostní logy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: Zaznamenávají 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/>
                <a:cs typeface="Arial"/>
              </a:rPr>
              <a:t>bezpečnostní události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 a pokusy o přístup.</a:t>
            </a:r>
            <a:endParaRPr lang="cs-CZ" altLang="cs-CZ" sz="1800" b="0" i="0" u="none" strike="noStrike" cap="none" normalizeH="0" baseline="0">
              <a:ln>
                <a:noFill/>
              </a:ln>
              <a:effectLst/>
              <a:latin typeface="Arial"/>
              <a:cs typeface="Arial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</a:pPr>
            <a:endParaRPr lang="cs-CZ" altLang="cs-CZ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4165" marR="0" lvl="0" indent="-304165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</a:pPr>
            <a:r>
              <a:rPr kumimoji="0" lang="cs-CZ" altLang="cs-CZ" sz="1800" b="1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Transakční logy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: Používají se v databázových systémech pro 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/>
                <a:cs typeface="Arial"/>
              </a:rPr>
              <a:t>sledování změn v databázi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.</a:t>
            </a:r>
            <a:endParaRPr lang="cs-CZ" altLang="cs-CZ" sz="1800" b="0" i="0" u="none" strike="noStrike" cap="none" normalizeH="0" baseline="0">
              <a:ln>
                <a:noFill/>
              </a:ln>
              <a:effectLst/>
              <a:latin typeface="Arial"/>
              <a:cs typeface="Arial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</a:pPr>
            <a:endParaRPr lang="cs-CZ" altLang="cs-CZ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4165" marR="0" lvl="0" indent="-304165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</a:pPr>
            <a:r>
              <a:rPr kumimoji="0" lang="cs-CZ" altLang="cs-CZ" sz="1800" b="1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Logy o výkonu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: Sledují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/>
                <a:cs typeface="Arial"/>
              </a:rPr>
              <a:t> metriky výkonu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 a využití systémových zdrojů </a:t>
            </a:r>
            <a:endParaRPr lang="cs-CZ" altLang="cs-CZ" sz="1800" b="0" i="0" u="none" strike="noStrike" cap="none" normalizeH="0" baseline="0">
              <a:ln>
                <a:noFill/>
              </a:ln>
              <a:effectLst/>
              <a:latin typeface="Arial"/>
              <a:cs typeface="Arial"/>
            </a:endParaRPr>
          </a:p>
        </p:txBody>
      </p:sp>
      <p:pic>
        <p:nvPicPr>
          <p:cNvPr id="9219" name="Picture 3" descr="Log file - Free interface icons">
            <a:extLst>
              <a:ext uri="{FF2B5EF4-FFF2-40B4-BE49-F238E27FC236}">
                <a16:creationId xmlns:a16="http://schemas.microsoft.com/office/drawing/2014/main" id="{36A46783-11B3-5FB2-426A-214995CF74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0716" y="1916832"/>
            <a:ext cx="3416320" cy="3416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76478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F4BC242-14D2-60D9-92F7-C31BB09B9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189" y="274638"/>
            <a:ext cx="10533195" cy="1067292"/>
          </a:xfrm>
        </p:spPr>
        <p:txBody>
          <a:bodyPr/>
          <a:lstStyle/>
          <a:p>
            <a:r>
              <a:rPr lang="cs-CZ"/>
              <a:t>Logování v Linuxu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89A0EAC-0716-78E2-E0A4-3EFF566188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6189" y="1341929"/>
            <a:ext cx="10096446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altLang="cs-CZ"/>
              <a:t>Nástroj: </a:t>
            </a:r>
            <a:r>
              <a:rPr lang="cs-CZ" altLang="cs-CZ" err="1"/>
              <a:t>syslog</a:t>
            </a:r>
            <a:endParaRPr lang="cs-CZ" altLang="cs-CZ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cs-CZ" altLang="cs-CZ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altLang="cs-CZ"/>
              <a:t>Záznamy: V Linuxu se logy typicky ukládají do souboru </a:t>
            </a:r>
            <a:r>
              <a:rPr lang="cs-CZ" altLang="cs-CZ">
                <a:solidFill>
                  <a:srgbClr val="FF0000"/>
                </a:solidFill>
              </a:rPr>
              <a:t>/var/log/</a:t>
            </a:r>
            <a:r>
              <a:rPr lang="cs-CZ" altLang="cs-CZ" err="1">
                <a:solidFill>
                  <a:srgbClr val="FF0000"/>
                </a:solidFill>
              </a:rPr>
              <a:t>syslog</a:t>
            </a:r>
            <a:r>
              <a:rPr lang="cs-CZ" altLang="cs-CZ">
                <a:solidFill>
                  <a:srgbClr val="FF0000"/>
                </a:solidFill>
              </a:rPr>
              <a:t> nebo /var/log/</a:t>
            </a:r>
            <a:r>
              <a:rPr lang="cs-CZ" altLang="cs-CZ" err="1">
                <a:solidFill>
                  <a:srgbClr val="FF0000"/>
                </a:solidFill>
              </a:rPr>
              <a:t>messages</a:t>
            </a:r>
            <a:r>
              <a:rPr lang="cs-CZ" altLang="cs-CZ"/>
              <a:t>. Tyto soubory obsahují informace o různých událostech v systému, jako jsou starty a zastavení služeb, chyby a varování.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cs-CZ" b="1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b="1"/>
              <a:t>Příkaz pro zobrazení logů</a:t>
            </a:r>
            <a:r>
              <a:rPr lang="cs-CZ"/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a-DK">
                <a:solidFill>
                  <a:srgbClr val="FF0000"/>
                </a:solidFill>
              </a:rPr>
              <a:t>tail -f /var/log/syslog</a:t>
            </a:r>
            <a:endParaRPr lang="da-DK">
              <a:solidFill>
                <a:srgbClr val="FF0000"/>
              </a:solidFill>
              <a:cs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cs-CZ" altLang="cs-CZ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9DAD0AEF-CBFE-05EA-95D9-AE03423C1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803" y="5319140"/>
            <a:ext cx="10317218" cy="1264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3136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D0D15-D0FD-8C70-29BB-FCA007C43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A92DC9C-10C4-6116-7219-55698F0F4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</p:spPr>
        <p:txBody>
          <a:bodyPr anchor="b">
            <a:normAutofit/>
          </a:bodyPr>
          <a:lstStyle/>
          <a:p>
            <a:r>
              <a:rPr lang="cs-CZ"/>
              <a:t>Logování ve Windows</a:t>
            </a:r>
            <a:endParaRPr lang="cs-CZ">
              <a:cs typeface="Calibri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41A10E8-EC97-239B-52D5-C526230E5E4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218883" y="1706880"/>
            <a:ext cx="5078677" cy="446532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cs-CZ" altLang="cs-CZ" sz="2000"/>
              <a:t>Nástroj: </a:t>
            </a:r>
            <a:r>
              <a:rPr lang="cs-CZ" sz="2000"/>
              <a:t>Event </a:t>
            </a:r>
            <a:r>
              <a:rPr lang="cs-CZ" sz="2000" err="1"/>
              <a:t>Viewer</a:t>
            </a:r>
            <a:r>
              <a:rPr lang="cs-CZ" sz="2000"/>
              <a:t> (Prohlížeč událostí)</a:t>
            </a:r>
            <a:endParaRPr lang="cs-CZ" altLang="cs-CZ" sz="2000"/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lang="cs-CZ" altLang="cs-CZ" sz="2000"/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cs-CZ" altLang="cs-CZ" sz="2000"/>
              <a:t>Záznamy: </a:t>
            </a:r>
            <a:r>
              <a:rPr lang="cs-CZ" sz="2000"/>
              <a:t>Windows uchovává logy v </a:t>
            </a:r>
            <a:r>
              <a:rPr lang="cs-CZ" sz="2000">
                <a:solidFill>
                  <a:srgbClr val="FF0000"/>
                </a:solidFill>
              </a:rPr>
              <a:t>Prohlížeči událostí</a:t>
            </a:r>
            <a:r>
              <a:rPr lang="cs-CZ" sz="2000"/>
              <a:t>, který obsahuje kategorie jako "Aplikace", "Systém" a "Zabezpečení". Tyto logy obsahují informace o chybách aplikací, systémových událostech a bezpečnostních incidentech</a:t>
            </a:r>
            <a:endParaRPr lang="cs-CZ" altLang="cs-CZ" sz="2000"/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lang="cs-CZ" sz="2000" b="1"/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cs-CZ" sz="2000" b="1"/>
              <a:t>Způsob zobrazení</a:t>
            </a:r>
            <a:r>
              <a:rPr lang="cs-CZ" sz="2000"/>
              <a:t>:</a:t>
            </a:r>
            <a:endParaRPr lang="cs-CZ" sz="2000">
              <a:cs typeface="Calibri"/>
            </a:endParaRPr>
          </a:p>
          <a:p>
            <a:pPr marL="304165" indent="-304165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lang="cs-CZ" sz="2000"/>
              <a:t>Otevřete </a:t>
            </a:r>
            <a:r>
              <a:rPr lang="cs-CZ" sz="2000">
                <a:solidFill>
                  <a:srgbClr val="FF0000"/>
                </a:solidFill>
              </a:rPr>
              <a:t>Prohlížeč událostí</a:t>
            </a:r>
            <a:r>
              <a:rPr lang="cs-CZ" sz="2000"/>
              <a:t>, spusťte </a:t>
            </a:r>
            <a:r>
              <a:rPr lang="cs-CZ" sz="2000" err="1">
                <a:solidFill>
                  <a:srgbClr val="FF0000"/>
                </a:solidFill>
              </a:rPr>
              <a:t>eventvwr.msc</a:t>
            </a:r>
            <a:r>
              <a:rPr lang="cs-CZ" sz="2000"/>
              <a:t> z dialogu </a:t>
            </a:r>
            <a:r>
              <a:rPr lang="cs-CZ" sz="2000">
                <a:solidFill>
                  <a:srgbClr val="FF0000"/>
                </a:solidFill>
              </a:rPr>
              <a:t>Spustit (</a:t>
            </a:r>
            <a:r>
              <a:rPr lang="cs-CZ" sz="2000" err="1">
                <a:solidFill>
                  <a:srgbClr val="FF0000"/>
                </a:solidFill>
              </a:rPr>
              <a:t>win</a:t>
            </a:r>
            <a:r>
              <a:rPr lang="cs-CZ" sz="2000">
                <a:solidFill>
                  <a:srgbClr val="FF0000"/>
                </a:solidFill>
              </a:rPr>
              <a:t> + R)</a:t>
            </a:r>
            <a:endParaRPr lang="cs-CZ" sz="2000">
              <a:solidFill>
                <a:srgbClr val="FF0000"/>
              </a:solidFill>
              <a:cs typeface="Calibri"/>
            </a:endParaRPr>
          </a:p>
          <a:p>
            <a:pPr marL="304165" indent="-304165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lang="cs-CZ" sz="2000"/>
              <a:t>V levém panelu vyberte </a:t>
            </a:r>
            <a:r>
              <a:rPr lang="cs-CZ" sz="2000">
                <a:solidFill>
                  <a:srgbClr val="FF0000"/>
                </a:solidFill>
              </a:rPr>
              <a:t>příslušnou kategorii</a:t>
            </a:r>
            <a:r>
              <a:rPr lang="cs-CZ" sz="2000"/>
              <a:t> (např. Systém), abyste viděli záznamy.</a:t>
            </a:r>
            <a:endParaRPr lang="cs-CZ" sz="2000">
              <a:cs typeface="Calibri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lang="cs-CZ" altLang="cs-CZ" sz="2000"/>
          </a:p>
        </p:txBody>
      </p:sp>
      <p:pic>
        <p:nvPicPr>
          <p:cNvPr id="16" name="Obrázek 15">
            <a:extLst>
              <a:ext uri="{FF2B5EF4-FFF2-40B4-BE49-F238E27FC236}">
                <a16:creationId xmlns:a16="http://schemas.microsoft.com/office/drawing/2014/main" id="{5DCF6BF2-414F-15FE-DF01-ED933E05C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707" y="2245267"/>
            <a:ext cx="5078677" cy="338854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554044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E4C0994-2E7F-C2EC-F0D3-7A57E0DA0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</p:spPr>
        <p:txBody>
          <a:bodyPr anchor="b">
            <a:normAutofit/>
          </a:bodyPr>
          <a:lstStyle/>
          <a:p>
            <a:r>
              <a:rPr lang="cs-CZ"/>
              <a:t>Zdroje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E82274A-DB9E-75B6-1A14-A10A88036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7"/>
            <a:ext cx="10360501" cy="4462272"/>
          </a:xfrm>
        </p:spPr>
        <p:txBody>
          <a:bodyPr/>
          <a:lstStyle/>
          <a:p>
            <a:r>
              <a:rPr lang="en-US">
                <a:hlinkClick r:id="rId2"/>
              </a:rPr>
              <a:t>https://cs.wikipedia.org/wiki/Opera%C4%8Dn%C3%AD_syst%C3%A9m</a:t>
            </a:r>
            <a:endParaRPr lang="cs-CZ"/>
          </a:p>
          <a:p>
            <a:r>
              <a:rPr lang="en-US">
                <a:hlinkClick r:id="rId3"/>
              </a:rPr>
              <a:t>https://www.zive.cz/clanky/historie-operacnich-systemu-vecna-brzda-hardwaru/sc-3-a-147538/default.aspx</a:t>
            </a:r>
            <a:endParaRPr lang="cs-CZ"/>
          </a:p>
          <a:p>
            <a:r>
              <a:rPr lang="en-US">
                <a:hlinkClick r:id="rId4"/>
              </a:rPr>
              <a:t>https://etechblog.cz/operacni-systemy-funkce-a-typy/</a:t>
            </a:r>
            <a:endParaRPr lang="cs-CZ"/>
          </a:p>
          <a:p>
            <a:r>
              <a:rPr lang="en-US">
                <a:hlinkClick r:id="rId5"/>
              </a:rPr>
              <a:t>https://www.geeksforgeeks.org/introduction-of-operating-system-set-1/</a:t>
            </a:r>
            <a:endParaRPr lang="cs-CZ"/>
          </a:p>
          <a:p>
            <a:r>
              <a:rPr lang="en-US"/>
              <a:t>https://www.geeksforgeeks.org/difference-between-cli-and-gui/</a:t>
            </a:r>
          </a:p>
        </p:txBody>
      </p:sp>
    </p:spTree>
    <p:extLst>
      <p:ext uri="{BB962C8B-B14F-4D97-AF65-F5344CB8AC3E}">
        <p14:creationId xmlns:p14="http://schemas.microsoft.com/office/powerpoint/2010/main" val="13605287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nologie (16:9)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33228_TF02787990_TF02787990.potx" id="{41430103-F1DF-4760-9877-C776298C88DB}" vid="{586A876F-1D1B-4FC4-9F0D-A7C5E174B1DA}"/>
    </a:ext>
  </a:extLst>
</a:theme>
</file>

<file path=ppt/theme/theme2.xml><?xml version="1.0" encoding="utf-8"?>
<a:theme xmlns:a="http://schemas.openxmlformats.org/drawingml/2006/main" name="Motiv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A09BF4D4-EF60-4196-BFC3-9462D607978C}">
  <ds:schemaRefs>
    <ds:schemaRef ds:uri="4873beb7-5857-4685-be1f-d57550cc96c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Prezentace s trojitými čarami připomínajícími elektrický obvod (širokoúhlý formát)</Template>
  <Application>Microsoft Office PowerPoint</Application>
  <PresentationFormat>Custom</PresentationFormat>
  <Slides>15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Technologie (16:9)</vt:lpstr>
      <vt:lpstr>Operační systémy</vt:lpstr>
      <vt:lpstr>Co jsou to operační systémy</vt:lpstr>
      <vt:lpstr>Historie operačních systémů (1940-1990)</vt:lpstr>
      <vt:lpstr>Moderní operační systémy (1990-současnost) </vt:lpstr>
      <vt:lpstr>Struktura operačního systému</vt:lpstr>
      <vt:lpstr>Typy operačních systémů</vt:lpstr>
      <vt:lpstr>Typy operačních systémů</vt:lpstr>
      <vt:lpstr>Command-Line Interface a Graphical User Interface</vt:lpstr>
      <vt:lpstr>Využití</vt:lpstr>
      <vt:lpstr>Proces zavedení OS</vt:lpstr>
      <vt:lpstr>LOGY v operačních systémech</vt:lpstr>
      <vt:lpstr>Typy logových souborů</vt:lpstr>
      <vt:lpstr>Logování v Linuxu</vt:lpstr>
      <vt:lpstr>Logování ve Windows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Filip Říčný</dc:creator>
  <cp:revision>1</cp:revision>
  <dcterms:created xsi:type="dcterms:W3CDTF">2024-10-14T14:49:44Z</dcterms:created>
  <dcterms:modified xsi:type="dcterms:W3CDTF">2024-11-19T09:08:06Z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