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9" r:id="rId4"/>
    <p:sldId id="265" r:id="rId5"/>
    <p:sldId id="270" r:id="rId6"/>
    <p:sldId id="266" r:id="rId7"/>
    <p:sldId id="271" r:id="rId8"/>
    <p:sldId id="257" r:id="rId9"/>
    <p:sldId id="272" r:id="rId10"/>
    <p:sldId id="258" r:id="rId11"/>
    <p:sldId id="273" r:id="rId12"/>
    <p:sldId id="259" r:id="rId13"/>
    <p:sldId id="274" r:id="rId14"/>
    <p:sldId id="267" r:id="rId15"/>
    <p:sldId id="275" r:id="rId16"/>
    <p:sldId id="268" r:id="rId17"/>
    <p:sldId id="276" r:id="rId18"/>
    <p:sldId id="260" r:id="rId19"/>
    <p:sldId id="277" r:id="rId20"/>
    <p:sldId id="261" r:id="rId21"/>
    <p:sldId id="278" r:id="rId22"/>
    <p:sldId id="262" r:id="rId23"/>
    <p:sldId id="279" r:id="rId24"/>
    <p:sldId id="264" r:id="rId25"/>
    <p:sldId id="280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02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6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34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94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5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57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3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0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6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10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2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Kybernetická bezpečnost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Jan Stránský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443F87-7BCF-F099-D263-C4F6FDE9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Kyberprostor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C4913E-8080-A36B-228D-5A8A9A436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dirty="0" err="1"/>
              <a:t>Surface</a:t>
            </a:r>
            <a:r>
              <a:rPr lang="cs-CZ" dirty="0"/>
              <a:t> web – web volně dostupný, </a:t>
            </a:r>
            <a:r>
              <a:rPr lang="cs-CZ" dirty="0" err="1"/>
              <a:t>nalezitelný</a:t>
            </a:r>
            <a:r>
              <a:rPr lang="cs-CZ" dirty="0"/>
              <a:t> veřejnými vyhledávači, tvoří přibližně 6% - např. Wikipedia</a:t>
            </a:r>
          </a:p>
          <a:p>
            <a:r>
              <a:rPr lang="cs-CZ" dirty="0" err="1"/>
              <a:t>Deep</a:t>
            </a:r>
            <a:r>
              <a:rPr lang="cs-CZ" dirty="0"/>
              <a:t> web – web dostupný pouze s požadovaným oprávněním (přihlašovacími údaji), není </a:t>
            </a:r>
            <a:r>
              <a:rPr lang="cs-CZ" dirty="0" err="1"/>
              <a:t>nalezitný</a:t>
            </a:r>
            <a:r>
              <a:rPr lang="cs-CZ" dirty="0"/>
              <a:t> vyhledávačem - tvoří přes 90% webu - např. Emailové schránky</a:t>
            </a:r>
          </a:p>
          <a:p>
            <a:r>
              <a:rPr lang="cs-CZ" dirty="0" err="1"/>
              <a:t>Dark</a:t>
            </a:r>
            <a:r>
              <a:rPr lang="cs-CZ" dirty="0"/>
              <a:t> web - dostupný pouze přes specializované prohlížeče, využívá anonymní sítě TOR, tvoří asi 6% webu - například pro ilegální obsah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FBB2DE-3496-834B-9AC5-6095FC10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D084-2A45-42D4-B77D-0A1CF9D70D6F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4C84C8B-2B2E-1618-4B97-FFD49191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EC061D-3A74-A290-DBD9-8CD18EAA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7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FC642D-7401-7139-BB88-E5601262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Kyberprostor - obrázek</a:t>
            </a:r>
          </a:p>
        </p:txBody>
      </p:sp>
      <p:pic>
        <p:nvPicPr>
          <p:cNvPr id="7" name="Zástupný obsah 6" descr="Obsah obrázku text, voda, ledovec, příroda&#10;&#10;Popis se vygeneroval automaticky.">
            <a:extLst>
              <a:ext uri="{FF2B5EF4-FFF2-40B4-BE49-F238E27FC236}">
                <a16:creationId xmlns:a16="http://schemas.microsoft.com/office/drawing/2014/main" id="{0417B7EC-8646-0846-2E7D-7D72DB7B0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7588" y="2478024"/>
            <a:ext cx="5224087" cy="3694176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C09B587-3951-F449-94FF-3365A22C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EE5-D558-4FD6-80E7-2B1AA707480F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B3FAE7A-76C5-7BB4-9108-DF3C9E5A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E5C0FAF-B40B-D258-F885-584CA4E6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02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FD9DD5-64A6-84A6-8071-9BD74C52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Kybernetická bezpečnost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03B290-F7E3-A24D-1C8A-D17A7F17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sz="2000" dirty="0">
                <a:ea typeface="+mn-lt"/>
                <a:cs typeface="+mn-lt"/>
              </a:rPr>
              <a:t>„Souhrn právních, organizačních, technických a vzdělávacích prostředků směřujících k zajištění ochrany kybernetického prostoru.“</a:t>
            </a:r>
          </a:p>
          <a:p>
            <a:r>
              <a:rPr lang="cs-CZ" sz="2000" dirty="0"/>
              <a:t>Principy CIA: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/>
              <a:t>Důvěrnost - </a:t>
            </a:r>
            <a:r>
              <a:rPr lang="cs-CZ" sz="1600" dirty="0">
                <a:ea typeface="+mn-lt"/>
                <a:cs typeface="+mn-lt"/>
              </a:rPr>
              <a:t>k informacím, datům, či ICT mají přístup pouze subjekty, které jsou k tomu pověřené</a:t>
            </a: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Integrita - nemožnost zásahu do informací, dat, počítačových systémů, jejich nastavení osobami bez oprávnění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Dostupnost - vlastnost přístupnosti a použitelnosti na žádost oprávněné entity</a:t>
            </a:r>
          </a:p>
          <a:p>
            <a:r>
              <a:rPr lang="cs-CZ" sz="2000" dirty="0">
                <a:ea typeface="+mn-lt"/>
                <a:cs typeface="+mn-lt"/>
              </a:rPr>
              <a:t>Prvky bezpečnosti: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Lidé - tvůrce, příjemce pravidel i potenciální oběť kybernetických útoků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Technologie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/>
              <a:t>Procesy - např. řízení aktiv a rizik, školení, příprava a realizace řešení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D9AB93-9CDF-BF53-6E39-66C58C1A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13C4-4B1C-467D-A396-EB0477700929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361D1BE-A347-E381-ACE0-7555E60B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72D90D-2769-F243-8F01-26CB7031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10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B592C9-AF16-B1BC-212A-CC6255BA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Triáda CIA</a:t>
            </a:r>
          </a:p>
        </p:txBody>
      </p:sp>
      <p:pic>
        <p:nvPicPr>
          <p:cNvPr id="7" name="Zástupný obsah 6" descr="Understanding the CIA Triad: The Foundation of Network Security | by Make  Computer Science Great Again | Medium">
            <a:extLst>
              <a:ext uri="{FF2B5EF4-FFF2-40B4-BE49-F238E27FC236}">
                <a16:creationId xmlns:a16="http://schemas.microsoft.com/office/drawing/2014/main" id="{1678308A-761F-C650-122A-034FE68AF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3795" y="2478088"/>
            <a:ext cx="6612372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DCC7D7-CD7F-0987-D01D-0E06CE3B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2256-ABBD-45D1-88B6-3A72DB1AB641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C7AA9E-38B5-1BA0-A502-32325C2C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299A42-B60B-3995-B7C3-8818ED58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3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7BE923-8BF1-0EA0-ABCD-8047F755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A69C52-B9DD-7328-79D4-290864ADE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/>
              <a:t>IDS/IPS (např. </a:t>
            </a:r>
            <a:r>
              <a:rPr lang="cs-CZ" dirty="0" err="1"/>
              <a:t>Snort</a:t>
            </a:r>
            <a:r>
              <a:rPr lang="cs-CZ" dirty="0"/>
              <a:t>)</a:t>
            </a:r>
          </a:p>
          <a:p>
            <a:r>
              <a:rPr lang="cs-CZ" dirty="0"/>
              <a:t>Centrální správa identit – </a:t>
            </a:r>
            <a:r>
              <a:rPr lang="cs-CZ" dirty="0" err="1"/>
              <a:t>IdM</a:t>
            </a:r>
            <a:r>
              <a:rPr lang="cs-CZ" dirty="0"/>
              <a:t> (např.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)</a:t>
            </a:r>
          </a:p>
          <a:p>
            <a:r>
              <a:rPr lang="cs-CZ" dirty="0"/>
              <a:t>Ochrana před malware – Antivir, L7 firewall, antispam (např. </a:t>
            </a:r>
            <a:r>
              <a:rPr lang="cs-CZ" dirty="0" err="1"/>
              <a:t>Rspamd</a:t>
            </a:r>
            <a:r>
              <a:rPr lang="cs-CZ" dirty="0"/>
              <a:t>) </a:t>
            </a:r>
          </a:p>
          <a:p>
            <a:r>
              <a:rPr lang="cs-CZ" dirty="0"/>
              <a:t>Logovací systémy - centrální </a:t>
            </a:r>
            <a:r>
              <a:rPr lang="cs-CZ" dirty="0" err="1"/>
              <a:t>logging</a:t>
            </a:r>
            <a:r>
              <a:rPr lang="cs-CZ" dirty="0"/>
              <a:t> (např. </a:t>
            </a:r>
            <a:r>
              <a:rPr lang="cs-CZ" dirty="0" err="1"/>
              <a:t>graylog</a:t>
            </a:r>
            <a:r>
              <a:rPr lang="cs-CZ" dirty="0"/>
              <a:t>)</a:t>
            </a:r>
          </a:p>
          <a:p>
            <a:r>
              <a:rPr lang="cs-CZ" dirty="0"/>
              <a:t>Síťové prvky - např. Dedikovaná síť pro části dostupné "z venku" (DMZ), VLAN, firewally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4B0E57-335C-0074-EA96-460C9D31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4AA8-5798-4275-8E75-AC9090ECB846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0AB0229-AF7D-3F17-7271-57598496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E72812-DDF6-65DC-4B7B-1227C507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42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2AC577-4AD7-4A3E-E121-FDCC43FC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Snort</a:t>
            </a:r>
            <a:r>
              <a:rPr lang="cs-CZ" dirty="0"/>
              <a:t>, Microsoft AD</a:t>
            </a:r>
          </a:p>
        </p:txBody>
      </p:sp>
      <p:pic>
        <p:nvPicPr>
          <p:cNvPr id="8" name="Zástupný obsah 7" descr="SNORT Demo - Network Intrusion Detection and Prevention System - Kali Linux  - Cyber Security #10">
            <a:extLst>
              <a:ext uri="{FF2B5EF4-FFF2-40B4-BE49-F238E27FC236}">
                <a16:creationId xmlns:a16="http://schemas.microsoft.com/office/drawing/2014/main" id="{E557E1CA-CA52-2272-462E-27AF597AE7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16013" y="2936578"/>
            <a:ext cx="4937125" cy="2777132"/>
          </a:xfrm>
        </p:spPr>
      </p:pic>
      <p:pic>
        <p:nvPicPr>
          <p:cNvPr id="9" name="Zástupný obsah 8" descr="Active Directory Management Tool - Easy365Manager">
            <a:extLst>
              <a:ext uri="{FF2B5EF4-FFF2-40B4-BE49-F238E27FC236}">
                <a16:creationId xmlns:a16="http://schemas.microsoft.com/office/drawing/2014/main" id="{5654C490-EE06-E443-ADB2-C975472022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238" y="3042236"/>
            <a:ext cx="4938712" cy="2565815"/>
          </a:xfrm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1ACB00-33AF-58DD-B4F1-3568E8E1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7962-CA4F-4C2E-9CA8-826EDB245E22}" type="datetime1">
              <a:t>10.12.2024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544B2F2-50B3-CED6-CC87-1CA90C00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517BA00-C8DB-719B-614E-91075041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2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C9FBDF-2AEC-FD33-15FC-A8907670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Šifrování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0E4F43-A1EE-9A69-8224-0E73E09E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cs-CZ" dirty="0"/>
              <a:t>Funguje obousměrně</a:t>
            </a:r>
          </a:p>
          <a:p>
            <a:r>
              <a:rPr lang="cs-CZ" dirty="0"/>
              <a:t>Má klíč, který může být stejný jak pro šifrování, tak dešifrování (symetrické šifrování - např. ChaCha20) nebo můžou být různé (asymetrické šifrování - např. RSA)</a:t>
            </a:r>
          </a:p>
          <a:p>
            <a:r>
              <a:rPr lang="cs-CZ" dirty="0"/>
              <a:t>Při šifrování se často využívá klíč a </a:t>
            </a:r>
            <a:r>
              <a:rPr lang="cs-CZ" dirty="0" err="1"/>
              <a:t>nonce</a:t>
            </a:r>
            <a:r>
              <a:rPr lang="cs-CZ" dirty="0"/>
              <a:t> - některé šifry jsou náchylné k </a:t>
            </a:r>
            <a:r>
              <a:rPr lang="cs-CZ" dirty="0" err="1"/>
              <a:t>nonce-reuse</a:t>
            </a:r>
            <a:r>
              <a:rPr lang="cs-CZ" dirty="0"/>
              <a:t> útokům (stejný </a:t>
            </a:r>
            <a:r>
              <a:rPr lang="cs-CZ" dirty="0" err="1"/>
              <a:t>keystream</a:t>
            </a:r>
            <a:r>
              <a:rPr lang="cs-CZ" dirty="0"/>
              <a:t> u dvou šifrovaných textů u nichž je jeden čistý text známý </a:t>
            </a:r>
            <a:r>
              <a:rPr lang="cs-CZ" dirty="0" err="1"/>
              <a:t>umožňí</a:t>
            </a:r>
            <a:r>
              <a:rPr lang="cs-CZ" dirty="0"/>
              <a:t> dešifrovat i ten druhý šifrovaný text)</a:t>
            </a:r>
          </a:p>
          <a:p>
            <a:r>
              <a:rPr lang="cs-CZ" dirty="0"/>
              <a:t>Šifry - např. ChaCha20, RSA, DSA</a:t>
            </a:r>
          </a:p>
          <a:p>
            <a:r>
              <a:rPr lang="cs-CZ" dirty="0"/>
              <a:t>Proudové šifry = fungují pomocí </a:t>
            </a:r>
            <a:r>
              <a:rPr lang="cs-CZ" dirty="0" err="1"/>
              <a:t>XORování</a:t>
            </a:r>
            <a:r>
              <a:rPr lang="cs-CZ" dirty="0"/>
              <a:t> </a:t>
            </a:r>
            <a:r>
              <a:rPr lang="cs-CZ" dirty="0" err="1"/>
              <a:t>plaintextu</a:t>
            </a:r>
            <a:r>
              <a:rPr lang="cs-CZ" dirty="0"/>
              <a:t> s </a:t>
            </a:r>
            <a:r>
              <a:rPr lang="cs-CZ" dirty="0" err="1"/>
              <a:t>keystreamem</a:t>
            </a:r>
            <a:r>
              <a:rPr lang="cs-CZ" dirty="0"/>
              <a:t> (generován pomocí klíče a </a:t>
            </a:r>
            <a:r>
              <a:rPr lang="cs-CZ" dirty="0" err="1"/>
              <a:t>nonce</a:t>
            </a:r>
            <a:r>
              <a:rPr lang="cs-CZ" dirty="0"/>
              <a:t>) byte-by-byte</a:t>
            </a:r>
          </a:p>
          <a:p>
            <a:r>
              <a:rPr lang="cs-CZ" dirty="0" err="1"/>
              <a:t>blockové</a:t>
            </a:r>
            <a:r>
              <a:rPr lang="cs-CZ" dirty="0"/>
              <a:t> šifry = šifrují po n-bitových blocích (např. AES) a má standardně několik módů (např. CBC, ECB, GCM)</a:t>
            </a:r>
          </a:p>
          <a:p>
            <a:r>
              <a:rPr lang="cs-CZ" dirty="0"/>
              <a:t>Často je kvůli bezpečnosti kombinované s MAC funkcemi jako je např. Poly1305</a:t>
            </a:r>
          </a:p>
          <a:p>
            <a:r>
              <a:rPr lang="cs-CZ" dirty="0"/>
              <a:t>Ideální klíč je takový, který je stejně nebo více dlouhý než je šifrovaná zpráva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BA7943-AA4A-563D-845C-8D6D5BA8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4811-1F16-475E-B101-807C49A73474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E74118-80CA-CBA0-DD72-4DEE50B7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4C3B89-9792-9A24-A035-706683A3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78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1B9192-F6A8-850F-5A6B-1485DFE1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Šifrování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97F92F9-305B-2F6D-55DA-78F15664E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AES</a:t>
            </a:r>
          </a:p>
        </p:txBody>
      </p:sp>
      <p:pic>
        <p:nvPicPr>
          <p:cNvPr id="10" name="Zástupný obsah 9" descr="undefined">
            <a:extLst>
              <a:ext uri="{FF2B5EF4-FFF2-40B4-BE49-F238E27FC236}">
                <a16:creationId xmlns:a16="http://schemas.microsoft.com/office/drawing/2014/main" id="{F1126A6D-3C0C-3CDB-B482-83E1A1EA35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3055" y="3203688"/>
            <a:ext cx="4882786" cy="2968512"/>
          </a:xfrm>
        </p:spPr>
      </p:pic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5216E29-32D2-86BD-C9AB-D30EBE353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ChaCha20-Poly1305 </a:t>
            </a:r>
          </a:p>
        </p:txBody>
      </p:sp>
      <p:pic>
        <p:nvPicPr>
          <p:cNvPr id="11" name="Zástupný obsah 10" descr="ChaCha20-Poly1305 Encryption">
            <a:extLst>
              <a:ext uri="{FF2B5EF4-FFF2-40B4-BE49-F238E27FC236}">
                <a16:creationId xmlns:a16="http://schemas.microsoft.com/office/drawing/2014/main" id="{4FCDB0C3-365C-AE11-439C-53D7B62B68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59984" y="3203687"/>
            <a:ext cx="3909664" cy="2968511"/>
          </a:xfrm>
        </p:spPr>
      </p:pic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AAD5951-B4A3-C497-E932-24FDAAE0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A492-FA6F-49D5-9FE7-36B215B739B9}" type="datetime1">
              <a:t>10.12.2024</a:t>
            </a:fld>
            <a:endParaRPr lang="en-US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2531364-E167-9C09-793D-0FDD7CE4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680DF0E-94DD-79BF-A0AE-0FE62A57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2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37E7B7-5984-1BF3-CF8E-F98B4E61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Hashování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DF05E6-ACC0-18BC-57BE-270D1711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cs-CZ" dirty="0"/>
              <a:t>Jedná se o jednosměrný algoritmus – z výstupu nelze vytvořit vstup</a:t>
            </a:r>
          </a:p>
          <a:p>
            <a:r>
              <a:rPr lang="cs-CZ" dirty="0"/>
              <a:t>Výstup má vždy stejnou délku bez ohledu na délku vstupu</a:t>
            </a:r>
          </a:p>
          <a:p>
            <a:r>
              <a:rPr lang="cs-CZ" dirty="0"/>
              <a:t>Používá se u kontroly integrity dat (např. Poškození souboru, správné heslo)</a:t>
            </a:r>
          </a:p>
          <a:p>
            <a:r>
              <a:rPr lang="cs-CZ" dirty="0"/>
              <a:t>Mezi tyto algoritmy patří například MD5, SHA-1, SHA-2</a:t>
            </a:r>
          </a:p>
          <a:p>
            <a:r>
              <a:rPr lang="cs-CZ" dirty="0"/>
              <a:t>Ne-kryptografické hashovací funkce (</a:t>
            </a:r>
            <a:r>
              <a:rPr lang="cs-CZ" dirty="0">
                <a:ea typeface="+mn-lt"/>
                <a:cs typeface="+mn-lt"/>
              </a:rPr>
              <a:t>NCHF) - nemají takové požadavky na bezpečnost (např. Nejsou odolné vůči </a:t>
            </a:r>
            <a:r>
              <a:rPr lang="cs-CZ" dirty="0" err="1">
                <a:ea typeface="+mn-lt"/>
                <a:cs typeface="+mn-lt"/>
              </a:rPr>
              <a:t>preimage</a:t>
            </a:r>
            <a:r>
              <a:rPr lang="cs-CZ" dirty="0">
                <a:ea typeface="+mn-lt"/>
                <a:cs typeface="+mn-lt"/>
              </a:rPr>
              <a:t> útokům), ale jsou rychlejší a méně náročné než kryptografické hashovací funkce - např. </a:t>
            </a:r>
            <a:r>
              <a:rPr lang="cs-CZ" dirty="0" err="1">
                <a:ea typeface="+mn-lt"/>
                <a:cs typeface="+mn-lt"/>
              </a:rPr>
              <a:t>Fowler</a:t>
            </a:r>
            <a:r>
              <a:rPr lang="cs-CZ" dirty="0">
                <a:ea typeface="+mn-lt"/>
                <a:cs typeface="+mn-lt"/>
              </a:rPr>
              <a:t>–</a:t>
            </a:r>
            <a:r>
              <a:rPr lang="cs-CZ" dirty="0" err="1">
                <a:ea typeface="+mn-lt"/>
                <a:cs typeface="+mn-lt"/>
              </a:rPr>
              <a:t>Noll</a:t>
            </a:r>
            <a:r>
              <a:rPr lang="cs-CZ" dirty="0">
                <a:ea typeface="+mn-lt"/>
                <a:cs typeface="+mn-lt"/>
              </a:rPr>
              <a:t>–</a:t>
            </a:r>
            <a:r>
              <a:rPr lang="cs-CZ" dirty="0" err="1">
                <a:ea typeface="+mn-lt"/>
                <a:cs typeface="+mn-lt"/>
              </a:rPr>
              <a:t>Vo</a:t>
            </a:r>
            <a:r>
              <a:rPr lang="cs-CZ" dirty="0">
                <a:ea typeface="+mn-lt"/>
                <a:cs typeface="+mn-lt"/>
              </a:rPr>
              <a:t> hashovací funkce, která využívá pouze násobení a XOR</a:t>
            </a:r>
          </a:p>
          <a:p>
            <a:r>
              <a:rPr lang="cs-CZ" dirty="0"/>
              <a:t>Změna jediného znaku vstupu způsobí signifikantní změnu výstupu (např md5 "ahoj" = </a:t>
            </a:r>
            <a:r>
              <a:rPr lang="cs-CZ" dirty="0">
                <a:ea typeface="+mn-lt"/>
                <a:cs typeface="+mn-lt"/>
              </a:rPr>
              <a:t>0x79c2b46ce2594ecbcb5b73e928345492, md5 "</a:t>
            </a:r>
            <a:r>
              <a:rPr lang="cs-CZ" err="1">
                <a:ea typeface="+mn-lt"/>
                <a:cs typeface="+mn-lt"/>
              </a:rPr>
              <a:t>bhoj</a:t>
            </a:r>
            <a:r>
              <a:rPr lang="cs-CZ" dirty="0">
                <a:ea typeface="+mn-lt"/>
                <a:cs typeface="+mn-lt"/>
              </a:rPr>
              <a:t>" = 0x9db21e050c3d9ff2e6234991d9bff576)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682347-CAD4-C193-9A52-04CDFC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FFD8-9C7D-42E2-9327-6D8668C486AA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AE8A7E-CCAB-A69C-14BB-0D6BC697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F2ECAD2-5C2F-0BFD-B777-E657E063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67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EBB8F8-1495-4753-EDF8-F6540E95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Hashování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4EB58A-852D-BDAD-704A-30B38835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MD5</a:t>
            </a:r>
          </a:p>
        </p:txBody>
      </p:sp>
      <p:pic>
        <p:nvPicPr>
          <p:cNvPr id="10" name="Zástupný obsah 9" descr="undefined">
            <a:extLst>
              <a:ext uri="{FF2B5EF4-FFF2-40B4-BE49-F238E27FC236}">
                <a16:creationId xmlns:a16="http://schemas.microsoft.com/office/drawing/2014/main" id="{F44DADAF-7E81-9139-3528-0DA611E6C5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33437" y="3203688"/>
            <a:ext cx="2702021" cy="2968512"/>
          </a:xfrm>
        </p:spPr>
      </p:pic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D6DA1E4-212F-3FFE-F7F4-D2A416404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SHA-2 </a:t>
            </a:r>
          </a:p>
        </p:txBody>
      </p:sp>
      <p:pic>
        <p:nvPicPr>
          <p:cNvPr id="11" name="Zástupný obsah 10" descr="undefined">
            <a:extLst>
              <a:ext uri="{FF2B5EF4-FFF2-40B4-BE49-F238E27FC236}">
                <a16:creationId xmlns:a16="http://schemas.microsoft.com/office/drawing/2014/main" id="{68B4E274-2920-2FA7-4E6D-986B058688B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11558" y="3203687"/>
            <a:ext cx="4206515" cy="2968511"/>
          </a:xfrm>
        </p:spPr>
      </p:pic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89122CE-C95E-E365-8924-24511EC3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451A-695D-4A9A-8345-60B63093F733}" type="datetime1">
              <a:t>10.12.2024</a:t>
            </a:fld>
            <a:endParaRPr lang="en-US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1B5F5CC-A0BC-1115-EA98-A78AA98F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604DBE9-3AF5-0356-43F0-742E451A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05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0FED57-2661-8F0C-EF95-7454F4AE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Zranitelnosti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45722B-1A06-EFE0-8D56-34DF22BB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/>
            <a:r>
              <a:rPr lang="cs-CZ" dirty="0"/>
              <a:t>Nevhodně vybrané parametry šifrování mohou samy o sobě způsobit bezpečnostní zranitelnosti - např. u RSA použití prvočísel p a q, které jsou blízko sebe umožňuje použít </a:t>
            </a:r>
            <a:r>
              <a:rPr lang="cs-CZ" err="1"/>
              <a:t>Fermatovu</a:t>
            </a:r>
            <a:r>
              <a:rPr lang="cs-CZ" dirty="0"/>
              <a:t> metodu pro jejich získání z veřejného klíče n</a:t>
            </a:r>
          </a:p>
          <a:p>
            <a:pPr marL="457200" indent="-457200"/>
            <a:r>
              <a:rPr lang="cs-CZ" dirty="0"/>
              <a:t>Další zranitelnosti můžou </a:t>
            </a:r>
            <a:r>
              <a:rPr lang="cs-CZ" err="1"/>
              <a:t>vzevstat</a:t>
            </a:r>
            <a:r>
              <a:rPr lang="cs-CZ" dirty="0"/>
              <a:t> ze špatného použití šifry - např. </a:t>
            </a:r>
            <a:r>
              <a:rPr lang="cs-CZ" err="1"/>
              <a:t>nonce-reuse</a:t>
            </a:r>
            <a:r>
              <a:rPr lang="cs-CZ" dirty="0"/>
              <a:t> </a:t>
            </a:r>
            <a:r>
              <a:rPr lang="cs-CZ" err="1"/>
              <a:t>attack</a:t>
            </a:r>
            <a:endParaRPr lang="cs-CZ"/>
          </a:p>
          <a:p>
            <a:pPr marL="457200" indent="-457200"/>
            <a:r>
              <a:rPr lang="cs-CZ" dirty="0"/>
              <a:t>V </a:t>
            </a:r>
            <a:r>
              <a:rPr lang="cs-CZ" dirty="0" err="1"/>
              <a:t>hashování</a:t>
            </a:r>
            <a:r>
              <a:rPr lang="cs-CZ" dirty="0"/>
              <a:t> jsou mezi zranitelnostmi například kolize</a:t>
            </a:r>
          </a:p>
          <a:p>
            <a:pPr marL="457200" indent="-457200"/>
            <a:r>
              <a:rPr lang="cs-CZ" dirty="0"/>
              <a:t>V software jsou standardně známé </a:t>
            </a:r>
            <a:r>
              <a:rPr lang="cs-CZ" err="1"/>
              <a:t>exploity</a:t>
            </a:r>
            <a:r>
              <a:rPr lang="cs-CZ" dirty="0"/>
              <a:t> vedeny pod CVE číslem s přiděleným CVSS skóre dle závažnosti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C70373-3D34-FC24-B8F0-D5A3DF7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241B3-D31D-4672-BE27-44AD73DF917A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C7DCC5-857B-04CE-9D18-48178F6C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BA9D4B-9EA4-C3D1-A026-13C76284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7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875701-39BF-4B75-30D7-59B14D8C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CVE záznam v NIST databázi</a:t>
            </a:r>
          </a:p>
        </p:txBody>
      </p:sp>
      <p:pic>
        <p:nvPicPr>
          <p:cNvPr id="7" name="Zástupný obsah 6" descr="Obsah obrázku text, snímek obrazovky, software, Webová stránka&#10;&#10;Popis se vygeneroval automaticky.">
            <a:extLst>
              <a:ext uri="{FF2B5EF4-FFF2-40B4-BE49-F238E27FC236}">
                <a16:creationId xmlns:a16="http://schemas.microsoft.com/office/drawing/2014/main" id="{872D5A09-A97B-210F-DEBA-5E37E63AD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5920" y="2478024"/>
            <a:ext cx="6567424" cy="3694176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424A6D-0070-C595-E614-AC0316F0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5164-C83E-4EC6-AA49-48EA7F73BAD0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E89056C-31D8-017A-C0C6-6D5AF81F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77A33BE-C8DE-57D7-3B73-7E99B138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29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312CA6-A619-D84A-B7D1-622BB471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Malware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2AE2F3-4A5E-C27F-A132-4D0A7C9E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cs-CZ" dirty="0">
                <a:ea typeface="+mn-lt"/>
                <a:cs typeface="+mn-lt"/>
              </a:rPr>
              <a:t>Škodlivý software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Malwarem je možné označit jakýkoli software využitý k narušení standardní činnosti počítačového systému</a:t>
            </a:r>
            <a:endParaRPr lang="cs-CZ" dirty="0"/>
          </a:p>
          <a:p>
            <a:r>
              <a:rPr lang="cs-CZ" dirty="0"/>
              <a:t>Obecné rozdělení - viry, červi, trojské koně, </a:t>
            </a:r>
            <a:r>
              <a:rPr lang="cs-CZ" dirty="0" err="1"/>
              <a:t>rootkity</a:t>
            </a:r>
            <a:r>
              <a:rPr lang="cs-CZ" dirty="0"/>
              <a:t>, </a:t>
            </a:r>
            <a:r>
              <a:rPr lang="cs-CZ" dirty="0" err="1"/>
              <a:t>adware</a:t>
            </a:r>
            <a:r>
              <a:rPr lang="cs-CZ" dirty="0"/>
              <a:t>, spyware, ransomware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Viry - </a:t>
            </a:r>
            <a:r>
              <a:rPr lang="cs-CZ" dirty="0">
                <a:ea typeface="+mn-lt"/>
                <a:cs typeface="+mn-lt"/>
              </a:rPr>
              <a:t>skládají se minimálně ze 2 částí - nalezení cíle a rozšíření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Červi - samy se šíří po síti (např. pomocí mailů)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Trojský kůň - používá se pro libovolný malware neschopný replikace; škodlivý kód vydávající se za kód jiný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Ransomware - šifruje disk a za možnost </a:t>
            </a:r>
            <a:r>
              <a:rPr lang="cs-CZ" dirty="0" err="1">
                <a:ea typeface="+mn-lt"/>
                <a:cs typeface="+mn-lt"/>
              </a:rPr>
              <a:t>dekrypce</a:t>
            </a:r>
            <a:r>
              <a:rPr lang="cs-CZ" dirty="0">
                <a:ea typeface="+mn-lt"/>
                <a:cs typeface="+mn-lt"/>
              </a:rPr>
              <a:t> standardně vyžaduje peníze v kryptoměně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65A666C-B147-9C64-AA2B-E9030D17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B530-A2DA-4B5B-B8FD-4759DCBA70CB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DB6AD9F-7D38-108E-F441-CEF8AE65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D2B298F-BD33-B912-5CA9-5481B3BB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2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C1655C-CCBA-4DB7-37FD-EEF5DB35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Malware</a:t>
            </a:r>
          </a:p>
        </p:txBody>
      </p:sp>
      <p:pic>
        <p:nvPicPr>
          <p:cNvPr id="7" name="Zástupný obsah 6" descr="What is Lateral Movement in Cybersecurity? | Wiz">
            <a:extLst>
              <a:ext uri="{FF2B5EF4-FFF2-40B4-BE49-F238E27FC236}">
                <a16:creationId xmlns:a16="http://schemas.microsoft.com/office/drawing/2014/main" id="{4E9FF41C-8760-F386-15C0-C01D626E6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697" y="2478088"/>
            <a:ext cx="7238569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6DA2E1-2E75-0904-F51F-CFC4D44C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D5C9-294C-4897-8B13-2390D1736533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52CE9AB-7F86-886C-3B98-E60AB0F10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2C405D-9E24-D0C3-AA11-670252AD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4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E95CAA-5B0B-AF3F-E6AF-F6CF245F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DoS</a:t>
            </a:r>
            <a:r>
              <a:rPr lang="cs-CZ" dirty="0"/>
              <a:t>, </a:t>
            </a:r>
            <a:r>
              <a:rPr lang="cs-CZ" dirty="0" err="1"/>
              <a:t>DDoS</a:t>
            </a:r>
            <a:r>
              <a:rPr lang="cs-CZ" dirty="0"/>
              <a:t>, </a:t>
            </a:r>
            <a:r>
              <a:rPr lang="cs-CZ" dirty="0" err="1"/>
              <a:t>Botnet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78478D-4E3C-80E2-962E-E2320BA56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dirty="0" err="1"/>
              <a:t>DoS</a:t>
            </a:r>
            <a:r>
              <a:rPr lang="cs-CZ" dirty="0"/>
              <a:t> – </a:t>
            </a:r>
            <a:r>
              <a:rPr lang="cs-CZ" dirty="0" err="1"/>
              <a:t>denial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service</a:t>
            </a:r>
            <a:r>
              <a:rPr lang="cs-CZ" dirty="0"/>
              <a:t> = </a:t>
            </a:r>
            <a:r>
              <a:rPr lang="cs-CZ" dirty="0">
                <a:ea typeface="+mn-lt"/>
                <a:cs typeface="+mn-lt"/>
              </a:rPr>
              <a:t>jedna z forem útoků na službu, jejíž cílem je vyřazení z činnosti nebo snížení výkonu napadeného technického zařízení</a:t>
            </a:r>
            <a:endParaRPr lang="cs-CZ" dirty="0"/>
          </a:p>
          <a:p>
            <a:r>
              <a:rPr lang="cs-CZ" dirty="0" err="1"/>
              <a:t>DDoS</a:t>
            </a:r>
            <a:r>
              <a:rPr lang="cs-CZ" dirty="0"/>
              <a:t> = </a:t>
            </a:r>
            <a:r>
              <a:rPr lang="cs-CZ" dirty="0" err="1"/>
              <a:t>distributed</a:t>
            </a:r>
            <a:r>
              <a:rPr lang="cs-CZ" dirty="0"/>
              <a:t> </a:t>
            </a:r>
            <a:r>
              <a:rPr lang="cs-CZ" dirty="0" err="1"/>
              <a:t>denial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service</a:t>
            </a:r>
            <a:r>
              <a:rPr lang="cs-CZ" dirty="0"/>
              <a:t> - využívá více počítačů k </a:t>
            </a:r>
            <a:r>
              <a:rPr lang="cs-CZ" dirty="0" err="1"/>
              <a:t>DoS</a:t>
            </a:r>
          </a:p>
          <a:p>
            <a:r>
              <a:rPr lang="cs-CZ" dirty="0" err="1"/>
              <a:t>Botnet</a:t>
            </a:r>
            <a:r>
              <a:rPr lang="cs-CZ" dirty="0"/>
              <a:t> - </a:t>
            </a:r>
            <a:r>
              <a:rPr lang="cs-CZ" dirty="0">
                <a:ea typeface="+mn-lt"/>
                <a:cs typeface="+mn-lt"/>
              </a:rPr>
              <a:t>Síť softwarově propojených </a:t>
            </a:r>
            <a:r>
              <a:rPr lang="cs-CZ" dirty="0" err="1">
                <a:ea typeface="+mn-lt"/>
                <a:cs typeface="+mn-lt"/>
              </a:rPr>
              <a:t>botů</a:t>
            </a:r>
            <a:r>
              <a:rPr lang="cs-CZ" dirty="0">
                <a:ea typeface="+mn-lt"/>
                <a:cs typeface="+mn-lt"/>
              </a:rPr>
              <a:t>, které provádí činnost na základě správce této sítě, využívá C2 (</a:t>
            </a:r>
            <a:r>
              <a:rPr lang="cs-CZ" dirty="0" err="1">
                <a:ea typeface="+mn-lt"/>
                <a:cs typeface="+mn-lt"/>
              </a:rPr>
              <a:t>command</a:t>
            </a:r>
            <a:r>
              <a:rPr lang="cs-CZ" dirty="0">
                <a:ea typeface="+mn-lt"/>
                <a:cs typeface="+mn-lt"/>
              </a:rPr>
              <a:t> and </a:t>
            </a:r>
            <a:r>
              <a:rPr lang="cs-CZ" dirty="0" err="1">
                <a:ea typeface="+mn-lt"/>
                <a:cs typeface="+mn-lt"/>
              </a:rPr>
              <a:t>control</a:t>
            </a:r>
            <a:r>
              <a:rPr lang="cs-CZ" dirty="0">
                <a:ea typeface="+mn-lt"/>
                <a:cs typeface="+mn-lt"/>
              </a:rPr>
              <a:t>) komunikaci</a:t>
            </a:r>
          </a:p>
          <a:p>
            <a:endParaRPr lang="cs-CZ" dirty="0">
              <a:ea typeface="+mn-lt"/>
              <a:cs typeface="+mn-lt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385187-1F78-4FFE-9ED2-704B2C33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17F7A-351A-460D-B997-2BD0E17F4C51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163810B-4F6B-4011-80D4-E74EB77D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87EDF6-869C-BC4D-2678-41F3A49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097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2BC80D-B8D9-674E-C3CD-EAB78705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DNS </a:t>
            </a:r>
            <a:r>
              <a:rPr lang="cs-CZ" dirty="0" err="1"/>
              <a:t>amplification</a:t>
            </a:r>
            <a:r>
              <a:rPr lang="cs-CZ" dirty="0"/>
              <a:t> </a:t>
            </a:r>
            <a:r>
              <a:rPr lang="cs-CZ" dirty="0" err="1"/>
              <a:t>DDoS</a:t>
            </a:r>
          </a:p>
        </p:txBody>
      </p:sp>
      <p:pic>
        <p:nvPicPr>
          <p:cNvPr id="7" name="Zástupný obsah 6" descr="DNS Amplification Attacks Explained 💪">
            <a:extLst>
              <a:ext uri="{FF2B5EF4-FFF2-40B4-BE49-F238E27FC236}">
                <a16:creationId xmlns:a16="http://schemas.microsoft.com/office/drawing/2014/main" id="{CE642179-8FCF-AD75-DDCF-16AAEE5BF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555" y="2478088"/>
            <a:ext cx="6156853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F565DD-3C44-37D1-A5A2-DAE16B21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0E31-7A0E-4E37-A13C-3DF865F6632F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4FB72C-0F2B-F3B7-DF87-D521DDD1A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DDCEE88-D923-8357-413F-CDAD149E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863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867F2A-F3AC-5C4F-4764-B4BD067F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IDS/IPS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A117B9-1D60-83A5-1122-EDCA52123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cs-CZ" dirty="0" err="1"/>
              <a:t>Intrusion</a:t>
            </a:r>
            <a:r>
              <a:rPr lang="cs-CZ" dirty="0"/>
              <a:t> </a:t>
            </a:r>
            <a:r>
              <a:rPr lang="cs-CZ" dirty="0" err="1"/>
              <a:t>detection</a:t>
            </a:r>
            <a:r>
              <a:rPr lang="cs-CZ" dirty="0"/>
              <a:t>/</a:t>
            </a:r>
            <a:r>
              <a:rPr lang="cs-CZ" dirty="0" err="1"/>
              <a:t>prevention</a:t>
            </a:r>
            <a:r>
              <a:rPr lang="cs-CZ" dirty="0"/>
              <a:t> systém</a:t>
            </a:r>
          </a:p>
          <a:p>
            <a:r>
              <a:rPr lang="cs-CZ" dirty="0"/>
              <a:t>Umožňují administrátorovi zaznamenat (pokusy o) průniky do sítě pomocí inspekce packetů a v případě IPS jim dokonce zabránit </a:t>
            </a:r>
          </a:p>
          <a:p>
            <a:r>
              <a:rPr lang="cs-CZ" dirty="0"/>
              <a:t>Často využívají známé signatury </a:t>
            </a:r>
            <a:r>
              <a:rPr lang="cs-CZ" dirty="0" err="1"/>
              <a:t>exploitů</a:t>
            </a:r>
            <a:r>
              <a:rPr lang="cs-CZ" dirty="0"/>
              <a:t> a obecná pravidla se kterými porovnávají příchozí a odchozí packety (např. detekce </a:t>
            </a:r>
            <a:r>
              <a:rPr lang="cs-CZ" dirty="0" err="1"/>
              <a:t>BitTorrent</a:t>
            </a:r>
            <a:r>
              <a:rPr lang="cs-CZ" dirty="0"/>
              <a:t> packetů), ale můžou využívat i umělou inteligenci</a:t>
            </a:r>
          </a:p>
          <a:p>
            <a:r>
              <a:rPr lang="cs-CZ" dirty="0"/>
              <a:t>Využívají se primárně v podnikových sítích</a:t>
            </a:r>
          </a:p>
          <a:p>
            <a:r>
              <a:rPr lang="cs-CZ" dirty="0" err="1"/>
              <a:t>Snort</a:t>
            </a:r>
            <a:r>
              <a:rPr lang="cs-CZ" dirty="0"/>
              <a:t>, </a:t>
            </a:r>
            <a:r>
              <a:rPr lang="cs-CZ" dirty="0" err="1"/>
              <a:t>Suricata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8F6433A-3D24-E524-4D21-984707CA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E9A5F-B2AB-43C2-BC7A-FDD17F5ED9DD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A518FCF-CA05-465F-327B-20B5B80F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9144C1-EC2E-EDB9-AD58-567E3A1A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02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53F34F-2ADC-9571-706C-1B123A2E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Suricata</a:t>
            </a:r>
            <a:r>
              <a:rPr lang="cs-CZ" dirty="0"/>
              <a:t> IDS</a:t>
            </a:r>
          </a:p>
        </p:txBody>
      </p:sp>
      <p:pic>
        <p:nvPicPr>
          <p:cNvPr id="7" name="Zástupný obsah 6" descr="Suricata (software) - Wikipedia">
            <a:extLst>
              <a:ext uri="{FF2B5EF4-FFF2-40B4-BE49-F238E27FC236}">
                <a16:creationId xmlns:a16="http://schemas.microsoft.com/office/drawing/2014/main" id="{EA21E80D-A59E-6992-3128-031CD16C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238" y="2478088"/>
            <a:ext cx="6477487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8C34BEF-AC5E-79E7-B96A-A0D63ABD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28ECF-B531-4147-BE6E-15FECCFC9916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C53BB2D-1576-348F-2DEB-BFE4D1E5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75B3D39-BDD7-7691-81D5-EA2651F5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4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BF42ED-E216-761A-5717-34879AA6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Firewall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8D0FC6-FA84-B1D4-0AF2-6C5719E3C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dirty="0"/>
              <a:t>Dělí se podle ISO vrstvy na které funguje</a:t>
            </a:r>
          </a:p>
          <a:p>
            <a:r>
              <a:rPr lang="cs-CZ" dirty="0"/>
              <a:t>Umožňuje filtrovat komunikaci v rámci sítě a to jak na </a:t>
            </a:r>
            <a:r>
              <a:rPr lang="cs-CZ" err="1"/>
              <a:t>ingressu</a:t>
            </a:r>
            <a:r>
              <a:rPr lang="cs-CZ" dirty="0"/>
              <a:t> (vstupu), tak na </a:t>
            </a:r>
            <a:r>
              <a:rPr lang="cs-CZ" err="1"/>
              <a:t>egressu</a:t>
            </a:r>
            <a:r>
              <a:rPr lang="cs-CZ" dirty="0"/>
              <a:t> (výstupu)</a:t>
            </a:r>
          </a:p>
          <a:p>
            <a:r>
              <a:rPr lang="cs-CZ" dirty="0"/>
              <a:t>Standardně </a:t>
            </a:r>
            <a:r>
              <a:rPr lang="cs-CZ" dirty="0" err="1"/>
              <a:t>stateful</a:t>
            </a:r>
            <a:r>
              <a:rPr lang="cs-CZ" dirty="0"/>
              <a:t> - zachovávají si stav připojení</a:t>
            </a:r>
          </a:p>
          <a:p>
            <a:r>
              <a:rPr lang="cs-CZ" dirty="0"/>
              <a:t>Dělí se dle typu: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Hardware – dedikované síťové zařízení - např. </a:t>
            </a:r>
            <a:r>
              <a:rPr lang="cs-CZ" dirty="0" err="1"/>
              <a:t>Fortigate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Software – firewall jede v software (např. pod nějakou distribucí Unixu) - např. </a:t>
            </a:r>
            <a:r>
              <a:rPr lang="cs-CZ" dirty="0" err="1"/>
              <a:t>pfSense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E80274-00A0-356F-9519-7CAE12F8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8E09-8AE0-442D-96E4-C76097770029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6035B51-E209-E32C-E931-CCF6F169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1DA08C-E6EE-679B-0F9A-73FDC217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1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F89DEF-505E-1879-6729-5000327A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opnSense</a:t>
            </a:r>
          </a:p>
        </p:txBody>
      </p:sp>
      <p:pic>
        <p:nvPicPr>
          <p:cNvPr id="7" name="Zástupný obsah 6" descr="OPNsense® a true open source security platform and more - OPNsense® is a  true open source firewall and more">
            <a:extLst>
              <a:ext uri="{FF2B5EF4-FFF2-40B4-BE49-F238E27FC236}">
                <a16:creationId xmlns:a16="http://schemas.microsoft.com/office/drawing/2014/main" id="{E1927075-6ABA-46DC-5467-46251C624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658" y="2478088"/>
            <a:ext cx="7302646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D9C27F4-4825-1FA2-A2E9-38FE5795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10FFA-115F-4AC2-954D-3D61E71CB207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E86AE00-C909-A908-C160-5FC34BC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B701124-4141-6865-7F08-A90D17EC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147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2738EB-D780-F6A2-CD6F-66D65ED6E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C5B165-CB9C-FCDA-8C68-B532073B7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cs-CZ" dirty="0"/>
              <a:t>Využívají se veřejně důvěryhodné certifikáty k podepisování jiných certifikátů</a:t>
            </a:r>
          </a:p>
          <a:p>
            <a:r>
              <a:rPr lang="cs-CZ" dirty="0"/>
              <a:t>Standardně tři nebo více úrovní - </a:t>
            </a:r>
            <a:r>
              <a:rPr lang="cs-CZ" dirty="0" err="1"/>
              <a:t>Root</a:t>
            </a:r>
            <a:r>
              <a:rPr lang="cs-CZ" dirty="0"/>
              <a:t>, </a:t>
            </a:r>
            <a:r>
              <a:rPr lang="cs-CZ" dirty="0" err="1"/>
              <a:t>Intermediate</a:t>
            </a:r>
            <a:r>
              <a:rPr lang="cs-CZ" dirty="0"/>
              <a:t> a </a:t>
            </a:r>
            <a:r>
              <a:rPr lang="cs-CZ" dirty="0" err="1"/>
              <a:t>leaf</a:t>
            </a:r>
            <a:r>
              <a:rPr lang="cs-CZ" dirty="0"/>
              <a:t> certifikáty</a:t>
            </a:r>
          </a:p>
          <a:p>
            <a:r>
              <a:rPr lang="cs-CZ" dirty="0"/>
              <a:t>Používají se k validaci a k šifrování - jedná se o asymetrické šifrování</a:t>
            </a:r>
          </a:p>
          <a:p>
            <a:r>
              <a:rPr lang="cs-CZ" dirty="0"/>
              <a:t>Klient musí mít </a:t>
            </a:r>
            <a:r>
              <a:rPr lang="cs-CZ" dirty="0" err="1"/>
              <a:t>root</a:t>
            </a:r>
            <a:r>
              <a:rPr lang="cs-CZ" dirty="0"/>
              <a:t> certifikát v řetězci </a:t>
            </a:r>
            <a:r>
              <a:rPr lang="cs-CZ" dirty="0" err="1"/>
              <a:t>důvery</a:t>
            </a:r>
            <a:r>
              <a:rPr lang="cs-CZ" dirty="0"/>
              <a:t> - pomocí jeho podpisu je ověřen </a:t>
            </a:r>
            <a:r>
              <a:rPr lang="cs-CZ" dirty="0" err="1"/>
              <a:t>intermediate</a:t>
            </a:r>
            <a:r>
              <a:rPr lang="cs-CZ" dirty="0"/>
              <a:t> certifikát pomocí jehož podpisu je následně ověřen </a:t>
            </a:r>
            <a:r>
              <a:rPr lang="cs-CZ" dirty="0" err="1"/>
              <a:t>leaf</a:t>
            </a:r>
            <a:r>
              <a:rPr lang="cs-CZ" dirty="0"/>
              <a:t> certifikát</a:t>
            </a:r>
          </a:p>
          <a:p>
            <a:r>
              <a:rPr lang="cs-CZ" dirty="0"/>
              <a:t>Certifikáty mohou mít tzv. </a:t>
            </a:r>
            <a:r>
              <a:rPr lang="cs-CZ" dirty="0" err="1"/>
              <a:t>certificate</a:t>
            </a:r>
            <a:r>
              <a:rPr lang="cs-CZ" dirty="0"/>
              <a:t> </a:t>
            </a:r>
            <a:r>
              <a:rPr lang="cs-CZ" dirty="0" err="1"/>
              <a:t>constraints</a:t>
            </a:r>
            <a:r>
              <a:rPr lang="cs-CZ" dirty="0"/>
              <a:t> - omezení certifikátu (např. Klientský certifikát nemůže podepisovat ostatní certifikáty)</a:t>
            </a:r>
          </a:p>
          <a:p>
            <a:r>
              <a:rPr lang="cs-CZ" dirty="0"/>
              <a:t>Každý certifikát má svou dobu platnosti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207AB7-8EAB-ECBE-3899-A80ABBE2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DF4C-3718-43C8-B3E9-EE3D2CCD189A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31CCDE-DC4C-EBA4-6D39-F1375BBE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338937-F042-B6A6-E519-6A1EC2D3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596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B5DE82-DE8B-2614-6FA2-844D15E5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Řetěz důvěry</a:t>
            </a:r>
          </a:p>
        </p:txBody>
      </p:sp>
      <p:pic>
        <p:nvPicPr>
          <p:cNvPr id="7" name="Zástupný obsah 6" descr="Chain of trust - Wikipedia">
            <a:extLst>
              <a:ext uri="{FF2B5EF4-FFF2-40B4-BE49-F238E27FC236}">
                <a16:creationId xmlns:a16="http://schemas.microsoft.com/office/drawing/2014/main" id="{E6D553F1-20BD-4D32-D9C3-8B0FCD210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8277" y="2478088"/>
            <a:ext cx="6783409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CC7BD3-81C2-9EE9-055F-3450674B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0A4C-4A04-4E4A-9229-58075505459D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E3447CF-288F-8902-511B-F3746C4C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76DB11-DC63-9C1A-5452-E0FF02CD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71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9EC7B-6838-0CDE-89E5-20B86D03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Kybernetická kriminalita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7BCA07-C89E-2165-4C00-83F333F9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cs-CZ" dirty="0"/>
              <a:t>Jedná se o trestnou činnost v jejímž určitým způsobem působí počítač </a:t>
            </a:r>
            <a:r>
              <a:rPr lang="cs-CZ" dirty="0">
                <a:ea typeface="+mn-lt"/>
                <a:cs typeface="+mn-lt"/>
              </a:rPr>
              <a:t>jakožto souhrn technického a programového </a:t>
            </a:r>
            <a:r>
              <a:rPr lang="cs-CZ">
                <a:ea typeface="+mn-lt"/>
                <a:cs typeface="+mn-lt"/>
              </a:rPr>
              <a:t>vybavení, případně větší množství počítačů</a:t>
            </a:r>
            <a:endParaRPr lang="cs-CZ" dirty="0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Porušení CIA cizího systému/dat</a:t>
            </a:r>
          </a:p>
          <a:p>
            <a:r>
              <a:rPr lang="cs-CZ" dirty="0">
                <a:ea typeface="+mn-lt"/>
                <a:cs typeface="+mn-lt"/>
              </a:rPr>
              <a:t>Protiprávní jednání, k němuž je využito funkci či potenciálu </a:t>
            </a:r>
            <a:r>
              <a:rPr lang="cs-CZ">
                <a:ea typeface="+mn-lt"/>
                <a:cs typeface="+mn-lt"/>
              </a:rPr>
              <a:t>ICT</a:t>
            </a:r>
          </a:p>
          <a:p>
            <a:r>
              <a:rPr lang="cs-CZ" dirty="0">
                <a:ea typeface="+mn-lt"/>
                <a:cs typeface="+mn-lt"/>
              </a:rPr>
              <a:t>Trestní zákoník (40/2009 Sb.)</a:t>
            </a:r>
          </a:p>
          <a:p>
            <a:r>
              <a:rPr lang="cs-CZ" dirty="0">
                <a:ea typeface="+mn-lt"/>
                <a:cs typeface="+mn-lt"/>
              </a:rPr>
              <a:t>EU </a:t>
            </a:r>
            <a:r>
              <a:rPr lang="cs-CZ" dirty="0" err="1">
                <a:ea typeface="+mn-lt"/>
                <a:cs typeface="+mn-lt"/>
              </a:rPr>
              <a:t>Convention</a:t>
            </a:r>
            <a:r>
              <a:rPr lang="cs-CZ" dirty="0">
                <a:ea typeface="+mn-lt"/>
                <a:cs typeface="+mn-lt"/>
              </a:rPr>
              <a:t> on </a:t>
            </a:r>
            <a:r>
              <a:rPr lang="cs-CZ" dirty="0" err="1">
                <a:ea typeface="+mn-lt"/>
                <a:cs typeface="+mn-lt"/>
              </a:rPr>
              <a:t>Cybercrime</a:t>
            </a:r>
            <a:r>
              <a:rPr lang="cs-CZ" dirty="0">
                <a:ea typeface="+mn-lt"/>
                <a:cs typeface="+mn-lt"/>
              </a:rPr>
              <a:t> (2001)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853F24C-C54E-6824-7695-74DA3157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CC89-9658-4106-A2E2-A65A3A5C098F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CF25A5-AEBE-2DBD-B40E-B9E3D68B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1943A5-995A-1CC9-DC95-E16ACE2C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4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6650C0-2BFD-7400-12A7-AB122638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Aircrack-ng</a:t>
            </a:r>
            <a:r>
              <a:rPr lang="cs-CZ" dirty="0"/>
              <a:t> - </a:t>
            </a:r>
            <a:r>
              <a:rPr lang="cs-CZ" dirty="0" err="1"/>
              <a:t>crackování</a:t>
            </a:r>
            <a:r>
              <a:rPr lang="cs-CZ" dirty="0"/>
              <a:t> hesla </a:t>
            </a:r>
            <a:r>
              <a:rPr lang="cs-CZ" dirty="0" err="1"/>
              <a:t>WiFi</a:t>
            </a:r>
          </a:p>
        </p:txBody>
      </p:sp>
      <p:pic>
        <p:nvPicPr>
          <p:cNvPr id="7" name="Zástupný obsah 6" descr="undefined">
            <a:extLst>
              <a:ext uri="{FF2B5EF4-FFF2-40B4-BE49-F238E27FC236}">
                <a16:creationId xmlns:a16="http://schemas.microsoft.com/office/drawing/2014/main" id="{114973FB-DD77-1BE1-E138-BE22A28BD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7809" y="2478088"/>
            <a:ext cx="6004344" cy="3694112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39BD6D-159A-4D5A-D347-A8D48753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75AB-6A12-4871-A984-BD43C6292B99}" type="datetime1">
              <a:t>10.12.2024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073B46-083D-4C13-A230-BE2C125C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C279B0-A902-5529-3737-F513A0C4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50046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25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26" baseType="lpstr">
      <vt:lpstr>AccentBoxVTI</vt:lpstr>
      <vt:lpstr>Kybernetická bezpečnost</vt:lpstr>
      <vt:lpstr>Kyberprostor</vt:lpstr>
      <vt:lpstr>Kyberprostor - obrázek</vt:lpstr>
      <vt:lpstr>Kybernetická bezpečnost</vt:lpstr>
      <vt:lpstr>Triáda CIA</vt:lpstr>
      <vt:lpstr>Technologie</vt:lpstr>
      <vt:lpstr>Snort, Microsoft AD</vt:lpstr>
      <vt:lpstr>Šifrování</vt:lpstr>
      <vt:lpstr>Šifrování</vt:lpstr>
      <vt:lpstr>Hashování</vt:lpstr>
      <vt:lpstr>Hashování</vt:lpstr>
      <vt:lpstr>Zranitelnosti</vt:lpstr>
      <vt:lpstr>CVE záznam v NIST databázi</vt:lpstr>
      <vt:lpstr>Malware</vt:lpstr>
      <vt:lpstr>Malware</vt:lpstr>
      <vt:lpstr>DoS, DDoS, Botnet</vt:lpstr>
      <vt:lpstr>DNS amplification DDoS</vt:lpstr>
      <vt:lpstr>IDS/IPS</vt:lpstr>
      <vt:lpstr>Suricata IDS</vt:lpstr>
      <vt:lpstr>Firewall</vt:lpstr>
      <vt:lpstr>opnSense</vt:lpstr>
      <vt:lpstr>CA</vt:lpstr>
      <vt:lpstr>Řetěz důvěry</vt:lpstr>
      <vt:lpstr>Kybernetická kriminalita</vt:lpstr>
      <vt:lpstr>Aircrack-ng - crackování hesla WiFi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518</cp:revision>
  <dcterms:created xsi:type="dcterms:W3CDTF">2024-10-13T15:50:01Z</dcterms:created>
  <dcterms:modified xsi:type="dcterms:W3CDTF">2024-12-10T08:48:54Z</dcterms:modified>
</cp:coreProperties>
</file>