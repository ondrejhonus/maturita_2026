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3" r:id="rId10"/>
    <p:sldId id="260" r:id="rId11"/>
    <p:sldId id="268" r:id="rId12"/>
    <p:sldId id="266" r:id="rId13"/>
    <p:sldId id="269" r:id="rId14"/>
    <p:sldId id="270" r:id="rId15"/>
    <p:sldId id="267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6D3FAE-649F-9087-AA9E-48E6A056E600}" v="2" dt="2024-11-19T08:26:29.139"/>
    <p1510:client id="{BA3EA3A3-5822-5E19-0E09-D719B5BCB664}" v="4" dt="2024-11-18T18:17:33.762"/>
    <p1510:client id="{BFCE30E7-F572-1A7B-C618-38A0D7931D52}" v="2" dt="2024-11-19T08:27:30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ří Rojek" userId="S::it2120@sspu-opava.cz::d17efeb8-7802-43bf-ba97-fd5fddabc2dd" providerId="AD" clId="Web-{266D3FAE-649F-9087-AA9E-48E6A056E600}"/>
    <pc:docChg chg="addSld">
      <pc:chgData name="Jiří Rojek" userId="S::it2120@sspu-opava.cz::d17efeb8-7802-43bf-ba97-fd5fddabc2dd" providerId="AD" clId="Web-{266D3FAE-649F-9087-AA9E-48E6A056E600}" dt="2024-11-19T08:26:29.139" v="1"/>
      <pc:docMkLst>
        <pc:docMk/>
      </pc:docMkLst>
      <pc:sldChg chg="new">
        <pc:chgData name="Jiří Rojek" userId="S::it2120@sspu-opava.cz::d17efeb8-7802-43bf-ba97-fd5fddabc2dd" providerId="AD" clId="Web-{266D3FAE-649F-9087-AA9E-48E6A056E600}" dt="2024-11-19T08:26:27.842" v="0"/>
        <pc:sldMkLst>
          <pc:docMk/>
          <pc:sldMk cId="3181426180" sldId="271"/>
        </pc:sldMkLst>
      </pc:sldChg>
      <pc:sldChg chg="new">
        <pc:chgData name="Jiří Rojek" userId="S::it2120@sspu-opava.cz::d17efeb8-7802-43bf-ba97-fd5fddabc2dd" providerId="AD" clId="Web-{266D3FAE-649F-9087-AA9E-48E6A056E600}" dt="2024-11-19T08:26:29.139" v="1"/>
        <pc:sldMkLst>
          <pc:docMk/>
          <pc:sldMk cId="1630995777" sldId="272"/>
        </pc:sldMkLst>
      </pc:sldChg>
    </pc:docChg>
  </pc:docChgLst>
  <pc:docChgLst>
    <pc:chgData name="Marek Samel" userId="S::it2123@sspu-opava.cz::6e7e6df8-03dd-48f8-be70-c6fa9e881a9b" providerId="AD" clId="Web-{BFCE30E7-F572-1A7B-C618-38A0D7931D52}"/>
    <pc:docChg chg="delSld">
      <pc:chgData name="Marek Samel" userId="S::it2123@sspu-opava.cz::6e7e6df8-03dd-48f8-be70-c6fa9e881a9b" providerId="AD" clId="Web-{BFCE30E7-F572-1A7B-C618-38A0D7931D52}" dt="2024-11-19T08:27:30.239" v="1"/>
      <pc:docMkLst>
        <pc:docMk/>
      </pc:docMkLst>
      <pc:sldChg chg="del">
        <pc:chgData name="Marek Samel" userId="S::it2123@sspu-opava.cz::6e7e6df8-03dd-48f8-be70-c6fa9e881a9b" providerId="AD" clId="Web-{BFCE30E7-F572-1A7B-C618-38A0D7931D52}" dt="2024-11-19T08:27:27.864" v="0"/>
        <pc:sldMkLst>
          <pc:docMk/>
          <pc:sldMk cId="3181426180" sldId="271"/>
        </pc:sldMkLst>
      </pc:sldChg>
      <pc:sldChg chg="del">
        <pc:chgData name="Marek Samel" userId="S::it2123@sspu-opava.cz::6e7e6df8-03dd-48f8-be70-c6fa9e881a9b" providerId="AD" clId="Web-{BFCE30E7-F572-1A7B-C618-38A0D7931D52}" dt="2024-11-19T08:27:30.239" v="1"/>
        <pc:sldMkLst>
          <pc:docMk/>
          <pc:sldMk cId="1630995777" sldId="272"/>
        </pc:sldMkLst>
      </pc:sldChg>
    </pc:docChg>
  </pc:docChgLst>
  <pc:docChgLst>
    <pc:chgData name="David Peterek" userId="S::it2118@sspu-opava.cz::8362cc6b-550b-4eba-bf9a-b4c89d22c283" providerId="AD" clId="Web-{BA3EA3A3-5822-5E19-0E09-D719B5BCB664}"/>
    <pc:docChg chg="modSld">
      <pc:chgData name="David Peterek" userId="S::it2118@sspu-opava.cz::8362cc6b-550b-4eba-bf9a-b4c89d22c283" providerId="AD" clId="Web-{BA3EA3A3-5822-5E19-0E09-D719B5BCB664}" dt="2024-11-18T18:17:33.762" v="3" actId="14100"/>
      <pc:docMkLst>
        <pc:docMk/>
      </pc:docMkLst>
      <pc:sldChg chg="modSp">
        <pc:chgData name="David Peterek" userId="S::it2118@sspu-opava.cz::8362cc6b-550b-4eba-bf9a-b4c89d22c283" providerId="AD" clId="Web-{BA3EA3A3-5822-5E19-0E09-D719B5BCB664}" dt="2024-11-18T18:09:50.795" v="1" actId="20577"/>
        <pc:sldMkLst>
          <pc:docMk/>
          <pc:sldMk cId="1292631088" sldId="258"/>
        </pc:sldMkLst>
        <pc:spChg chg="mod">
          <ac:chgData name="David Peterek" userId="S::it2118@sspu-opava.cz::8362cc6b-550b-4eba-bf9a-b4c89d22c283" providerId="AD" clId="Web-{BA3EA3A3-5822-5E19-0E09-D719B5BCB664}" dt="2024-11-18T18:09:50.795" v="1" actId="20577"/>
          <ac:spMkLst>
            <pc:docMk/>
            <pc:sldMk cId="1292631088" sldId="258"/>
            <ac:spMk id="3" creationId="{BB5A79B5-AD73-CEEB-9E92-B0E4BDBE7A24}"/>
          </ac:spMkLst>
        </pc:spChg>
      </pc:sldChg>
      <pc:sldChg chg="modSp">
        <pc:chgData name="David Peterek" userId="S::it2118@sspu-opava.cz::8362cc6b-550b-4eba-bf9a-b4c89d22c283" providerId="AD" clId="Web-{BA3EA3A3-5822-5E19-0E09-D719B5BCB664}" dt="2024-11-18T18:17:33.762" v="3" actId="14100"/>
        <pc:sldMkLst>
          <pc:docMk/>
          <pc:sldMk cId="798765604" sldId="264"/>
        </pc:sldMkLst>
        <pc:picChg chg="mod">
          <ac:chgData name="David Peterek" userId="S::it2118@sspu-opava.cz::8362cc6b-550b-4eba-bf9a-b4c89d22c283" providerId="AD" clId="Web-{BA3EA3A3-5822-5E19-0E09-D719B5BCB664}" dt="2024-11-18T18:17:33.762" v="3" actId="14100"/>
          <ac:picMkLst>
            <pc:docMk/>
            <pc:sldMk cId="798765604" sldId="264"/>
            <ac:picMk id="4" creationId="{2393E125-86BA-BBC7-AF99-BFAAA84777C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8048F9-4656-4699-B2B8-D18C302F704B}" type="doc">
      <dgm:prSet loTypeId="urn:microsoft.com/office/officeart/2005/8/layout/vList2" loCatId="list" qsTypeId="urn:microsoft.com/office/officeart/2005/8/quickstyle/simple4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6CC04495-39C8-4947-A3C6-5E83691D7331}">
      <dgm:prSet/>
      <dgm:spPr/>
      <dgm:t>
        <a:bodyPr/>
        <a:lstStyle/>
        <a:p>
          <a:r>
            <a:rPr lang="cs-CZ" b="1"/>
            <a:t>Co je Cron:</a:t>
          </a:r>
          <a:r>
            <a:rPr lang="cs-CZ"/>
            <a:t> Cron je plánovací služba, která umožňuje automaticky spouštět úlohy ve specifikovaných intervalech. Je ideální pro pravidelné úlohy, jako jsou zálohy, aktualizace nebo čištění souborů.</a:t>
          </a:r>
          <a:endParaRPr lang="en-US"/>
        </a:p>
      </dgm:t>
    </dgm:pt>
    <dgm:pt modelId="{7A562FC5-8F48-48CA-9E33-F32FA75A1136}" type="parTrans" cxnId="{09673387-8511-4ABF-AFD9-8DE482EA2052}">
      <dgm:prSet/>
      <dgm:spPr/>
      <dgm:t>
        <a:bodyPr/>
        <a:lstStyle/>
        <a:p>
          <a:endParaRPr lang="en-US"/>
        </a:p>
      </dgm:t>
    </dgm:pt>
    <dgm:pt modelId="{6B52272D-74E6-4DB8-BF23-39C121D7557C}" type="sibTrans" cxnId="{09673387-8511-4ABF-AFD9-8DE482EA2052}">
      <dgm:prSet/>
      <dgm:spPr/>
      <dgm:t>
        <a:bodyPr/>
        <a:lstStyle/>
        <a:p>
          <a:endParaRPr lang="en-US"/>
        </a:p>
      </dgm:t>
    </dgm:pt>
    <dgm:pt modelId="{00925495-F782-40BA-A8E9-AA035B40C1CC}">
      <dgm:prSet/>
      <dgm:spPr/>
      <dgm:t>
        <a:bodyPr/>
        <a:lstStyle/>
        <a:p>
          <a:r>
            <a:rPr lang="cs-CZ" b="1"/>
            <a:t>Cron tabulka:</a:t>
          </a:r>
          <a:r>
            <a:rPr lang="cs-CZ"/>
            <a:t> Je to konfigurační soubor, kde jsou uloženy informace o plánovaných úlohách a jejich frekvenci.</a:t>
          </a:r>
          <a:endParaRPr lang="en-US"/>
        </a:p>
      </dgm:t>
    </dgm:pt>
    <dgm:pt modelId="{F038BB63-0FF9-43A7-9D92-77E75530DA58}" type="parTrans" cxnId="{12831731-9824-4EDB-9FA2-49B71B330026}">
      <dgm:prSet/>
      <dgm:spPr/>
      <dgm:t>
        <a:bodyPr/>
        <a:lstStyle/>
        <a:p>
          <a:endParaRPr lang="en-US"/>
        </a:p>
      </dgm:t>
    </dgm:pt>
    <dgm:pt modelId="{F6C7342F-8D91-49DB-8562-A381DB27C236}" type="sibTrans" cxnId="{12831731-9824-4EDB-9FA2-49B71B330026}">
      <dgm:prSet/>
      <dgm:spPr/>
      <dgm:t>
        <a:bodyPr/>
        <a:lstStyle/>
        <a:p>
          <a:endParaRPr lang="en-US"/>
        </a:p>
      </dgm:t>
    </dgm:pt>
    <dgm:pt modelId="{8579E0C7-468B-4DE1-934A-B97B57032F98}">
      <dgm:prSet/>
      <dgm:spPr/>
      <dgm:t>
        <a:bodyPr/>
        <a:lstStyle/>
        <a:p>
          <a:r>
            <a:rPr lang="cs-CZ" b="1"/>
            <a:t>Struktura úloh v crontabu:</a:t>
          </a:r>
          <a:r>
            <a:rPr lang="cs-CZ"/>
            <a:t> Soubor crontab definuje, kdy a jak často se úlohy spouští. Syntaxe crontabu je rozdělena do pěti časových polí (minuty, hodiny, dny, měsíce, dny v týdnu) a příkazu, který se má vykonat. Například příkaz </a:t>
          </a:r>
          <a:r>
            <a:rPr lang="cs-CZ" u="sng"/>
            <a:t>0 5 * * * /usr/local/bin/backup.sh</a:t>
          </a:r>
          <a:r>
            <a:rPr lang="cs-CZ"/>
            <a:t> spustí skript každý den v 5:00 ráno.</a:t>
          </a:r>
          <a:endParaRPr lang="en-US"/>
        </a:p>
      </dgm:t>
    </dgm:pt>
    <dgm:pt modelId="{C66F223A-65F8-4369-98D4-F23CF76AB0A1}" type="parTrans" cxnId="{FEF48D7B-E9FF-447A-8D0A-EED0453A5802}">
      <dgm:prSet/>
      <dgm:spPr/>
      <dgm:t>
        <a:bodyPr/>
        <a:lstStyle/>
        <a:p>
          <a:endParaRPr lang="en-US"/>
        </a:p>
      </dgm:t>
    </dgm:pt>
    <dgm:pt modelId="{135F5C8F-20BF-4DAA-9032-AE0EDBD413DC}" type="sibTrans" cxnId="{FEF48D7B-E9FF-447A-8D0A-EED0453A5802}">
      <dgm:prSet/>
      <dgm:spPr/>
      <dgm:t>
        <a:bodyPr/>
        <a:lstStyle/>
        <a:p>
          <a:endParaRPr lang="en-US"/>
        </a:p>
      </dgm:t>
    </dgm:pt>
    <dgm:pt modelId="{A0B71BF0-BC44-4C73-BE08-92F681A342F7}">
      <dgm:prSet/>
      <dgm:spPr/>
      <dgm:t>
        <a:bodyPr/>
        <a:lstStyle/>
        <a:p>
          <a:r>
            <a:rPr lang="cs-CZ" b="1"/>
            <a:t>Příkazy v crontabu</a:t>
          </a:r>
          <a:endParaRPr lang="en-US"/>
        </a:p>
      </dgm:t>
    </dgm:pt>
    <dgm:pt modelId="{1CEAD07B-7313-4344-97B1-523EDB904C87}" type="parTrans" cxnId="{FCC1DE13-1D07-45A3-9B99-8412D9D877E4}">
      <dgm:prSet/>
      <dgm:spPr/>
      <dgm:t>
        <a:bodyPr/>
        <a:lstStyle/>
        <a:p>
          <a:endParaRPr lang="en-US"/>
        </a:p>
      </dgm:t>
    </dgm:pt>
    <dgm:pt modelId="{7CF69F65-6B40-48C8-9195-B5725B63059F}" type="sibTrans" cxnId="{FCC1DE13-1D07-45A3-9B99-8412D9D877E4}">
      <dgm:prSet/>
      <dgm:spPr/>
      <dgm:t>
        <a:bodyPr/>
        <a:lstStyle/>
        <a:p>
          <a:endParaRPr lang="en-US"/>
        </a:p>
      </dgm:t>
    </dgm:pt>
    <dgm:pt modelId="{587FD30A-DF0C-4038-A59D-CF94B4BEB4B5}">
      <dgm:prSet/>
      <dgm:spPr/>
      <dgm:t>
        <a:bodyPr/>
        <a:lstStyle/>
        <a:p>
          <a:r>
            <a:rPr lang="cs-CZ" u="sng"/>
            <a:t>crontab -e</a:t>
          </a:r>
          <a:r>
            <a:rPr lang="cs-CZ"/>
            <a:t> otevře soubor crontab pro úpravy.</a:t>
          </a:r>
          <a:endParaRPr lang="en-US"/>
        </a:p>
      </dgm:t>
    </dgm:pt>
    <dgm:pt modelId="{740B868F-7577-4CA2-B83A-F0517226D72C}" type="parTrans" cxnId="{3F40AA01-FD55-419F-A2CC-0D9AC50C28F1}">
      <dgm:prSet/>
      <dgm:spPr/>
      <dgm:t>
        <a:bodyPr/>
        <a:lstStyle/>
        <a:p>
          <a:endParaRPr lang="en-US"/>
        </a:p>
      </dgm:t>
    </dgm:pt>
    <dgm:pt modelId="{89BFD162-46FD-48C5-9438-3A351400126E}" type="sibTrans" cxnId="{3F40AA01-FD55-419F-A2CC-0D9AC50C28F1}">
      <dgm:prSet/>
      <dgm:spPr/>
      <dgm:t>
        <a:bodyPr/>
        <a:lstStyle/>
        <a:p>
          <a:endParaRPr lang="en-US"/>
        </a:p>
      </dgm:t>
    </dgm:pt>
    <dgm:pt modelId="{6BC10BDC-07E6-4569-86F1-14A5EEF3B5E4}">
      <dgm:prSet/>
      <dgm:spPr/>
      <dgm:t>
        <a:bodyPr/>
        <a:lstStyle/>
        <a:p>
          <a:r>
            <a:rPr lang="cs-CZ" u="sng"/>
            <a:t>crontab -l</a:t>
          </a:r>
          <a:r>
            <a:rPr lang="cs-CZ"/>
            <a:t> zobrazí aktuální naplánované úlohy pro daného uživatele</a:t>
          </a:r>
          <a:endParaRPr lang="en-US"/>
        </a:p>
      </dgm:t>
    </dgm:pt>
    <dgm:pt modelId="{F76EB89F-5EE4-41D6-93F1-37FC5A3AC53E}" type="parTrans" cxnId="{1662724F-0339-43A0-B47F-927AFF1B8F9B}">
      <dgm:prSet/>
      <dgm:spPr/>
      <dgm:t>
        <a:bodyPr/>
        <a:lstStyle/>
        <a:p>
          <a:endParaRPr lang="en-US"/>
        </a:p>
      </dgm:t>
    </dgm:pt>
    <dgm:pt modelId="{5C9A3F3A-BB54-4208-A166-A7AFB14401F5}" type="sibTrans" cxnId="{1662724F-0339-43A0-B47F-927AFF1B8F9B}">
      <dgm:prSet/>
      <dgm:spPr/>
      <dgm:t>
        <a:bodyPr/>
        <a:lstStyle/>
        <a:p>
          <a:endParaRPr lang="en-US"/>
        </a:p>
      </dgm:t>
    </dgm:pt>
    <dgm:pt modelId="{685AD258-0B12-45B6-BAB1-B2FB8934964D}">
      <dgm:prSet/>
      <dgm:spPr/>
      <dgm:t>
        <a:bodyPr/>
        <a:lstStyle/>
        <a:p>
          <a:r>
            <a:rPr lang="cs-CZ" b="1"/>
            <a:t>Správa systémových úloh</a:t>
          </a:r>
          <a:endParaRPr lang="en-US"/>
        </a:p>
      </dgm:t>
    </dgm:pt>
    <dgm:pt modelId="{D1CF6EAC-CC49-470D-AFAE-1B000536A8B0}" type="parTrans" cxnId="{BB896739-FF7E-4F30-A96D-7A3F1762C097}">
      <dgm:prSet/>
      <dgm:spPr/>
      <dgm:t>
        <a:bodyPr/>
        <a:lstStyle/>
        <a:p>
          <a:endParaRPr lang="en-US"/>
        </a:p>
      </dgm:t>
    </dgm:pt>
    <dgm:pt modelId="{50DCB873-1868-456D-8877-9E427EC97E4C}" type="sibTrans" cxnId="{BB896739-FF7E-4F30-A96D-7A3F1762C097}">
      <dgm:prSet/>
      <dgm:spPr/>
      <dgm:t>
        <a:bodyPr/>
        <a:lstStyle/>
        <a:p>
          <a:endParaRPr lang="en-US"/>
        </a:p>
      </dgm:t>
    </dgm:pt>
    <dgm:pt modelId="{20DD5B8D-E8CE-45E9-AC8C-6BB4C5FE3895}">
      <dgm:prSet/>
      <dgm:spPr/>
      <dgm:t>
        <a:bodyPr/>
        <a:lstStyle/>
        <a:p>
          <a:r>
            <a:rPr lang="cs-CZ"/>
            <a:t>Administrátoři mohou spravovat úlohy, které mají dopad na celý systém, pomocí crontabu umístěného v </a:t>
          </a:r>
          <a:r>
            <a:rPr lang="cs-CZ" u="sng"/>
            <a:t>/etc/crontab</a:t>
          </a:r>
          <a:r>
            <a:rPr lang="cs-CZ"/>
            <a:t>.</a:t>
          </a:r>
          <a:endParaRPr lang="en-US"/>
        </a:p>
      </dgm:t>
    </dgm:pt>
    <dgm:pt modelId="{1A18EB5B-28A4-4367-AF33-DB80192FDA26}" type="parTrans" cxnId="{88FDB03E-119B-4B90-BE04-C81B2178DB7E}">
      <dgm:prSet/>
      <dgm:spPr/>
      <dgm:t>
        <a:bodyPr/>
        <a:lstStyle/>
        <a:p>
          <a:endParaRPr lang="en-US"/>
        </a:p>
      </dgm:t>
    </dgm:pt>
    <dgm:pt modelId="{463BFD76-87AA-4F18-87F3-8E81921C4D1F}" type="sibTrans" cxnId="{88FDB03E-119B-4B90-BE04-C81B2178DB7E}">
      <dgm:prSet/>
      <dgm:spPr/>
      <dgm:t>
        <a:bodyPr/>
        <a:lstStyle/>
        <a:p>
          <a:endParaRPr lang="en-US"/>
        </a:p>
      </dgm:t>
    </dgm:pt>
    <dgm:pt modelId="{45A0B4D5-FE22-4CAA-AF4C-14EE4D885DCA}" type="pres">
      <dgm:prSet presAssocID="{0E8048F9-4656-4699-B2B8-D18C302F704B}" presName="linear" presStyleCnt="0">
        <dgm:presLayoutVars>
          <dgm:animLvl val="lvl"/>
          <dgm:resizeHandles val="exact"/>
        </dgm:presLayoutVars>
      </dgm:prSet>
      <dgm:spPr/>
    </dgm:pt>
    <dgm:pt modelId="{840086BA-A84D-4014-AF56-524230D6129D}" type="pres">
      <dgm:prSet presAssocID="{6CC04495-39C8-4947-A3C6-5E83691D7331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C0A6AECB-B334-4163-AE52-EE4BE25EE5DE}" type="pres">
      <dgm:prSet presAssocID="{6B52272D-74E6-4DB8-BF23-39C121D7557C}" presName="spacer" presStyleCnt="0"/>
      <dgm:spPr/>
    </dgm:pt>
    <dgm:pt modelId="{E6F04B91-A19E-49D8-9FF7-1C3BC0C98DD2}" type="pres">
      <dgm:prSet presAssocID="{00925495-F782-40BA-A8E9-AA035B40C1CC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A7A59825-2FC3-46AD-978D-760904988DBE}" type="pres">
      <dgm:prSet presAssocID="{F6C7342F-8D91-49DB-8562-A381DB27C236}" presName="spacer" presStyleCnt="0"/>
      <dgm:spPr/>
    </dgm:pt>
    <dgm:pt modelId="{90B769B3-8D7F-4F82-A9BF-C325BE4C8708}" type="pres">
      <dgm:prSet presAssocID="{8579E0C7-468B-4DE1-934A-B97B57032F98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97CE58B1-9B77-421B-AFD6-762433C10C56}" type="pres">
      <dgm:prSet presAssocID="{135F5C8F-20BF-4DAA-9032-AE0EDBD413DC}" presName="spacer" presStyleCnt="0"/>
      <dgm:spPr/>
    </dgm:pt>
    <dgm:pt modelId="{F65A51AA-DF49-4EDC-866D-2770F87E7778}" type="pres">
      <dgm:prSet presAssocID="{A0B71BF0-BC44-4C73-BE08-92F681A342F7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58534BC8-FB15-490F-B707-3C32499BD85C}" type="pres">
      <dgm:prSet presAssocID="{7CF69F65-6B40-48C8-9195-B5725B63059F}" presName="spacer" presStyleCnt="0"/>
      <dgm:spPr/>
    </dgm:pt>
    <dgm:pt modelId="{3AEF6835-F49A-4181-A21F-1571C43435C1}" type="pres">
      <dgm:prSet presAssocID="{587FD30A-DF0C-4038-A59D-CF94B4BEB4B5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168CB104-0471-466B-A3DC-7E740E479FA6}" type="pres">
      <dgm:prSet presAssocID="{89BFD162-46FD-48C5-9438-3A351400126E}" presName="spacer" presStyleCnt="0"/>
      <dgm:spPr/>
    </dgm:pt>
    <dgm:pt modelId="{06CB24CC-8975-4C66-B4F8-C6583A90F284}" type="pres">
      <dgm:prSet presAssocID="{6BC10BDC-07E6-4569-86F1-14A5EEF3B5E4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931D41EA-5F63-4E17-9577-5E09C50AFD4C}" type="pres">
      <dgm:prSet presAssocID="{5C9A3F3A-BB54-4208-A166-A7AFB14401F5}" presName="spacer" presStyleCnt="0"/>
      <dgm:spPr/>
    </dgm:pt>
    <dgm:pt modelId="{9F404269-75DD-4B80-B6D6-F2E4BE456C4F}" type="pres">
      <dgm:prSet presAssocID="{685AD258-0B12-45B6-BAB1-B2FB8934964D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308900A-6E99-4E21-B0DB-08440E5160B9}" type="pres">
      <dgm:prSet presAssocID="{50DCB873-1868-456D-8877-9E427EC97E4C}" presName="spacer" presStyleCnt="0"/>
      <dgm:spPr/>
    </dgm:pt>
    <dgm:pt modelId="{B9B90339-07F7-4C8A-BEE7-8276951734D2}" type="pres">
      <dgm:prSet presAssocID="{20DD5B8D-E8CE-45E9-AC8C-6BB4C5FE3895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3F40AA01-FD55-419F-A2CC-0D9AC50C28F1}" srcId="{0E8048F9-4656-4699-B2B8-D18C302F704B}" destId="{587FD30A-DF0C-4038-A59D-CF94B4BEB4B5}" srcOrd="4" destOrd="0" parTransId="{740B868F-7577-4CA2-B83A-F0517226D72C}" sibTransId="{89BFD162-46FD-48C5-9438-3A351400126E}"/>
    <dgm:cxn modelId="{FCC1DE13-1D07-45A3-9B99-8412D9D877E4}" srcId="{0E8048F9-4656-4699-B2B8-D18C302F704B}" destId="{A0B71BF0-BC44-4C73-BE08-92F681A342F7}" srcOrd="3" destOrd="0" parTransId="{1CEAD07B-7313-4344-97B1-523EDB904C87}" sibTransId="{7CF69F65-6B40-48C8-9195-B5725B63059F}"/>
    <dgm:cxn modelId="{68ED271D-CAF1-458C-A0CB-260915425DE8}" type="presOf" srcId="{00925495-F782-40BA-A8E9-AA035B40C1CC}" destId="{E6F04B91-A19E-49D8-9FF7-1C3BC0C98DD2}" srcOrd="0" destOrd="0" presId="urn:microsoft.com/office/officeart/2005/8/layout/vList2"/>
    <dgm:cxn modelId="{36612F30-00FB-4496-A7F4-92CB799817A1}" type="presOf" srcId="{20DD5B8D-E8CE-45E9-AC8C-6BB4C5FE3895}" destId="{B9B90339-07F7-4C8A-BEE7-8276951734D2}" srcOrd="0" destOrd="0" presId="urn:microsoft.com/office/officeart/2005/8/layout/vList2"/>
    <dgm:cxn modelId="{12831731-9824-4EDB-9FA2-49B71B330026}" srcId="{0E8048F9-4656-4699-B2B8-D18C302F704B}" destId="{00925495-F782-40BA-A8E9-AA035B40C1CC}" srcOrd="1" destOrd="0" parTransId="{F038BB63-0FF9-43A7-9D92-77E75530DA58}" sibTransId="{F6C7342F-8D91-49DB-8562-A381DB27C236}"/>
    <dgm:cxn modelId="{2C228C34-0FC3-4988-90DE-01BD7B24EC12}" type="presOf" srcId="{587FD30A-DF0C-4038-A59D-CF94B4BEB4B5}" destId="{3AEF6835-F49A-4181-A21F-1571C43435C1}" srcOrd="0" destOrd="0" presId="urn:microsoft.com/office/officeart/2005/8/layout/vList2"/>
    <dgm:cxn modelId="{BB896739-FF7E-4F30-A96D-7A3F1762C097}" srcId="{0E8048F9-4656-4699-B2B8-D18C302F704B}" destId="{685AD258-0B12-45B6-BAB1-B2FB8934964D}" srcOrd="6" destOrd="0" parTransId="{D1CF6EAC-CC49-470D-AFAE-1B000536A8B0}" sibTransId="{50DCB873-1868-456D-8877-9E427EC97E4C}"/>
    <dgm:cxn modelId="{88FDB03E-119B-4B90-BE04-C81B2178DB7E}" srcId="{0E8048F9-4656-4699-B2B8-D18C302F704B}" destId="{20DD5B8D-E8CE-45E9-AC8C-6BB4C5FE3895}" srcOrd="7" destOrd="0" parTransId="{1A18EB5B-28A4-4367-AF33-DB80192FDA26}" sibTransId="{463BFD76-87AA-4F18-87F3-8E81921C4D1F}"/>
    <dgm:cxn modelId="{8264B260-0A5D-45ED-B121-0B7FA3E35733}" type="presOf" srcId="{A0B71BF0-BC44-4C73-BE08-92F681A342F7}" destId="{F65A51AA-DF49-4EDC-866D-2770F87E7778}" srcOrd="0" destOrd="0" presId="urn:microsoft.com/office/officeart/2005/8/layout/vList2"/>
    <dgm:cxn modelId="{61AA8F43-60E4-4F12-BF20-66E14B21E93C}" type="presOf" srcId="{685AD258-0B12-45B6-BAB1-B2FB8934964D}" destId="{9F404269-75DD-4B80-B6D6-F2E4BE456C4F}" srcOrd="0" destOrd="0" presId="urn:microsoft.com/office/officeart/2005/8/layout/vList2"/>
    <dgm:cxn modelId="{1662724F-0339-43A0-B47F-927AFF1B8F9B}" srcId="{0E8048F9-4656-4699-B2B8-D18C302F704B}" destId="{6BC10BDC-07E6-4569-86F1-14A5EEF3B5E4}" srcOrd="5" destOrd="0" parTransId="{F76EB89F-5EE4-41D6-93F1-37FC5A3AC53E}" sibTransId="{5C9A3F3A-BB54-4208-A166-A7AFB14401F5}"/>
    <dgm:cxn modelId="{FEF48D7B-E9FF-447A-8D0A-EED0453A5802}" srcId="{0E8048F9-4656-4699-B2B8-D18C302F704B}" destId="{8579E0C7-468B-4DE1-934A-B97B57032F98}" srcOrd="2" destOrd="0" parTransId="{C66F223A-65F8-4369-98D4-F23CF76AB0A1}" sibTransId="{135F5C8F-20BF-4DAA-9032-AE0EDBD413DC}"/>
    <dgm:cxn modelId="{09673387-8511-4ABF-AFD9-8DE482EA2052}" srcId="{0E8048F9-4656-4699-B2B8-D18C302F704B}" destId="{6CC04495-39C8-4947-A3C6-5E83691D7331}" srcOrd="0" destOrd="0" parTransId="{7A562FC5-8F48-48CA-9E33-F32FA75A1136}" sibTransId="{6B52272D-74E6-4DB8-BF23-39C121D7557C}"/>
    <dgm:cxn modelId="{DC651CB4-0A6F-47A1-A7FD-AD3F43CD7B2F}" type="presOf" srcId="{6CC04495-39C8-4947-A3C6-5E83691D7331}" destId="{840086BA-A84D-4014-AF56-524230D6129D}" srcOrd="0" destOrd="0" presId="urn:microsoft.com/office/officeart/2005/8/layout/vList2"/>
    <dgm:cxn modelId="{E2F264BC-C721-4CC1-A6D1-804CF32CA8D7}" type="presOf" srcId="{0E8048F9-4656-4699-B2B8-D18C302F704B}" destId="{45A0B4D5-FE22-4CAA-AF4C-14EE4D885DCA}" srcOrd="0" destOrd="0" presId="urn:microsoft.com/office/officeart/2005/8/layout/vList2"/>
    <dgm:cxn modelId="{2F705BC8-F892-4E39-9A99-FE999684551D}" type="presOf" srcId="{8579E0C7-468B-4DE1-934A-B97B57032F98}" destId="{90B769B3-8D7F-4F82-A9BF-C325BE4C8708}" srcOrd="0" destOrd="0" presId="urn:microsoft.com/office/officeart/2005/8/layout/vList2"/>
    <dgm:cxn modelId="{AB3DFFEC-A6BC-497D-8813-9B36F89F35FB}" type="presOf" srcId="{6BC10BDC-07E6-4569-86F1-14A5EEF3B5E4}" destId="{06CB24CC-8975-4C66-B4F8-C6583A90F284}" srcOrd="0" destOrd="0" presId="urn:microsoft.com/office/officeart/2005/8/layout/vList2"/>
    <dgm:cxn modelId="{D323CA26-A344-417F-A1BE-D976F08DAAE9}" type="presParOf" srcId="{45A0B4D5-FE22-4CAA-AF4C-14EE4D885DCA}" destId="{840086BA-A84D-4014-AF56-524230D6129D}" srcOrd="0" destOrd="0" presId="urn:microsoft.com/office/officeart/2005/8/layout/vList2"/>
    <dgm:cxn modelId="{271D64D7-C934-4A80-AB1E-9F197D5C6BC7}" type="presParOf" srcId="{45A0B4D5-FE22-4CAA-AF4C-14EE4D885DCA}" destId="{C0A6AECB-B334-4163-AE52-EE4BE25EE5DE}" srcOrd="1" destOrd="0" presId="urn:microsoft.com/office/officeart/2005/8/layout/vList2"/>
    <dgm:cxn modelId="{C29B4E5E-6368-4BB9-B54E-2B09E8FC7760}" type="presParOf" srcId="{45A0B4D5-FE22-4CAA-AF4C-14EE4D885DCA}" destId="{E6F04B91-A19E-49D8-9FF7-1C3BC0C98DD2}" srcOrd="2" destOrd="0" presId="urn:microsoft.com/office/officeart/2005/8/layout/vList2"/>
    <dgm:cxn modelId="{E3B0FC24-433C-446E-A3E5-CE762A7AE7F5}" type="presParOf" srcId="{45A0B4D5-FE22-4CAA-AF4C-14EE4D885DCA}" destId="{A7A59825-2FC3-46AD-978D-760904988DBE}" srcOrd="3" destOrd="0" presId="urn:microsoft.com/office/officeart/2005/8/layout/vList2"/>
    <dgm:cxn modelId="{F5F2115F-A091-464B-A7AC-3DC2866FADC8}" type="presParOf" srcId="{45A0B4D5-FE22-4CAA-AF4C-14EE4D885DCA}" destId="{90B769B3-8D7F-4F82-A9BF-C325BE4C8708}" srcOrd="4" destOrd="0" presId="urn:microsoft.com/office/officeart/2005/8/layout/vList2"/>
    <dgm:cxn modelId="{2F421EE4-AE0F-43BE-91E8-4E95FE53170E}" type="presParOf" srcId="{45A0B4D5-FE22-4CAA-AF4C-14EE4D885DCA}" destId="{97CE58B1-9B77-421B-AFD6-762433C10C56}" srcOrd="5" destOrd="0" presId="urn:microsoft.com/office/officeart/2005/8/layout/vList2"/>
    <dgm:cxn modelId="{431F3BB2-BA64-4CC8-9DFF-202AD2510719}" type="presParOf" srcId="{45A0B4D5-FE22-4CAA-AF4C-14EE4D885DCA}" destId="{F65A51AA-DF49-4EDC-866D-2770F87E7778}" srcOrd="6" destOrd="0" presId="urn:microsoft.com/office/officeart/2005/8/layout/vList2"/>
    <dgm:cxn modelId="{98FD2676-05BF-4B84-BF17-11C0600B4A59}" type="presParOf" srcId="{45A0B4D5-FE22-4CAA-AF4C-14EE4D885DCA}" destId="{58534BC8-FB15-490F-B707-3C32499BD85C}" srcOrd="7" destOrd="0" presId="urn:microsoft.com/office/officeart/2005/8/layout/vList2"/>
    <dgm:cxn modelId="{5ABCBBCA-FA23-4EF1-84FD-8A7A236397DA}" type="presParOf" srcId="{45A0B4D5-FE22-4CAA-AF4C-14EE4D885DCA}" destId="{3AEF6835-F49A-4181-A21F-1571C43435C1}" srcOrd="8" destOrd="0" presId="urn:microsoft.com/office/officeart/2005/8/layout/vList2"/>
    <dgm:cxn modelId="{F3A19B8A-D648-4249-A632-FC70FD568357}" type="presParOf" srcId="{45A0B4D5-FE22-4CAA-AF4C-14EE4D885DCA}" destId="{168CB104-0471-466B-A3DC-7E740E479FA6}" srcOrd="9" destOrd="0" presId="urn:microsoft.com/office/officeart/2005/8/layout/vList2"/>
    <dgm:cxn modelId="{BF81CB0B-98B8-402C-B002-73F88A9AD81D}" type="presParOf" srcId="{45A0B4D5-FE22-4CAA-AF4C-14EE4D885DCA}" destId="{06CB24CC-8975-4C66-B4F8-C6583A90F284}" srcOrd="10" destOrd="0" presId="urn:microsoft.com/office/officeart/2005/8/layout/vList2"/>
    <dgm:cxn modelId="{F4FDEE43-9F29-4A0C-BEEC-267BB4BB8E73}" type="presParOf" srcId="{45A0B4D5-FE22-4CAA-AF4C-14EE4D885DCA}" destId="{931D41EA-5F63-4E17-9577-5E09C50AFD4C}" srcOrd="11" destOrd="0" presId="urn:microsoft.com/office/officeart/2005/8/layout/vList2"/>
    <dgm:cxn modelId="{0B57AAFA-062B-44A4-A401-F0DE369A38DF}" type="presParOf" srcId="{45A0B4D5-FE22-4CAA-AF4C-14EE4D885DCA}" destId="{9F404269-75DD-4B80-B6D6-F2E4BE456C4F}" srcOrd="12" destOrd="0" presId="urn:microsoft.com/office/officeart/2005/8/layout/vList2"/>
    <dgm:cxn modelId="{4E2415E2-28A8-4C89-B4AA-3DA6B857B61A}" type="presParOf" srcId="{45A0B4D5-FE22-4CAA-AF4C-14EE4D885DCA}" destId="{F308900A-6E99-4E21-B0DB-08440E5160B9}" srcOrd="13" destOrd="0" presId="urn:microsoft.com/office/officeart/2005/8/layout/vList2"/>
    <dgm:cxn modelId="{1F5015F7-F682-41C7-A0FD-B7D18C26D0F1}" type="presParOf" srcId="{45A0B4D5-FE22-4CAA-AF4C-14EE4D885DCA}" destId="{B9B90339-07F7-4C8A-BEE7-8276951734D2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086BA-A84D-4014-AF56-524230D6129D}">
      <dsp:nvSpPr>
        <dsp:cNvPr id="0" name=""/>
        <dsp:cNvSpPr/>
      </dsp:nvSpPr>
      <dsp:spPr>
        <a:xfrm>
          <a:off x="0" y="189329"/>
          <a:ext cx="5819210" cy="50346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900" b="1" kern="1200"/>
            <a:t>Co je Cron:</a:t>
          </a:r>
          <a:r>
            <a:rPr lang="cs-CZ" sz="900" kern="1200"/>
            <a:t> Cron je plánovací služba, která umožňuje automaticky spouštět úlohy ve specifikovaných intervalech. Je ideální pro pravidelné úlohy, jako jsou zálohy, aktualizace nebo čištění souborů.</a:t>
          </a:r>
          <a:endParaRPr lang="en-US" sz="900" kern="1200"/>
        </a:p>
      </dsp:txBody>
      <dsp:txXfrm>
        <a:off x="24577" y="213906"/>
        <a:ext cx="5770056" cy="454311"/>
      </dsp:txXfrm>
    </dsp:sp>
    <dsp:sp modelId="{E6F04B91-A19E-49D8-9FF7-1C3BC0C98DD2}">
      <dsp:nvSpPr>
        <dsp:cNvPr id="0" name=""/>
        <dsp:cNvSpPr/>
      </dsp:nvSpPr>
      <dsp:spPr>
        <a:xfrm>
          <a:off x="0" y="718715"/>
          <a:ext cx="5819210" cy="50346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900" b="1" kern="1200"/>
            <a:t>Cron tabulka:</a:t>
          </a:r>
          <a:r>
            <a:rPr lang="cs-CZ" sz="900" kern="1200"/>
            <a:t> Je to konfigurační soubor, kde jsou uloženy informace o plánovaných úlohách a jejich frekvenci.</a:t>
          </a:r>
          <a:endParaRPr lang="en-US" sz="900" kern="1200"/>
        </a:p>
      </dsp:txBody>
      <dsp:txXfrm>
        <a:off x="24577" y="743292"/>
        <a:ext cx="5770056" cy="454311"/>
      </dsp:txXfrm>
    </dsp:sp>
    <dsp:sp modelId="{90B769B3-8D7F-4F82-A9BF-C325BE4C8708}">
      <dsp:nvSpPr>
        <dsp:cNvPr id="0" name=""/>
        <dsp:cNvSpPr/>
      </dsp:nvSpPr>
      <dsp:spPr>
        <a:xfrm>
          <a:off x="0" y="1248101"/>
          <a:ext cx="5819210" cy="50346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900" b="1" kern="1200"/>
            <a:t>Struktura úloh v crontabu:</a:t>
          </a:r>
          <a:r>
            <a:rPr lang="cs-CZ" sz="900" kern="1200"/>
            <a:t> Soubor crontab definuje, kdy a jak často se úlohy spouští. Syntaxe crontabu je rozdělena do pěti časových polí (minuty, hodiny, dny, měsíce, dny v týdnu) a příkazu, který se má vykonat. Například příkaz </a:t>
          </a:r>
          <a:r>
            <a:rPr lang="cs-CZ" sz="900" u="sng" kern="1200"/>
            <a:t>0 5 * * * /usr/local/bin/backup.sh</a:t>
          </a:r>
          <a:r>
            <a:rPr lang="cs-CZ" sz="900" kern="1200"/>
            <a:t> spustí skript každý den v 5:00 ráno.</a:t>
          </a:r>
          <a:endParaRPr lang="en-US" sz="900" kern="1200"/>
        </a:p>
      </dsp:txBody>
      <dsp:txXfrm>
        <a:off x="24577" y="1272678"/>
        <a:ext cx="5770056" cy="454311"/>
      </dsp:txXfrm>
    </dsp:sp>
    <dsp:sp modelId="{F65A51AA-DF49-4EDC-866D-2770F87E7778}">
      <dsp:nvSpPr>
        <dsp:cNvPr id="0" name=""/>
        <dsp:cNvSpPr/>
      </dsp:nvSpPr>
      <dsp:spPr>
        <a:xfrm>
          <a:off x="0" y="1777486"/>
          <a:ext cx="5819210" cy="50346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900" b="1" kern="1200"/>
            <a:t>Příkazy v crontabu</a:t>
          </a:r>
          <a:endParaRPr lang="en-US" sz="900" kern="1200"/>
        </a:p>
      </dsp:txBody>
      <dsp:txXfrm>
        <a:off x="24577" y="1802063"/>
        <a:ext cx="5770056" cy="454311"/>
      </dsp:txXfrm>
    </dsp:sp>
    <dsp:sp modelId="{3AEF6835-F49A-4181-A21F-1571C43435C1}">
      <dsp:nvSpPr>
        <dsp:cNvPr id="0" name=""/>
        <dsp:cNvSpPr/>
      </dsp:nvSpPr>
      <dsp:spPr>
        <a:xfrm>
          <a:off x="0" y="2306872"/>
          <a:ext cx="5819210" cy="50346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900" u="sng" kern="1200"/>
            <a:t>crontab -e</a:t>
          </a:r>
          <a:r>
            <a:rPr lang="cs-CZ" sz="900" kern="1200"/>
            <a:t> otevře soubor crontab pro úpravy.</a:t>
          </a:r>
          <a:endParaRPr lang="en-US" sz="900" kern="1200"/>
        </a:p>
      </dsp:txBody>
      <dsp:txXfrm>
        <a:off x="24577" y="2331449"/>
        <a:ext cx="5770056" cy="454311"/>
      </dsp:txXfrm>
    </dsp:sp>
    <dsp:sp modelId="{06CB24CC-8975-4C66-B4F8-C6583A90F284}">
      <dsp:nvSpPr>
        <dsp:cNvPr id="0" name=""/>
        <dsp:cNvSpPr/>
      </dsp:nvSpPr>
      <dsp:spPr>
        <a:xfrm>
          <a:off x="0" y="2836258"/>
          <a:ext cx="5819210" cy="50346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900" u="sng" kern="1200"/>
            <a:t>crontab -l</a:t>
          </a:r>
          <a:r>
            <a:rPr lang="cs-CZ" sz="900" kern="1200"/>
            <a:t> zobrazí aktuální naplánované úlohy pro daného uživatele</a:t>
          </a:r>
          <a:endParaRPr lang="en-US" sz="900" kern="1200"/>
        </a:p>
      </dsp:txBody>
      <dsp:txXfrm>
        <a:off x="24577" y="2860835"/>
        <a:ext cx="5770056" cy="454311"/>
      </dsp:txXfrm>
    </dsp:sp>
    <dsp:sp modelId="{9F404269-75DD-4B80-B6D6-F2E4BE456C4F}">
      <dsp:nvSpPr>
        <dsp:cNvPr id="0" name=""/>
        <dsp:cNvSpPr/>
      </dsp:nvSpPr>
      <dsp:spPr>
        <a:xfrm>
          <a:off x="0" y="3365643"/>
          <a:ext cx="5819210" cy="50346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900" b="1" kern="1200"/>
            <a:t>Správa systémových úloh</a:t>
          </a:r>
          <a:endParaRPr lang="en-US" sz="900" kern="1200"/>
        </a:p>
      </dsp:txBody>
      <dsp:txXfrm>
        <a:off x="24577" y="3390220"/>
        <a:ext cx="5770056" cy="454311"/>
      </dsp:txXfrm>
    </dsp:sp>
    <dsp:sp modelId="{B9B90339-07F7-4C8A-BEE7-8276951734D2}">
      <dsp:nvSpPr>
        <dsp:cNvPr id="0" name=""/>
        <dsp:cNvSpPr/>
      </dsp:nvSpPr>
      <dsp:spPr>
        <a:xfrm>
          <a:off x="0" y="3895029"/>
          <a:ext cx="5819210" cy="50346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900" kern="1200"/>
            <a:t>Administrátoři mohou spravovat úlohy, které mají dopad na celý systém, pomocí crontabu umístěného v </a:t>
          </a:r>
          <a:r>
            <a:rPr lang="cs-CZ" sz="900" u="sng" kern="1200"/>
            <a:t>/etc/crontab</a:t>
          </a:r>
          <a:r>
            <a:rPr lang="cs-CZ" sz="900" kern="1200"/>
            <a:t>.</a:t>
          </a:r>
          <a:endParaRPr lang="en-US" sz="900" kern="1200"/>
        </a:p>
      </dsp:txBody>
      <dsp:txXfrm>
        <a:off x="24577" y="3919606"/>
        <a:ext cx="5770056" cy="4543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31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4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56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2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8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03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5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4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2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5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327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62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82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60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44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60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48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65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obinchen.me/tech/2017/04/15/nginx-learning.html" TargetMode="Externa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ksistemas.com/category/linux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ubuntu.com/community/CronHowto" TargetMode="External"/><Relationship Id="rId2" Type="http://schemas.openxmlformats.org/officeDocument/2006/relationships/hyperlink" Target="https://systemd.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s.wikibooks.org/wiki/Linux/P%C5%99ehled_z%C3%A1kladn%C3%ADch_p%C5%99%C3%ADkaz%C5%AF" TargetMode="External"/><Relationship Id="rId4" Type="http://schemas.openxmlformats.org/officeDocument/2006/relationships/hyperlink" Target="https://cs.wikipedia.org/wiki/Linu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86876" y="2032000"/>
            <a:ext cx="4513792" cy="28193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/>
              <a:t>SLUŽBY</a:t>
            </a:r>
            <a:endParaRPr lang="cs-CZ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86876" y="4851399"/>
            <a:ext cx="4513792" cy="9144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/>
              <a:t>David Peterek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ABDB4582-44AE-4E18-8464-05E0C5731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1" name="Freeform 14">
            <a:extLst>
              <a:ext uri="{FF2B5EF4-FFF2-40B4-BE49-F238E27FC236}">
                <a16:creationId xmlns:a16="http://schemas.microsoft.com/office/drawing/2014/main" id="{834AA19D-D28C-42A8-85C3-43596A2C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27E42E-AE32-44CA-B7BB-2E81811F8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88E0A1-0B30-4CCB-8A81-FE7CD9512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8875F36-1881-4C6F-AF34-61C12DCB1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4FA217E-E029-463E-8F69-3C494C30F1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E20BA78-A2F8-4EE9-AD79-4560BBABA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72D971-8746-4672-9ED9-022673A10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93D413D-3B8A-42F0-BFB8-2C9764FA7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AF004B3-4700-4D62-BFA8-07A2CB52E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F454BC-502F-45A5-9286-F9AAF53D9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E04F419-5713-469A-801C-416F54A3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4E4635B-24F2-4032-BDD6-D07990AD4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BA8091B-8DDA-425F-AF93-023ED9F45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56D989-2866-49C1-BE2B-5ED7B961A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719C6D4-8B9A-4109-A7CC-A940A2C1E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488CB7D-BD79-42A2-9200-768664CE6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B656FE-3DC8-486B-B8BB-41C7BA014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F6CA85-0A9C-4332-BCC1-D91463777B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3EAB4D0-E390-4195-8B31-E4F17F098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8A04328-E8BF-4B6D-AC14-E9E8E29D7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97E401-97C5-423E-919A-DFD8915B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7EA9F4A-CFDB-45BF-8DA2-27C8F718A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A71F04-BE81-4FD0-B4F6-DDCDC1209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F6D7C9-41B5-4E8A-A287-14EA84A58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361FC71-51B7-4AA8-BCDA-D38F2D9AF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1F21AF5-4602-46DF-9820-4826EA4B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9480754-0F96-4430-8DC3-979A21C42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B44DF25-1482-4A14-BFC6-6C69CC9C5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37CC1AE-0A32-4E1E-896B-2A76EF57B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1A70B7F-5ACA-407B-B645-525A6D321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4632EC0-D4CC-4E06-A467-B0DF2F243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BB4EF78-7BCD-41A0-B952-481EE0188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AE8FAF5-4FE8-43CB-B6E8-E70FE1B35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489096B-B47B-4B83-A584-0A6718E21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07A979D-500D-4B4D-A74A-242888401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7B2E235-E6D3-4488-903E-803B765F3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70A1F48-54C1-4EA4-AB1C-BF2CFE1EB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B45E8F5-9801-48FA-9935-AF3FA51F1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A0D9948-0529-40C1-A0EB-196656CCB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6C673E7-DE8B-4947-AD07-6B652F92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5C48DA5-6E2D-4876-98D8-497CBEB0B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A5FD2A-FDB5-4881-8DB9-87BC860BF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40631C-5F57-4F40-B598-65724FB7F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AEB9ED3-7842-4EAB-B58C-757BAFCBD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0F113F6-91C1-403A-AF4E-8AD9DA1A8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351E6F3-1156-40E6-94EB-2D804EDAE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E2BC071-E0C5-4183-9B2E-3A0D9BF78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2E7482A-2B6D-40DC-A943-86A385AE4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09509B9-40D7-4C0E-A338-DAD440BD8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FC65A53-6D4B-4206-8A46-0F7A19469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322A210-DF61-4EB5-AF0C-DA047452E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B482A4E-4BE7-4244-A91A-C82C8DB4E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D0601FF-B12D-4E5B-956D-3F4EC2497B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4542652-9CA6-4B8D-BC59-2F7B20ABC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0BA007D-9E92-4CA8-A708-6C7DD2E7B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DD07D47-C804-4455-8309-0E7DC83AF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73AA0B1-9C05-40F8-85B8-E80522786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5BA57D4-7DE3-4704-8C13-FBC3A75B0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6582B0D-575F-41A0-975E-60E6754A0F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A2AE5EC-9F9A-436C-9454-E988EA7597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459BB45-EFAA-4138-B1E7-CF817A0989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906B09C-E123-4952-8CBB-5244CFB0D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0E6C7E7-0039-4BD1-9DDF-E9C522224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FDBDA5F-D32E-4611-A505-D2DE671DD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53A6C64-6F86-48DB-9EA8-144405317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5E86FAF-C76F-40A2-ADFB-FDE12C1014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AAD2EAE-270E-44F7-A11B-0C801D86B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F145145-8413-44DF-B42A-6084651BF1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93269C9-5835-433D-9FA0-948E33672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78E720B-02C1-486E-8358-80840FEA7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F1037A0-FF5E-4FAA-9F3F-E870FD005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8D1A6B3-5A9D-4D3E-AB5C-9A5FEAE81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EC51D1F-69E1-4B0B-94B0-7D93FB411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03D6CC9-C969-4591-AEDF-472DA64E5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24D973E-B86F-4AF8-8556-C52397282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FC5213B-135A-41A5-A778-80B163089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0780E42-A140-4D97-9857-771BD1D39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27A0811-BE72-487B-AA54-57491FA50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3F9A93E-E149-44CA-A1FD-BE38A1C67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D26B12C1-22E7-4F8F-BC20-E444596E6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Obrázek 3" descr="logotipo del sistema operativo Linux. signos principales del sistema ...">
            <a:extLst>
              <a:ext uri="{FF2B5EF4-FFF2-40B4-BE49-F238E27FC236}">
                <a16:creationId xmlns:a16="http://schemas.microsoft.com/office/drawing/2014/main" id="{DA95A87F-5578-4A29-F493-59F475950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078" y="1731777"/>
            <a:ext cx="3650756" cy="460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762FC6-9F10-D1C3-BFE3-5DB4734A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Calibri Light"/>
                <a:cs typeface="Calibri Light"/>
              </a:rPr>
              <a:t>Služby a jejich význam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5FEF368-6928-EB78-FC94-98C4AFEEF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32492"/>
            <a:ext cx="8007350" cy="1696508"/>
          </a:xfrm>
        </p:spPr>
        <p:txBody>
          <a:bodyPr>
            <a:normAutofit lnSpcReduction="10000"/>
          </a:bodyPr>
          <a:lstStyle/>
          <a:p>
            <a:pPr>
              <a:buFont typeface="Courier New"/>
              <a:buChar char="o"/>
            </a:pPr>
            <a:r>
              <a:rPr lang="cs-CZ">
                <a:ea typeface="+mn-lt"/>
                <a:cs typeface="+mn-lt"/>
              </a:rPr>
              <a:t>Služby jsou speciální typy programů, které běží na pozadí systému </a:t>
            </a:r>
          </a:p>
          <a:p>
            <a:pPr>
              <a:buClr>
                <a:srgbClr val="FFFFFF"/>
              </a:buClr>
              <a:buFont typeface="Courier New"/>
              <a:buChar char="o"/>
            </a:pPr>
            <a:r>
              <a:rPr lang="cs-CZ">
                <a:ea typeface="+mn-lt"/>
                <a:cs typeface="+mn-lt"/>
              </a:rPr>
              <a:t>Na rozdíl od běžných aplikací nemají uživatelské rozhraní a většinou se spouštějí automaticky při startu systému</a:t>
            </a:r>
          </a:p>
          <a:p>
            <a:pPr>
              <a:buClr>
                <a:srgbClr val="FFFFFF"/>
              </a:buClr>
              <a:buFont typeface="Courier New"/>
              <a:buChar char="o"/>
            </a:pPr>
            <a:r>
              <a:rPr lang="cs-CZ">
                <a:ea typeface="+mn-lt"/>
                <a:cs typeface="+mn-lt"/>
              </a:rPr>
              <a:t> Příkladem jsou webové servery (</a:t>
            </a:r>
            <a:r>
              <a:rPr lang="cs-CZ" err="1">
                <a:ea typeface="+mn-lt"/>
                <a:cs typeface="+mn-lt"/>
              </a:rPr>
              <a:t>Apache</a:t>
            </a:r>
            <a:r>
              <a:rPr lang="cs-CZ">
                <a:ea typeface="+mn-lt"/>
                <a:cs typeface="+mn-lt"/>
              </a:rPr>
              <a:t>, </a:t>
            </a:r>
            <a:r>
              <a:rPr lang="cs-CZ" err="1">
                <a:ea typeface="+mn-lt"/>
                <a:cs typeface="+mn-lt"/>
              </a:rPr>
              <a:t>Nginx</a:t>
            </a:r>
            <a:r>
              <a:rPr lang="cs-CZ">
                <a:ea typeface="+mn-lt"/>
                <a:cs typeface="+mn-lt"/>
              </a:rPr>
              <a:t>), databázové servery (</a:t>
            </a:r>
            <a:r>
              <a:rPr lang="cs-CZ" err="1">
                <a:ea typeface="+mn-lt"/>
                <a:cs typeface="+mn-lt"/>
              </a:rPr>
              <a:t>MySQL</a:t>
            </a:r>
            <a:r>
              <a:rPr lang="cs-CZ">
                <a:ea typeface="+mn-lt"/>
                <a:cs typeface="+mn-lt"/>
              </a:rPr>
              <a:t>, </a:t>
            </a:r>
            <a:r>
              <a:rPr lang="cs-CZ" err="1">
                <a:ea typeface="+mn-lt"/>
                <a:cs typeface="+mn-lt"/>
              </a:rPr>
              <a:t>PostgreSQL</a:t>
            </a:r>
            <a:r>
              <a:rPr lang="cs-CZ">
                <a:ea typeface="+mn-lt"/>
                <a:cs typeface="+mn-lt"/>
              </a:rPr>
              <a:t>), nebo systémy pro monitoring (</a:t>
            </a:r>
            <a:r>
              <a:rPr lang="cs-CZ" err="1">
                <a:ea typeface="+mn-lt"/>
                <a:cs typeface="+mn-lt"/>
              </a:rPr>
              <a:t>Nagios</a:t>
            </a:r>
            <a:r>
              <a:rPr lang="cs-CZ">
                <a:ea typeface="+mn-lt"/>
                <a:cs typeface="+mn-lt"/>
              </a:rPr>
              <a:t>, Prometheus). </a:t>
            </a:r>
            <a:endParaRPr lang="cs-CZ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D3034C5-0D37-65DA-AB5C-A6A78A6C4748}"/>
              </a:ext>
            </a:extLst>
          </p:cNvPr>
          <p:cNvSpPr txBox="1"/>
          <p:nvPr/>
        </p:nvSpPr>
        <p:spPr>
          <a:xfrm>
            <a:off x="683078" y="3569153"/>
            <a:ext cx="878205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b="1" u="sng">
                <a:ea typeface="Calibri"/>
                <a:cs typeface="Calibri"/>
              </a:rPr>
              <a:t>Význam služeb </a:t>
            </a:r>
          </a:p>
          <a:p>
            <a:pPr marL="285750" indent="-285750">
              <a:buFont typeface="Wingdings"/>
              <a:buChar char="§"/>
            </a:pPr>
            <a:r>
              <a:rPr lang="cs-CZ">
                <a:ea typeface="+mn-lt"/>
                <a:cs typeface="+mn-lt"/>
              </a:rPr>
              <a:t>Tyto služby jsou klíčové pro zajištění funkcí serverů nebo počítačů</a:t>
            </a:r>
          </a:p>
          <a:p>
            <a:pPr marL="285750" indent="-285750">
              <a:buFont typeface="Wingdings"/>
              <a:buChar char="§"/>
            </a:pPr>
            <a:r>
              <a:rPr lang="cs-CZ">
                <a:ea typeface="+mn-lt"/>
                <a:cs typeface="+mn-lt"/>
              </a:rPr>
              <a:t>Zajišťují různé operace na pozadí, jako je poskytování webových stránek, odesílání e-mailů nebo správa databází </a:t>
            </a:r>
          </a:p>
          <a:p>
            <a:pPr marL="285750" indent="-285750">
              <a:buFont typeface="Wingdings"/>
              <a:buChar char="§"/>
            </a:pPr>
            <a:r>
              <a:rPr lang="cs-CZ">
                <a:ea typeface="+mn-lt"/>
                <a:cs typeface="+mn-lt"/>
              </a:rPr>
              <a:t>Efektivní správa služeb zaručuje stabilitu, bezpečnost a správnou funkčnost systému.</a:t>
            </a:r>
            <a:endParaRPr lang="cs-CZ">
              <a:ea typeface="Calibri"/>
              <a:cs typeface="Calibri"/>
            </a:endParaRPr>
          </a:p>
          <a:p>
            <a:pPr>
              <a:buFont typeface="Wingdings"/>
              <a:buChar char="§"/>
            </a:pPr>
            <a:endParaRPr lang="cs-CZ"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endParaRPr lang="cs-CZ">
              <a:ea typeface="Calibri"/>
              <a:cs typeface="Calibri"/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80550A4A-A81F-E282-18E9-8A0938D41DC9}"/>
              </a:ext>
            </a:extLst>
          </p:cNvPr>
          <p:cNvSpPr txBox="1"/>
          <p:nvPr/>
        </p:nvSpPr>
        <p:spPr>
          <a:xfrm>
            <a:off x="685800" y="5153025"/>
            <a:ext cx="862965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u="sng">
                <a:ea typeface="Calibri"/>
                <a:cs typeface="Calibri"/>
              </a:rPr>
              <a:t>Důležitost</a:t>
            </a:r>
          </a:p>
          <a:p>
            <a:pPr marL="285750" indent="-285750">
              <a:buFont typeface="Wingdings"/>
              <a:buChar char="§"/>
            </a:pPr>
            <a:r>
              <a:rPr lang="cs-CZ">
                <a:ea typeface="+mn-lt"/>
                <a:cs typeface="+mn-lt"/>
              </a:rPr>
              <a:t>Služby často představují kritické komponenty systému. </a:t>
            </a:r>
          </a:p>
          <a:p>
            <a:pPr marL="285750" indent="-285750">
              <a:buFont typeface="Wingdings"/>
              <a:buChar char="§"/>
            </a:pPr>
            <a:r>
              <a:rPr lang="cs-CZ">
                <a:ea typeface="+mn-lt"/>
                <a:cs typeface="+mn-lt"/>
              </a:rPr>
              <a:t>Pokud se některá služba zhroutí nebo nefunguje správně, může dojít k výpadku důležitých aplikací nebo ztrátě dat. </a:t>
            </a:r>
          </a:p>
          <a:p>
            <a:pPr marL="285750" indent="-285750">
              <a:buFont typeface="Wingdings"/>
              <a:buChar char="§"/>
            </a:pPr>
            <a:r>
              <a:rPr lang="cs-CZ">
                <a:ea typeface="+mn-lt"/>
                <a:cs typeface="+mn-lt"/>
              </a:rPr>
              <a:t>Správná správa služeb zajišťuje, že všechny služby běží spolehlivě a v případě problému se automaticky restartují.</a:t>
            </a:r>
            <a:endParaRPr lang="cs-CZ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DA39641C-D639-B86E-EA49-870947408B09}"/>
              </a:ext>
            </a:extLst>
          </p:cNvPr>
          <p:cNvSpPr txBox="1"/>
          <p:nvPr/>
        </p:nvSpPr>
        <p:spPr>
          <a:xfrm>
            <a:off x="8694964" y="1341664"/>
            <a:ext cx="320992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b="1" u="sng">
                <a:ea typeface="+mn-lt"/>
                <a:cs typeface="+mn-lt"/>
              </a:rPr>
              <a:t>Příklady klíčových služeb</a:t>
            </a:r>
            <a:endParaRPr lang="cs-CZ" u="sng"/>
          </a:p>
          <a:p>
            <a:pPr marL="285750" indent="-285750">
              <a:buFont typeface="Arial"/>
              <a:buChar char="•"/>
            </a:pPr>
            <a:r>
              <a:rPr lang="cs-CZ" b="1">
                <a:ea typeface="+mn-lt"/>
                <a:cs typeface="+mn-lt"/>
              </a:rPr>
              <a:t>Služby síťové komunikace:</a:t>
            </a:r>
            <a:r>
              <a:rPr lang="cs-CZ">
                <a:ea typeface="+mn-lt"/>
                <a:cs typeface="+mn-lt"/>
              </a:rPr>
              <a:t> </a:t>
            </a:r>
            <a:r>
              <a:rPr lang="cs-CZ" u="sng" err="1">
                <a:latin typeface="Consolas"/>
              </a:rPr>
              <a:t>sshd</a:t>
            </a:r>
            <a:r>
              <a:rPr lang="cs-CZ">
                <a:ea typeface="+mn-lt"/>
                <a:cs typeface="+mn-lt"/>
              </a:rPr>
              <a:t> pro vzdálené připojení přes SSH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 b="1">
                <a:ea typeface="+mn-lt"/>
                <a:cs typeface="+mn-lt"/>
              </a:rPr>
              <a:t>Služby správy hardware:</a:t>
            </a:r>
            <a:r>
              <a:rPr lang="cs-CZ">
                <a:ea typeface="+mn-lt"/>
                <a:cs typeface="+mn-lt"/>
              </a:rPr>
              <a:t> </a:t>
            </a:r>
            <a:r>
              <a:rPr lang="cs-CZ" u="sng" err="1">
                <a:latin typeface="Consolas"/>
              </a:rPr>
              <a:t>cups</a:t>
            </a:r>
            <a:r>
              <a:rPr lang="cs-CZ">
                <a:ea typeface="+mn-lt"/>
                <a:cs typeface="+mn-lt"/>
              </a:rPr>
              <a:t> pro tisk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 b="1">
                <a:ea typeface="+mn-lt"/>
                <a:cs typeface="+mn-lt"/>
              </a:rPr>
              <a:t>Služby související se zabezpečením</a:t>
            </a:r>
            <a:r>
              <a:rPr lang="cs-CZ">
                <a:ea typeface="+mn-lt"/>
                <a:cs typeface="+mn-lt"/>
              </a:rPr>
              <a:t> </a:t>
            </a:r>
            <a:r>
              <a:rPr lang="cs-CZ" u="sng" err="1">
                <a:latin typeface="Consolas"/>
              </a:rPr>
              <a:t>firewalld</a:t>
            </a:r>
            <a:endParaRPr lang="cs-CZ" err="1"/>
          </a:p>
          <a:p>
            <a:pPr algn="l"/>
            <a:endParaRPr lang="cs-CZ">
              <a:ea typeface="Calibri"/>
              <a:cs typeface="Calibri"/>
            </a:endParaRPr>
          </a:p>
        </p:txBody>
      </p:sp>
      <p:pic>
        <p:nvPicPr>
          <p:cNvPr id="7" name="Obrázek 6" descr="Obsah obrázku text, diagram, snímek obrazovky, Paralelní&#10;&#10;Popis se vygeneroval automaticky.">
            <a:extLst>
              <a:ext uri="{FF2B5EF4-FFF2-40B4-BE49-F238E27FC236}">
                <a16:creationId xmlns:a16="http://schemas.microsoft.com/office/drawing/2014/main" id="{375FEBE1-78A0-D571-6CD2-1D3DEDDC6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26960" y="3772761"/>
            <a:ext cx="2880987" cy="247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02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text, snímek obrazovky, Písmo, číslo&#10;&#10;Popis se vygeneroval automaticky.">
            <a:extLst>
              <a:ext uri="{FF2B5EF4-FFF2-40B4-BE49-F238E27FC236}">
                <a16:creationId xmlns:a16="http://schemas.microsoft.com/office/drawing/2014/main" id="{692E76DA-C2BE-B04B-B355-0842DCC46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57903" y="3263"/>
            <a:ext cx="6629400" cy="257175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985807A-7937-46D5-24E0-33C5FDFA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985381"/>
            <a:ext cx="4880932" cy="1456267"/>
          </a:xfrm>
        </p:spPr>
        <p:txBody>
          <a:bodyPr/>
          <a:lstStyle/>
          <a:p>
            <a:r>
              <a:rPr lang="cs-CZ">
                <a:ea typeface="Calibri Light"/>
                <a:cs typeface="Calibri Light"/>
              </a:rPr>
              <a:t>Ovládání služeb - </a:t>
            </a:r>
            <a:r>
              <a:rPr lang="cs-CZ" sz="2400" u="sng">
                <a:ea typeface="Calibri Light"/>
                <a:cs typeface="Calibri Light"/>
              </a:rPr>
              <a:t>Zapnutí, vypnutí, povolení a zakázaní</a:t>
            </a:r>
            <a:endParaRPr lang="cs-CZ" sz="2400" u="sng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5A79B5-AD73-CEEB-9E92-B0E4BDBE7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579826"/>
            <a:ext cx="10131425" cy="45349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b="1" err="1">
                <a:ea typeface="+mn-lt"/>
                <a:cs typeface="+mn-lt"/>
              </a:rPr>
              <a:t>Systemctl</a:t>
            </a:r>
            <a:r>
              <a:rPr lang="cs-CZ" b="1">
                <a:ea typeface="+mn-lt"/>
                <a:cs typeface="+mn-lt"/>
              </a:rPr>
              <a:t>:</a:t>
            </a:r>
            <a:r>
              <a:rPr lang="cs-CZ">
                <a:ea typeface="+mn-lt"/>
                <a:cs typeface="+mn-lt"/>
              </a:rPr>
              <a:t> Centrální nástroj pro správu služeb a jejich stavu. Pomocí něj můžeme kontrolovat stav služby, její nastavení a měnit chování.</a:t>
            </a:r>
            <a:endParaRPr lang="cs-CZ"/>
          </a:p>
          <a:p>
            <a:pPr marL="0" indent="0">
              <a:buNone/>
            </a:pPr>
            <a:r>
              <a:rPr lang="cs-CZ" b="1">
                <a:ea typeface="+mn-lt"/>
                <a:cs typeface="+mn-lt"/>
              </a:rPr>
              <a:t>Zastavení a spuštění služeb:</a:t>
            </a:r>
            <a:endParaRPr lang="cs-CZ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stop</a:t>
            </a:r>
            <a:r>
              <a:rPr lang="cs-CZ">
                <a:latin typeface="Consolas"/>
              </a:rPr>
              <a:t> [služba]</a:t>
            </a:r>
            <a:r>
              <a:rPr lang="cs-CZ">
                <a:ea typeface="+mn-lt"/>
                <a:cs typeface="+mn-lt"/>
              </a:rPr>
              <a:t> (</a:t>
            </a:r>
            <a:r>
              <a:rPr lang="cs-CZ" err="1">
                <a:ea typeface="+mn-lt"/>
                <a:cs typeface="+mn-lt"/>
              </a:rPr>
              <a:t>systemctl</a:t>
            </a:r>
            <a:r>
              <a:rPr lang="cs-CZ">
                <a:ea typeface="+mn-lt"/>
                <a:cs typeface="+mn-lt"/>
              </a:rPr>
              <a:t> stop apache2) zastaví běžící službu.</a:t>
            </a:r>
            <a:endParaRPr lang="cs-CZ"/>
          </a:p>
          <a:p>
            <a:pPr>
              <a:buClr>
                <a:srgbClr val="FFFFFF"/>
              </a:buClr>
            </a:pP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start</a:t>
            </a:r>
            <a:r>
              <a:rPr lang="cs-CZ">
                <a:latin typeface="Consolas"/>
              </a:rPr>
              <a:t> [služba]</a:t>
            </a:r>
            <a:r>
              <a:rPr lang="cs-CZ">
                <a:latin typeface="Consolas"/>
                <a:ea typeface="+mn-lt"/>
                <a:cs typeface="+mn-lt"/>
              </a:rPr>
              <a:t> (</a:t>
            </a:r>
            <a:r>
              <a:rPr lang="cs-CZ" err="1">
                <a:ea typeface="+mn-lt"/>
                <a:cs typeface="+mn-lt"/>
              </a:rPr>
              <a:t>systemctl</a:t>
            </a:r>
            <a:r>
              <a:rPr lang="cs-CZ">
                <a:ea typeface="+mn-lt"/>
                <a:cs typeface="+mn-lt"/>
              </a:rPr>
              <a:t> start apache2</a:t>
            </a:r>
            <a:r>
              <a:rPr lang="cs-CZ">
                <a:latin typeface="Consolas"/>
                <a:ea typeface="+mn-lt"/>
                <a:cs typeface="+mn-lt"/>
              </a:rPr>
              <a:t>)</a:t>
            </a:r>
            <a:r>
              <a:rPr lang="cs-CZ">
                <a:ea typeface="+mn-lt"/>
                <a:cs typeface="+mn-lt"/>
              </a:rPr>
              <a:t> spustí službu, pokud je vypnutá. To je užitečné při provádění změn nebo údržby.</a:t>
            </a:r>
            <a:endParaRPr lang="cs-CZ"/>
          </a:p>
          <a:p>
            <a:pPr marL="0" indent="0">
              <a:buClr>
                <a:srgbClr val="FFFFFF"/>
              </a:buClr>
              <a:buNone/>
            </a:pPr>
            <a:r>
              <a:rPr lang="cs-CZ" b="1">
                <a:ea typeface="+mn-lt"/>
                <a:cs typeface="+mn-lt"/>
              </a:rPr>
              <a:t>Restartování služby:</a:t>
            </a:r>
            <a:r>
              <a:rPr lang="cs-CZ">
                <a:ea typeface="+mn-lt"/>
                <a:cs typeface="+mn-lt"/>
              </a:rPr>
              <a:t> </a:t>
            </a: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 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restart</a:t>
            </a:r>
            <a:r>
              <a:rPr lang="cs-CZ">
                <a:latin typeface="Consolas"/>
              </a:rPr>
              <a:t> [služba]</a:t>
            </a:r>
            <a:r>
              <a:rPr lang="cs-CZ">
                <a:ea typeface="+mn-lt"/>
                <a:cs typeface="+mn-lt"/>
              </a:rPr>
              <a:t> službu restartuje. Tento příkaz se používá při změně konfigurace služby. Je to rychlý způsob, jak aplikovat nové změny bez nutnosti zastavit a znovu ručně spustit službu.</a:t>
            </a:r>
            <a:endParaRPr lang="cs-CZ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 b="1">
                <a:ea typeface="+mn-lt"/>
                <a:cs typeface="+mn-lt"/>
              </a:rPr>
              <a:t>Kontrola stavu:</a:t>
            </a:r>
            <a:r>
              <a:rPr lang="cs-CZ">
                <a:ea typeface="+mn-lt"/>
                <a:cs typeface="+mn-lt"/>
              </a:rPr>
              <a:t> 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status</a:t>
            </a:r>
            <a:r>
              <a:rPr lang="cs-CZ">
                <a:latin typeface="Consolas"/>
              </a:rPr>
              <a:t> [služba]</a:t>
            </a:r>
            <a:r>
              <a:rPr lang="cs-CZ">
                <a:ea typeface="+mn-lt"/>
                <a:cs typeface="+mn-lt"/>
              </a:rPr>
              <a:t> poskytuje informace o stavu služby. Uvidíte, zda služba běží, a můžete si prohlédnout výstup logů, který může obsahovat chyby nebo varování.</a:t>
            </a:r>
            <a:endParaRPr lang="cs-CZ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 b="1">
                <a:ea typeface="+mn-lt"/>
                <a:cs typeface="+mn-lt"/>
              </a:rPr>
              <a:t>Povolení a zakázání služeb:</a:t>
            </a:r>
            <a:r>
              <a:rPr lang="cs-CZ">
                <a:ea typeface="+mn-lt"/>
                <a:cs typeface="+mn-lt"/>
              </a:rPr>
              <a:t> </a:t>
            </a: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Pomocí příkazů 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</a:t>
            </a:r>
            <a:r>
              <a:rPr lang="cs-CZ" u="sng" err="1">
                <a:latin typeface="Consolas"/>
              </a:rPr>
              <a:t>enable</a:t>
            </a:r>
            <a:r>
              <a:rPr lang="cs-CZ">
                <a:latin typeface="Consolas"/>
              </a:rPr>
              <a:t> [služba]</a:t>
            </a:r>
            <a:r>
              <a:rPr lang="cs-CZ">
                <a:ea typeface="+mn-lt"/>
                <a:cs typeface="+mn-lt"/>
              </a:rPr>
              <a:t> a 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</a:t>
            </a:r>
            <a:r>
              <a:rPr lang="cs-CZ" u="sng" err="1">
                <a:latin typeface="Consolas"/>
              </a:rPr>
              <a:t>disable</a:t>
            </a:r>
            <a:r>
              <a:rPr lang="cs-CZ">
                <a:latin typeface="Consolas"/>
              </a:rPr>
              <a:t> [služba]</a:t>
            </a:r>
            <a:r>
              <a:rPr lang="cs-CZ">
                <a:ea typeface="+mn-lt"/>
                <a:cs typeface="+mn-lt"/>
              </a:rPr>
              <a:t> můžete službu nakonfigurovat tak, aby se automaticky spouštěla nebo nespouštěla při startu systému.</a:t>
            </a:r>
            <a:endParaRPr lang="cs-CZ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cs-CZ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2631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063F57-38D8-B4D0-C4E4-8E6B0830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Calibri Light"/>
                <a:cs typeface="Calibri Light"/>
              </a:rPr>
              <a:t>Příklady běžících služeb v </a:t>
            </a:r>
            <a:r>
              <a:rPr lang="cs-CZ" err="1">
                <a:ea typeface="Calibri Light"/>
                <a:cs typeface="Calibri Light"/>
              </a:rPr>
              <a:t>pc</a:t>
            </a:r>
            <a:endParaRPr lang="cs-CZ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01D4DF-1359-35C1-AE46-5B0088E82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17826"/>
            <a:ext cx="6530193" cy="32211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sz="1400" b="1">
                <a:ea typeface="+mn-lt"/>
                <a:cs typeface="+mn-lt"/>
              </a:rPr>
              <a:t>Služby na serveru:</a:t>
            </a:r>
            <a:endParaRPr lang="cs-CZ" sz="140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ea typeface="+mn-lt"/>
                <a:cs typeface="+mn-lt"/>
              </a:rPr>
              <a:t>Webový server:</a:t>
            </a:r>
            <a:r>
              <a:rPr lang="cs-CZ" sz="1400">
                <a:ea typeface="+mn-lt"/>
                <a:cs typeface="+mn-lt"/>
              </a:rPr>
              <a:t> Například </a:t>
            </a:r>
            <a:r>
              <a:rPr lang="cs-CZ" sz="1400" u="sng" err="1">
                <a:ea typeface="+mn-lt"/>
                <a:cs typeface="+mn-lt"/>
              </a:rPr>
              <a:t>Apache</a:t>
            </a:r>
            <a:r>
              <a:rPr lang="cs-CZ" sz="1400">
                <a:ea typeface="+mn-lt"/>
                <a:cs typeface="+mn-lt"/>
              </a:rPr>
              <a:t> nebo </a:t>
            </a:r>
            <a:r>
              <a:rPr lang="cs-CZ" sz="1400" u="sng" err="1">
                <a:ea typeface="+mn-lt"/>
                <a:cs typeface="+mn-lt"/>
              </a:rPr>
              <a:t>Nginx</a:t>
            </a:r>
            <a:r>
              <a:rPr lang="cs-CZ" sz="1400">
                <a:ea typeface="+mn-lt"/>
                <a:cs typeface="+mn-lt"/>
              </a:rPr>
              <a:t> slouží k poskytování webových stránek. Tyto služby běží na pozadí a přijímají požadavky od uživatelů přes internet.</a:t>
            </a:r>
            <a:endParaRPr lang="cs-CZ" sz="1400"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ea typeface="+mn-lt"/>
                <a:cs typeface="+mn-lt"/>
              </a:rPr>
              <a:t>Databázový server:</a:t>
            </a:r>
            <a:r>
              <a:rPr lang="cs-CZ" sz="1400">
                <a:ea typeface="+mn-lt"/>
                <a:cs typeface="+mn-lt"/>
              </a:rPr>
              <a:t> </a:t>
            </a:r>
            <a:r>
              <a:rPr lang="cs-CZ" sz="1400" u="sng" err="1">
                <a:ea typeface="+mn-lt"/>
                <a:cs typeface="+mn-lt"/>
              </a:rPr>
              <a:t>MySQL</a:t>
            </a:r>
            <a:r>
              <a:rPr lang="cs-CZ" sz="1400">
                <a:ea typeface="+mn-lt"/>
                <a:cs typeface="+mn-lt"/>
              </a:rPr>
              <a:t> nebo </a:t>
            </a:r>
            <a:r>
              <a:rPr lang="cs-CZ" sz="1400" u="sng" err="1">
                <a:ea typeface="+mn-lt"/>
                <a:cs typeface="+mn-lt"/>
              </a:rPr>
              <a:t>PostgreSQL</a:t>
            </a:r>
            <a:r>
              <a:rPr lang="cs-CZ" sz="1400">
                <a:ea typeface="+mn-lt"/>
                <a:cs typeface="+mn-lt"/>
              </a:rPr>
              <a:t> ukládají a spravují data pro webové aplikace nebo jiné systémy. Pravidelný provoz těchto služeb je nezbytný pro funkci mnoha aplikací.</a:t>
            </a:r>
            <a:endParaRPr lang="cs-CZ" sz="1400"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 sz="1400" b="1">
                <a:ea typeface="+mn-lt"/>
                <a:cs typeface="+mn-lt"/>
              </a:rPr>
              <a:t>Služby na desktopovém systému:</a:t>
            </a:r>
            <a:endParaRPr lang="cs-CZ" sz="140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ea typeface="+mn-lt"/>
                <a:cs typeface="+mn-lt"/>
              </a:rPr>
              <a:t>Tiskové služby:</a:t>
            </a:r>
            <a:r>
              <a:rPr lang="cs-CZ" sz="1400">
                <a:ea typeface="+mn-lt"/>
                <a:cs typeface="+mn-lt"/>
              </a:rPr>
              <a:t> </a:t>
            </a:r>
            <a:r>
              <a:rPr lang="cs-CZ" sz="1400" u="sng">
                <a:ea typeface="+mn-lt"/>
                <a:cs typeface="+mn-lt"/>
              </a:rPr>
              <a:t>CUPS (</a:t>
            </a:r>
            <a:r>
              <a:rPr lang="cs-CZ" sz="1400" u="sng" err="1">
                <a:ea typeface="+mn-lt"/>
                <a:cs typeface="+mn-lt"/>
              </a:rPr>
              <a:t>Common</a:t>
            </a:r>
            <a:r>
              <a:rPr lang="cs-CZ" sz="1400" u="sng">
                <a:ea typeface="+mn-lt"/>
                <a:cs typeface="+mn-lt"/>
              </a:rPr>
              <a:t> Unix </a:t>
            </a:r>
            <a:r>
              <a:rPr lang="cs-CZ" sz="1400" u="sng" err="1">
                <a:ea typeface="+mn-lt"/>
                <a:cs typeface="+mn-lt"/>
              </a:rPr>
              <a:t>Printing</a:t>
            </a:r>
            <a:r>
              <a:rPr lang="cs-CZ" sz="1400" u="sng">
                <a:ea typeface="+mn-lt"/>
                <a:cs typeface="+mn-lt"/>
              </a:rPr>
              <a:t> </a:t>
            </a:r>
            <a:r>
              <a:rPr lang="cs-CZ" sz="1400" u="sng" err="1">
                <a:ea typeface="+mn-lt"/>
                <a:cs typeface="+mn-lt"/>
              </a:rPr>
              <a:t>System</a:t>
            </a:r>
            <a:r>
              <a:rPr lang="cs-CZ" sz="1400" u="sng">
                <a:ea typeface="+mn-lt"/>
                <a:cs typeface="+mn-lt"/>
              </a:rPr>
              <a:t>) </a:t>
            </a:r>
            <a:r>
              <a:rPr lang="cs-CZ" sz="1400">
                <a:ea typeface="+mn-lt"/>
                <a:cs typeface="+mn-lt"/>
              </a:rPr>
              <a:t>zajišťuje správu tiskových úloh na Linuxu a macOS. Tato služba umožňuje uživatelům tisknout dokumenty na místních i vzdálených tiskárnách.</a:t>
            </a:r>
            <a:endParaRPr lang="cs-CZ" sz="1400"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ea typeface="+mn-lt"/>
                <a:cs typeface="+mn-lt"/>
              </a:rPr>
              <a:t>Síťové služby:</a:t>
            </a:r>
            <a:r>
              <a:rPr lang="cs-CZ" sz="1400">
                <a:ea typeface="+mn-lt"/>
                <a:cs typeface="+mn-lt"/>
              </a:rPr>
              <a:t> </a:t>
            </a:r>
            <a:r>
              <a:rPr lang="cs-CZ" sz="1400" err="1">
                <a:ea typeface="+mn-lt"/>
                <a:cs typeface="+mn-lt"/>
              </a:rPr>
              <a:t>NetworkManager</a:t>
            </a:r>
            <a:r>
              <a:rPr lang="cs-CZ" sz="1400">
                <a:ea typeface="+mn-lt"/>
                <a:cs typeface="+mn-lt"/>
              </a:rPr>
              <a:t> zajišťuje správu síťových připojení, včetně Wi-Fi a ethernetu, a umožňuje snadné připojení k síti.</a:t>
            </a:r>
            <a:endParaRPr lang="cs-CZ" sz="1400">
              <a:cs typeface="Calibri"/>
            </a:endParaRPr>
          </a:p>
          <a:p>
            <a:pPr>
              <a:buClr>
                <a:srgbClr val="FFFFFF"/>
              </a:buClr>
            </a:pPr>
            <a:endParaRPr lang="cs-CZ" sz="140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ea typeface="+mn-lt"/>
                <a:cs typeface="+mn-lt"/>
              </a:rPr>
              <a:t>Příkaz pro seznam aktivních služeb:</a:t>
            </a:r>
            <a:r>
              <a:rPr lang="cs-CZ" sz="1400">
                <a:ea typeface="+mn-lt"/>
                <a:cs typeface="+mn-lt"/>
              </a:rPr>
              <a:t> </a:t>
            </a:r>
            <a:r>
              <a:rPr lang="cs-CZ" sz="1400" u="sng" err="1">
                <a:latin typeface="Consolas"/>
                <a:ea typeface="Calibri"/>
                <a:cs typeface="Calibri"/>
              </a:rPr>
              <a:t>systemctl</a:t>
            </a:r>
            <a:r>
              <a:rPr lang="cs-CZ" sz="1400" u="sng">
                <a:latin typeface="Consolas"/>
                <a:ea typeface="Calibri"/>
                <a:cs typeface="Calibri"/>
              </a:rPr>
              <a:t> list-</a:t>
            </a:r>
            <a:r>
              <a:rPr lang="cs-CZ" sz="1400" u="sng" err="1">
                <a:latin typeface="Consolas"/>
                <a:ea typeface="Calibri"/>
                <a:cs typeface="Calibri"/>
              </a:rPr>
              <a:t>units</a:t>
            </a:r>
            <a:r>
              <a:rPr lang="cs-CZ" sz="1400" u="sng">
                <a:latin typeface="Consolas"/>
                <a:ea typeface="Calibri"/>
                <a:cs typeface="Calibri"/>
              </a:rPr>
              <a:t> --type=</a:t>
            </a:r>
            <a:r>
              <a:rPr lang="cs-CZ" sz="1400" u="sng" err="1">
                <a:latin typeface="Consolas"/>
                <a:ea typeface="Calibri"/>
                <a:cs typeface="Calibri"/>
              </a:rPr>
              <a:t>service</a:t>
            </a:r>
            <a:r>
              <a:rPr lang="cs-CZ" sz="1400">
                <a:ea typeface="+mn-lt"/>
                <a:cs typeface="+mn-lt"/>
              </a:rPr>
              <a:t> zobrazí seznam všech služeb, které jsou aktuálně spuštěny.</a:t>
            </a:r>
          </a:p>
          <a:p>
            <a:pPr>
              <a:buClr>
                <a:srgbClr val="FFFFFF"/>
              </a:buClr>
            </a:pPr>
            <a:endParaRPr lang="cs-CZ">
              <a:ea typeface="Calibri"/>
              <a:cs typeface="Calibri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E6421CE0-E623-C75B-7ED0-B567342BE7F1}"/>
              </a:ext>
            </a:extLst>
          </p:cNvPr>
          <p:cNvSpPr txBox="1"/>
          <p:nvPr/>
        </p:nvSpPr>
        <p:spPr>
          <a:xfrm>
            <a:off x="684439" y="5104039"/>
            <a:ext cx="101346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b="1">
                <a:ea typeface="+mn-lt"/>
                <a:cs typeface="+mn-lt"/>
              </a:rPr>
              <a:t>Příklady -</a:t>
            </a:r>
          </a:p>
          <a:p>
            <a:pPr marL="285750" indent="-285750">
              <a:buFont typeface="Arial"/>
              <a:buChar char="•"/>
            </a:pPr>
            <a:r>
              <a:rPr lang="cs-CZ" b="1">
                <a:ea typeface="+mn-lt"/>
                <a:cs typeface="+mn-lt"/>
              </a:rPr>
              <a:t>SSH (</a:t>
            </a:r>
            <a:r>
              <a:rPr lang="cs-CZ" b="1" err="1">
                <a:ea typeface="+mn-lt"/>
                <a:cs typeface="+mn-lt"/>
              </a:rPr>
              <a:t>Secure</a:t>
            </a:r>
            <a:r>
              <a:rPr lang="cs-CZ" b="1">
                <a:ea typeface="+mn-lt"/>
                <a:cs typeface="+mn-lt"/>
              </a:rPr>
              <a:t> Shell):</a:t>
            </a:r>
            <a:r>
              <a:rPr lang="cs-CZ">
                <a:ea typeface="+mn-lt"/>
                <a:cs typeface="+mn-lt"/>
              </a:rPr>
              <a:t> Služba </a:t>
            </a:r>
            <a:r>
              <a:rPr lang="cs-CZ" err="1">
                <a:latin typeface="Consolas"/>
              </a:rPr>
              <a:t>sshd</a:t>
            </a:r>
            <a:r>
              <a:rPr lang="cs-CZ">
                <a:ea typeface="+mn-lt"/>
                <a:cs typeface="+mn-lt"/>
              </a:rPr>
              <a:t> umožňuje vzdálené přihlášení k systému a správu přes terminál.</a:t>
            </a:r>
            <a:endParaRPr lang="cs-CZ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cs-CZ" b="1">
                <a:ea typeface="+mn-lt"/>
                <a:cs typeface="+mn-lt"/>
              </a:rPr>
              <a:t>Webový server </a:t>
            </a:r>
            <a:r>
              <a:rPr lang="cs-CZ" b="1" err="1">
                <a:ea typeface="+mn-lt"/>
                <a:cs typeface="+mn-lt"/>
              </a:rPr>
              <a:t>Apache</a:t>
            </a:r>
            <a:r>
              <a:rPr lang="cs-CZ" b="1">
                <a:ea typeface="+mn-lt"/>
                <a:cs typeface="+mn-lt"/>
              </a:rPr>
              <a:t>:</a:t>
            </a:r>
            <a:r>
              <a:rPr lang="cs-CZ">
                <a:ea typeface="+mn-lt"/>
                <a:cs typeface="+mn-lt"/>
              </a:rPr>
              <a:t> Služba </a:t>
            </a:r>
            <a:r>
              <a:rPr lang="cs-CZ">
                <a:latin typeface="Consolas"/>
              </a:rPr>
              <a:t>apache2</a:t>
            </a:r>
            <a:r>
              <a:rPr lang="cs-CZ">
                <a:ea typeface="+mn-lt"/>
                <a:cs typeface="+mn-lt"/>
              </a:rPr>
              <a:t> poskytuje webové stránky uživatelům na internetu.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 b="1" err="1">
                <a:ea typeface="+mn-lt"/>
                <a:cs typeface="+mn-lt"/>
              </a:rPr>
              <a:t>MySQL</a:t>
            </a:r>
            <a:r>
              <a:rPr lang="cs-CZ" b="1">
                <a:ea typeface="+mn-lt"/>
                <a:cs typeface="+mn-lt"/>
              </a:rPr>
              <a:t> nebo </a:t>
            </a:r>
            <a:r>
              <a:rPr lang="cs-CZ" b="1" err="1">
                <a:ea typeface="+mn-lt"/>
                <a:cs typeface="+mn-lt"/>
              </a:rPr>
              <a:t>MariaDB</a:t>
            </a:r>
            <a:r>
              <a:rPr lang="cs-CZ" b="1">
                <a:ea typeface="+mn-lt"/>
                <a:cs typeface="+mn-lt"/>
              </a:rPr>
              <a:t>:</a:t>
            </a:r>
            <a:r>
              <a:rPr lang="cs-CZ">
                <a:ea typeface="+mn-lt"/>
                <a:cs typeface="+mn-lt"/>
              </a:rPr>
              <a:t> Databázová služba pro správu a ukládání dat pro webové aplikace nebo jiné programy.</a:t>
            </a:r>
            <a:endParaRPr lang="cs-CZ"/>
          </a:p>
          <a:p>
            <a:pPr algn="l"/>
            <a:endParaRPr lang="cs-CZ">
              <a:ea typeface="Calibri"/>
              <a:cs typeface="Calibri"/>
            </a:endParaRPr>
          </a:p>
        </p:txBody>
      </p:sp>
      <p:pic>
        <p:nvPicPr>
          <p:cNvPr id="5" name="Obrázek 4" descr="Obsah obrázku text, snímek obrazovky&#10;&#10;Popis se vygeneroval automaticky.">
            <a:extLst>
              <a:ext uri="{FF2B5EF4-FFF2-40B4-BE49-F238E27FC236}">
                <a16:creationId xmlns:a16="http://schemas.microsoft.com/office/drawing/2014/main" id="{762E33BA-CC00-C0F3-3DFD-79AC66703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989" y="1984136"/>
            <a:ext cx="4982489" cy="311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84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804D71-9746-9F35-3CE0-234F031F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cs-CZ" sz="3300">
                <a:ea typeface="Calibri Light"/>
                <a:cs typeface="Calibri Light"/>
              </a:rPr>
              <a:t>Instalace softwaru v </a:t>
            </a:r>
            <a:r>
              <a:rPr lang="cs-CZ" sz="3300" err="1">
                <a:ea typeface="Calibri Light"/>
                <a:cs typeface="Calibri Light"/>
              </a:rPr>
              <a:t>linuxu</a:t>
            </a:r>
            <a:endParaRPr lang="cs-CZ" sz="330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03716E-3114-5ED9-6FB2-B29B3F322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49" y="2261420"/>
            <a:ext cx="9380478" cy="410602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cs-CZ" sz="1400" b="1">
                <a:ea typeface="+mn-lt"/>
                <a:cs typeface="+mn-lt"/>
              </a:rPr>
              <a:t>Instalace balíčků</a:t>
            </a:r>
            <a:endParaRPr lang="cs-CZ" sz="140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400">
                <a:ea typeface="+mn-lt"/>
                <a:cs typeface="+mn-lt"/>
              </a:rPr>
              <a:t>Linux používá balíčkovací systémy, jako je APT (</a:t>
            </a:r>
            <a:r>
              <a:rPr lang="cs-CZ" sz="1400" err="1">
                <a:ea typeface="+mn-lt"/>
                <a:cs typeface="+mn-lt"/>
              </a:rPr>
              <a:t>Advanced</a:t>
            </a:r>
            <a:r>
              <a:rPr lang="cs-CZ" sz="1400">
                <a:ea typeface="+mn-lt"/>
                <a:cs typeface="+mn-lt"/>
              </a:rPr>
              <a:t> </a:t>
            </a:r>
            <a:r>
              <a:rPr lang="cs-CZ" sz="1400" err="1">
                <a:ea typeface="+mn-lt"/>
                <a:cs typeface="+mn-lt"/>
              </a:rPr>
              <a:t>Package</a:t>
            </a:r>
            <a:r>
              <a:rPr lang="cs-CZ" sz="1400">
                <a:ea typeface="+mn-lt"/>
                <a:cs typeface="+mn-lt"/>
              </a:rPr>
              <a:t> </a:t>
            </a:r>
            <a:r>
              <a:rPr lang="cs-CZ" sz="1400" err="1">
                <a:ea typeface="+mn-lt"/>
                <a:cs typeface="+mn-lt"/>
              </a:rPr>
              <a:t>Tool</a:t>
            </a:r>
            <a:r>
              <a:rPr lang="cs-CZ" sz="1400">
                <a:ea typeface="+mn-lt"/>
                <a:cs typeface="+mn-lt"/>
              </a:rPr>
              <a:t>) na distribucích </a:t>
            </a:r>
            <a:r>
              <a:rPr lang="cs-CZ" sz="1400" err="1">
                <a:ea typeface="+mn-lt"/>
                <a:cs typeface="+mn-lt"/>
              </a:rPr>
              <a:t>Debian</a:t>
            </a:r>
            <a:r>
              <a:rPr lang="cs-CZ" sz="1400">
                <a:ea typeface="+mn-lt"/>
                <a:cs typeface="+mn-lt"/>
              </a:rPr>
              <a:t>/</a:t>
            </a:r>
            <a:r>
              <a:rPr lang="cs-CZ" sz="1400" err="1">
                <a:ea typeface="+mn-lt"/>
                <a:cs typeface="+mn-lt"/>
              </a:rPr>
              <a:t>Ubuntu</a:t>
            </a:r>
            <a:r>
              <a:rPr lang="cs-CZ" sz="1400">
                <a:ea typeface="+mn-lt"/>
                <a:cs typeface="+mn-lt"/>
              </a:rPr>
              <a:t> a YUM/DNF na distribucích </a:t>
            </a:r>
            <a:r>
              <a:rPr lang="cs-CZ" sz="1400" err="1">
                <a:ea typeface="+mn-lt"/>
                <a:cs typeface="+mn-lt"/>
              </a:rPr>
              <a:t>Red</a:t>
            </a:r>
            <a:r>
              <a:rPr lang="cs-CZ" sz="1400">
                <a:ea typeface="+mn-lt"/>
                <a:cs typeface="+mn-lt"/>
              </a:rPr>
              <a:t> </a:t>
            </a:r>
            <a:r>
              <a:rPr lang="cs-CZ" sz="1400" err="1">
                <a:ea typeface="+mn-lt"/>
                <a:cs typeface="+mn-lt"/>
              </a:rPr>
              <a:t>Hat</a:t>
            </a:r>
            <a:r>
              <a:rPr lang="cs-CZ" sz="1400">
                <a:ea typeface="+mn-lt"/>
                <a:cs typeface="+mn-lt"/>
              </a:rPr>
              <a:t>/</a:t>
            </a:r>
            <a:r>
              <a:rPr lang="cs-CZ" sz="1400" err="1">
                <a:ea typeface="+mn-lt"/>
                <a:cs typeface="+mn-lt"/>
              </a:rPr>
              <a:t>CentOS</a:t>
            </a:r>
            <a:r>
              <a:rPr lang="cs-CZ" sz="1400">
                <a:ea typeface="+mn-lt"/>
                <a:cs typeface="+mn-lt"/>
              </a:rPr>
              <a:t>. Tyto nástroje umožňují uživatelům snadno instalovat, aktualizovat a </a:t>
            </a:r>
            <a:r>
              <a:rPr lang="cs-CZ" sz="1400" err="1">
                <a:ea typeface="+mn-lt"/>
                <a:cs typeface="+mn-lt"/>
              </a:rPr>
              <a:t>odinstalovávat</a:t>
            </a:r>
            <a:r>
              <a:rPr lang="cs-CZ" sz="1400">
                <a:ea typeface="+mn-lt"/>
                <a:cs typeface="+mn-lt"/>
              </a:rPr>
              <a:t> software.</a:t>
            </a:r>
            <a:endParaRPr lang="cs-CZ" sz="140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400" b="1">
                <a:ea typeface="+mn-lt"/>
                <a:cs typeface="+mn-lt"/>
              </a:rPr>
              <a:t>  APT:</a:t>
            </a:r>
            <a:r>
              <a:rPr lang="cs-CZ" sz="1400">
                <a:ea typeface="+mn-lt"/>
                <a:cs typeface="+mn-lt"/>
              </a:rPr>
              <a:t> </a:t>
            </a:r>
            <a:r>
              <a:rPr lang="cs-CZ" sz="1400" u="sng" err="1">
                <a:latin typeface="Consolas"/>
                <a:ea typeface="+mn-lt"/>
                <a:cs typeface="+mn-lt"/>
              </a:rPr>
              <a:t>sudo</a:t>
            </a:r>
            <a:r>
              <a:rPr lang="cs-CZ" sz="1400" u="sng">
                <a:latin typeface="Consolas"/>
                <a:ea typeface="+mn-lt"/>
                <a:cs typeface="+mn-lt"/>
              </a:rPr>
              <a:t> </a:t>
            </a:r>
            <a:r>
              <a:rPr lang="cs-CZ" sz="1400" u="sng" err="1">
                <a:latin typeface="Consolas"/>
                <a:ea typeface="+mn-lt"/>
                <a:cs typeface="+mn-lt"/>
              </a:rPr>
              <a:t>apt</a:t>
            </a:r>
            <a:r>
              <a:rPr lang="cs-CZ" sz="1400" u="sng">
                <a:latin typeface="Consolas"/>
                <a:ea typeface="+mn-lt"/>
                <a:cs typeface="+mn-lt"/>
              </a:rPr>
              <a:t> </a:t>
            </a:r>
            <a:r>
              <a:rPr lang="cs-CZ" sz="1400" u="sng" err="1">
                <a:latin typeface="Consolas"/>
                <a:ea typeface="+mn-lt"/>
                <a:cs typeface="+mn-lt"/>
              </a:rPr>
              <a:t>install</a:t>
            </a:r>
            <a:r>
              <a:rPr lang="cs-CZ" sz="1400" u="sng">
                <a:latin typeface="Consolas"/>
                <a:ea typeface="+mn-lt"/>
                <a:cs typeface="+mn-lt"/>
              </a:rPr>
              <a:t> </a:t>
            </a:r>
            <a:r>
              <a:rPr lang="cs-CZ" sz="1400" u="sng" err="1">
                <a:latin typeface="Consolas"/>
                <a:ea typeface="+mn-lt"/>
                <a:cs typeface="+mn-lt"/>
              </a:rPr>
              <a:t>název_programu</a:t>
            </a:r>
            <a:r>
              <a:rPr lang="cs-CZ" sz="1400">
                <a:ea typeface="+mn-lt"/>
                <a:cs typeface="+mn-lt"/>
              </a:rPr>
              <a:t> – Tento příkaz nainstaluje program z úložiště.</a:t>
            </a: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400" b="1">
                <a:ea typeface="+mn-lt"/>
                <a:cs typeface="+mn-lt"/>
              </a:rPr>
              <a:t>  YUM/DNF:</a:t>
            </a:r>
            <a:r>
              <a:rPr lang="cs-CZ" sz="1400">
                <a:ea typeface="+mn-lt"/>
                <a:cs typeface="+mn-lt"/>
              </a:rPr>
              <a:t> Fedora používá příkaz </a:t>
            </a:r>
            <a:r>
              <a:rPr lang="cs-CZ" sz="1400" u="sng" err="1">
                <a:latin typeface="Consolas"/>
                <a:ea typeface="+mn-lt"/>
                <a:cs typeface="+mn-lt"/>
              </a:rPr>
              <a:t>sudo</a:t>
            </a:r>
            <a:r>
              <a:rPr lang="cs-CZ" sz="1400" u="sng">
                <a:latin typeface="Consolas"/>
                <a:ea typeface="+mn-lt"/>
                <a:cs typeface="+mn-lt"/>
              </a:rPr>
              <a:t> </a:t>
            </a:r>
            <a:r>
              <a:rPr lang="cs-CZ" sz="1400" u="sng" err="1">
                <a:latin typeface="Consolas"/>
                <a:ea typeface="+mn-lt"/>
                <a:cs typeface="+mn-lt"/>
              </a:rPr>
              <a:t>dnf</a:t>
            </a:r>
            <a:r>
              <a:rPr lang="cs-CZ" sz="1400" u="sng">
                <a:latin typeface="Consolas"/>
                <a:ea typeface="+mn-lt"/>
                <a:cs typeface="+mn-lt"/>
              </a:rPr>
              <a:t> </a:t>
            </a:r>
            <a:r>
              <a:rPr lang="cs-CZ" sz="1400" u="sng" err="1">
                <a:latin typeface="Consolas"/>
                <a:ea typeface="+mn-lt"/>
                <a:cs typeface="+mn-lt"/>
              </a:rPr>
              <a:t>install</a:t>
            </a:r>
            <a:r>
              <a:rPr lang="cs-CZ" sz="1400" u="sng">
                <a:latin typeface="Consolas"/>
                <a:ea typeface="+mn-lt"/>
                <a:cs typeface="+mn-lt"/>
              </a:rPr>
              <a:t> </a:t>
            </a:r>
            <a:r>
              <a:rPr lang="cs-CZ" sz="1400" u="sng" err="1">
                <a:latin typeface="Consolas"/>
                <a:ea typeface="+mn-lt"/>
                <a:cs typeface="+mn-lt"/>
              </a:rPr>
              <a:t>název_programu</a:t>
            </a:r>
            <a:r>
              <a:rPr lang="cs-CZ" sz="1400">
                <a:ea typeface="+mn-lt"/>
                <a:cs typeface="+mn-lt"/>
              </a:rPr>
              <a:t>.</a:t>
            </a:r>
            <a:endParaRPr lang="cs-CZ" sz="14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140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400" b="1">
                <a:ea typeface="+mn-lt"/>
                <a:cs typeface="+mn-lt"/>
              </a:rPr>
              <a:t>Příkaz pro instalaci balíčku:</a:t>
            </a:r>
            <a:r>
              <a:rPr lang="cs-CZ" sz="1400">
                <a:ea typeface="+mn-lt"/>
                <a:cs typeface="+mn-lt"/>
              </a:rPr>
              <a:t> Například </a:t>
            </a:r>
            <a:r>
              <a:rPr lang="cs-CZ" sz="1400" u="sng" err="1">
                <a:latin typeface="Consolas"/>
              </a:rPr>
              <a:t>sudo</a:t>
            </a:r>
            <a:r>
              <a:rPr lang="cs-CZ" sz="1400" u="sng">
                <a:latin typeface="Consolas"/>
              </a:rPr>
              <a:t> </a:t>
            </a:r>
            <a:r>
              <a:rPr lang="cs-CZ" sz="1400" u="sng" err="1">
                <a:latin typeface="Consolas"/>
              </a:rPr>
              <a:t>apt-get</a:t>
            </a:r>
            <a:r>
              <a:rPr lang="cs-CZ" sz="1400" u="sng">
                <a:latin typeface="Consolas"/>
              </a:rPr>
              <a:t> </a:t>
            </a:r>
            <a:r>
              <a:rPr lang="cs-CZ" sz="1400" u="sng" err="1">
                <a:latin typeface="Consolas"/>
              </a:rPr>
              <a:t>install</a:t>
            </a:r>
            <a:r>
              <a:rPr lang="cs-CZ" sz="1400" u="sng">
                <a:latin typeface="Consolas"/>
              </a:rPr>
              <a:t> [</a:t>
            </a:r>
            <a:r>
              <a:rPr lang="cs-CZ" sz="1400" u="sng" err="1">
                <a:latin typeface="Consolas"/>
              </a:rPr>
              <a:t>název_balíčku</a:t>
            </a:r>
            <a:r>
              <a:rPr lang="cs-CZ" sz="1400" u="sng">
                <a:latin typeface="Consolas"/>
              </a:rPr>
              <a:t>]</a:t>
            </a:r>
            <a:r>
              <a:rPr lang="cs-CZ" sz="1400">
                <a:ea typeface="+mn-lt"/>
                <a:cs typeface="+mn-lt"/>
              </a:rPr>
              <a:t> nainstaluje požadovaný software v </a:t>
            </a:r>
            <a:r>
              <a:rPr lang="cs-CZ" sz="1400" err="1">
                <a:ea typeface="+mn-lt"/>
                <a:cs typeface="+mn-lt"/>
              </a:rPr>
              <a:t>Ubuntu</a:t>
            </a:r>
            <a:r>
              <a:rPr lang="cs-CZ" sz="1400">
                <a:ea typeface="+mn-lt"/>
                <a:cs typeface="+mn-lt"/>
              </a:rPr>
              <a:t>. Příkaz stáhne potřebné soubory z oficiálního úložiště a provede instalaci.</a:t>
            </a:r>
            <a:endParaRPr lang="cs-CZ" sz="1400">
              <a:cs typeface="Calibri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400" b="1">
                <a:ea typeface="+mn-lt"/>
                <a:cs typeface="+mn-lt"/>
              </a:rPr>
              <a:t>Správa úložišť</a:t>
            </a:r>
            <a:endParaRPr lang="cs-CZ" sz="140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400">
                <a:ea typeface="+mn-lt"/>
                <a:cs typeface="+mn-lt"/>
              </a:rPr>
              <a:t> Úložiště (</a:t>
            </a:r>
            <a:r>
              <a:rPr lang="cs-CZ" sz="1400" err="1">
                <a:ea typeface="+mn-lt"/>
                <a:cs typeface="+mn-lt"/>
              </a:rPr>
              <a:t>repositories</a:t>
            </a:r>
            <a:r>
              <a:rPr lang="cs-CZ" sz="1400">
                <a:ea typeface="+mn-lt"/>
                <a:cs typeface="+mn-lt"/>
              </a:rPr>
              <a:t>) jsou servery, které obsahují balíčky. Správci systémů mohou přidávat nová úložiště, aby získali přístup k dalšímu softwaru, například </a:t>
            </a:r>
            <a:r>
              <a:rPr lang="cs-CZ" sz="1400" u="sng" err="1">
                <a:latin typeface="Consolas"/>
              </a:rPr>
              <a:t>add-apt-repository</a:t>
            </a:r>
            <a:endParaRPr lang="cs-CZ" sz="1400" u="sng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400" b="1">
                <a:ea typeface="+mn-lt"/>
                <a:cs typeface="+mn-lt"/>
              </a:rPr>
              <a:t>Aktualizace softwaru</a:t>
            </a:r>
            <a:endParaRPr lang="cs-CZ" sz="140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400">
                <a:ea typeface="+mn-lt"/>
                <a:cs typeface="+mn-lt"/>
              </a:rPr>
              <a:t>Udržování softwaru aktualizovaného je klíčové pro zabezpečení systému. Příkaz </a:t>
            </a:r>
            <a:r>
              <a:rPr lang="cs-CZ" sz="1400" u="sng" err="1">
                <a:latin typeface="Consolas"/>
              </a:rPr>
              <a:t>sudo</a:t>
            </a:r>
            <a:r>
              <a:rPr lang="cs-CZ" sz="1400" u="sng">
                <a:latin typeface="Consolas"/>
              </a:rPr>
              <a:t> </a:t>
            </a:r>
            <a:r>
              <a:rPr lang="cs-CZ" sz="1400" u="sng" err="1">
                <a:latin typeface="Consolas"/>
              </a:rPr>
              <a:t>apt-get</a:t>
            </a:r>
            <a:r>
              <a:rPr lang="cs-CZ" sz="1400" u="sng">
                <a:latin typeface="Consolas"/>
              </a:rPr>
              <a:t> update</a:t>
            </a:r>
            <a:r>
              <a:rPr lang="cs-CZ" sz="1400">
                <a:ea typeface="+mn-lt"/>
                <a:cs typeface="+mn-lt"/>
              </a:rPr>
              <a:t> aktualizuje seznam dostupných balíčků a </a:t>
            </a:r>
            <a:r>
              <a:rPr lang="cs-CZ" sz="1400" u="sng" err="1">
                <a:latin typeface="Consolas"/>
              </a:rPr>
              <a:t>sudo</a:t>
            </a:r>
            <a:r>
              <a:rPr lang="cs-CZ" sz="1400" u="sng">
                <a:latin typeface="Consolas"/>
              </a:rPr>
              <a:t> </a:t>
            </a:r>
            <a:r>
              <a:rPr lang="cs-CZ" sz="1400" u="sng" err="1">
                <a:latin typeface="Consolas"/>
              </a:rPr>
              <a:t>apt-get</a:t>
            </a:r>
            <a:r>
              <a:rPr lang="cs-CZ" sz="1400" u="sng">
                <a:latin typeface="Consolas"/>
              </a:rPr>
              <a:t> upgrade</a:t>
            </a:r>
            <a:r>
              <a:rPr lang="cs-CZ" sz="1400">
                <a:ea typeface="+mn-lt"/>
                <a:cs typeface="+mn-lt"/>
              </a:rPr>
              <a:t> nainstaluje nejnovější verze nainstalovaných balíčků.</a:t>
            </a:r>
            <a:endParaRPr lang="cs-CZ" sz="14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700">
              <a:ea typeface="Calibri"/>
              <a:cs typeface="Calibri"/>
            </a:endParaRPr>
          </a:p>
        </p:txBody>
      </p:sp>
      <p:pic>
        <p:nvPicPr>
          <p:cNvPr id="4" name="Obrázek 3" descr="Obsah obrázku text, elektronika, snímek obrazovky, počítač&#10;&#10;Popis se vygeneroval automaticky.">
            <a:extLst>
              <a:ext uri="{FF2B5EF4-FFF2-40B4-BE49-F238E27FC236}">
                <a16:creationId xmlns:a16="http://schemas.microsoft.com/office/drawing/2014/main" id="{41C86FC8-98D8-CC1C-A728-20CBF84FA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496" y="123666"/>
            <a:ext cx="3472136" cy="222478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0396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CCD28F-F07A-EA3B-5D0F-3F2AB5D0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3300" b="1"/>
              <a:t>Ukázka: Instalace a správa služby </a:t>
            </a:r>
            <a:r>
              <a:rPr lang="cs-CZ" sz="3300" b="1" err="1"/>
              <a:t>Apache</a:t>
            </a:r>
            <a:endParaRPr lang="cs-CZ" sz="3300" err="1">
              <a:ea typeface="Calibri Light" panose="020F0302020204030204"/>
              <a:cs typeface="Calibri Light" panose="020F0302020204030204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endParaRPr lang="cs-CZ" sz="3300"/>
          </a:p>
          <a:p>
            <a:pPr>
              <a:lnSpc>
                <a:spcPct val="90000"/>
              </a:lnSpc>
            </a:pPr>
            <a:endParaRPr lang="cs-CZ" sz="3300">
              <a:ea typeface="Calibri Light"/>
              <a:cs typeface="Calibri Ligh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AF684AC-BCD0-FF7B-2879-C5F42F93D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cs-CZ" sz="1500" b="1">
                <a:ea typeface="+mn-lt"/>
                <a:cs typeface="+mn-lt"/>
              </a:rPr>
              <a:t>Instalace </a:t>
            </a:r>
            <a:r>
              <a:rPr lang="cs-CZ" sz="1500" b="1" err="1">
                <a:ea typeface="+mn-lt"/>
                <a:cs typeface="+mn-lt"/>
              </a:rPr>
              <a:t>Apache</a:t>
            </a:r>
            <a:endParaRPr lang="cs-CZ" sz="1500" err="1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u="sng" err="1">
                <a:latin typeface="Consolas"/>
                <a:ea typeface="+mn-lt"/>
                <a:cs typeface="+mn-lt"/>
              </a:rPr>
              <a:t>sudo</a:t>
            </a:r>
            <a:r>
              <a:rPr lang="cs-CZ" sz="1500" u="sng">
                <a:latin typeface="Consolas"/>
              </a:rPr>
              <a:t> </a:t>
            </a:r>
            <a:r>
              <a:rPr lang="cs-CZ" sz="1500" u="sng" err="1">
                <a:latin typeface="Consolas"/>
              </a:rPr>
              <a:t>apt</a:t>
            </a:r>
            <a:r>
              <a:rPr lang="cs-CZ" sz="1500" u="sng">
                <a:latin typeface="Consolas"/>
              </a:rPr>
              <a:t> </a:t>
            </a:r>
            <a:r>
              <a:rPr lang="cs-CZ" sz="1500" u="sng" err="1">
                <a:latin typeface="Consolas"/>
              </a:rPr>
              <a:t>install</a:t>
            </a:r>
            <a:r>
              <a:rPr lang="cs-CZ" sz="1500" u="sng">
                <a:latin typeface="Consolas"/>
              </a:rPr>
              <a:t> apache2</a:t>
            </a:r>
            <a:r>
              <a:rPr lang="cs-CZ" sz="1500">
                <a:ea typeface="+mn-lt"/>
                <a:cs typeface="+mn-lt"/>
              </a:rPr>
              <a:t> nainstaluje na systém populární webový server </a:t>
            </a:r>
            <a:r>
              <a:rPr lang="cs-CZ" sz="1500" err="1">
                <a:ea typeface="+mn-lt"/>
                <a:cs typeface="+mn-lt"/>
              </a:rPr>
              <a:t>Apache</a:t>
            </a:r>
            <a:r>
              <a:rPr lang="cs-CZ" sz="1500">
                <a:ea typeface="+mn-lt"/>
                <a:cs typeface="+mn-lt"/>
              </a:rPr>
              <a:t>.</a:t>
            </a:r>
            <a:endParaRPr lang="cs-CZ" sz="150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500" b="1">
                <a:ea typeface="+mn-lt"/>
                <a:cs typeface="+mn-lt"/>
              </a:rPr>
              <a:t>Spuštění </a:t>
            </a:r>
            <a:r>
              <a:rPr lang="cs-CZ" sz="1500" b="1" err="1">
                <a:ea typeface="+mn-lt"/>
                <a:cs typeface="+mn-lt"/>
              </a:rPr>
              <a:t>Apache</a:t>
            </a:r>
            <a:endParaRPr lang="cs-CZ" sz="1500" err="1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cs-CZ" sz="1500" u="sng" err="1">
                <a:latin typeface="Consolas"/>
                <a:ea typeface="+mn-lt"/>
                <a:cs typeface="+mn-lt"/>
              </a:rPr>
              <a:t>sudo</a:t>
            </a:r>
            <a:r>
              <a:rPr lang="cs-CZ" sz="1500" u="sng">
                <a:latin typeface="Consolas"/>
              </a:rPr>
              <a:t> </a:t>
            </a:r>
            <a:r>
              <a:rPr lang="cs-CZ" sz="1500" u="sng" err="1">
                <a:latin typeface="Consolas"/>
              </a:rPr>
              <a:t>systemctl</a:t>
            </a:r>
            <a:r>
              <a:rPr lang="cs-CZ" sz="1500" u="sng">
                <a:latin typeface="Consolas"/>
              </a:rPr>
              <a:t> start apache2</a:t>
            </a:r>
            <a:r>
              <a:rPr lang="cs-CZ" sz="1500">
                <a:ea typeface="+mn-lt"/>
                <a:cs typeface="+mn-lt"/>
              </a:rPr>
              <a:t> spustí </a:t>
            </a:r>
            <a:r>
              <a:rPr lang="cs-CZ" sz="1500" err="1">
                <a:ea typeface="+mn-lt"/>
                <a:cs typeface="+mn-lt"/>
              </a:rPr>
              <a:t>Apache</a:t>
            </a:r>
            <a:r>
              <a:rPr lang="cs-CZ" sz="1500">
                <a:ea typeface="+mn-lt"/>
                <a:cs typeface="+mn-lt"/>
              </a:rPr>
              <a:t> server. Po spuštění můžete otevřít webový prohlížeč a zkusit načíst </a:t>
            </a:r>
            <a:r>
              <a:rPr lang="cs-CZ" sz="1500" err="1">
                <a:latin typeface="Consolas"/>
              </a:rPr>
              <a:t>localhost</a:t>
            </a:r>
            <a:r>
              <a:rPr lang="cs-CZ" sz="1500">
                <a:ea typeface="+mn-lt"/>
                <a:cs typeface="+mn-lt"/>
              </a:rPr>
              <a:t>, abyste zkontrolovali, zda server běží.</a:t>
            </a:r>
            <a:endParaRPr lang="cs-CZ" sz="150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500" b="1">
                <a:ea typeface="+mn-lt"/>
                <a:cs typeface="+mn-lt"/>
              </a:rPr>
              <a:t>Povolení při startu</a:t>
            </a:r>
            <a:endParaRPr lang="cs-CZ" sz="150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u="sng" err="1">
                <a:latin typeface="Consolas"/>
                <a:ea typeface="+mn-lt"/>
                <a:cs typeface="+mn-lt"/>
              </a:rPr>
              <a:t>sudo</a:t>
            </a:r>
            <a:r>
              <a:rPr lang="cs-CZ" sz="1500" u="sng">
                <a:latin typeface="Consolas"/>
              </a:rPr>
              <a:t> </a:t>
            </a:r>
            <a:r>
              <a:rPr lang="cs-CZ" sz="1500" u="sng" err="1">
                <a:latin typeface="Consolas"/>
              </a:rPr>
              <a:t>systemctl</a:t>
            </a:r>
            <a:r>
              <a:rPr lang="cs-CZ" sz="1500" u="sng">
                <a:latin typeface="Consolas"/>
              </a:rPr>
              <a:t> </a:t>
            </a:r>
            <a:r>
              <a:rPr lang="cs-CZ" sz="1500" u="sng" err="1">
                <a:latin typeface="Consolas"/>
              </a:rPr>
              <a:t>enable</a:t>
            </a:r>
            <a:r>
              <a:rPr lang="cs-CZ" sz="1500" u="sng">
                <a:latin typeface="Consolas"/>
              </a:rPr>
              <a:t> apache2</a:t>
            </a:r>
            <a:r>
              <a:rPr lang="cs-CZ" sz="1500">
                <a:ea typeface="+mn-lt"/>
                <a:cs typeface="+mn-lt"/>
              </a:rPr>
              <a:t> zajistí, že se </a:t>
            </a:r>
            <a:r>
              <a:rPr lang="cs-CZ" sz="1500" err="1">
                <a:ea typeface="+mn-lt"/>
                <a:cs typeface="+mn-lt"/>
              </a:rPr>
              <a:t>Apache</a:t>
            </a:r>
            <a:r>
              <a:rPr lang="cs-CZ" sz="1500">
                <a:ea typeface="+mn-lt"/>
                <a:cs typeface="+mn-lt"/>
              </a:rPr>
              <a:t> automaticky spustí při každém startu systému.</a:t>
            </a:r>
            <a:endParaRPr lang="cs-CZ" sz="15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1500">
              <a:ea typeface="Calibri"/>
              <a:cs typeface="Calibri"/>
            </a:endParaRPr>
          </a:p>
        </p:txBody>
      </p:sp>
      <p:pic>
        <p:nvPicPr>
          <p:cNvPr id="4" name="Obrázek 3" descr="Obsah obrázku text, elektronika, snímek obrazovky, software&#10;&#10;Popis se vygeneroval automaticky.">
            <a:extLst>
              <a:ext uri="{FF2B5EF4-FFF2-40B4-BE49-F238E27FC236}">
                <a16:creationId xmlns:a16="http://schemas.microsoft.com/office/drawing/2014/main" id="{1D306435-1964-D7E4-5D98-409E0DCD9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711" y="1542902"/>
            <a:ext cx="6095593" cy="367259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7141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2693E1-4811-5A09-8DB9-423CB55A8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Ukázka: Správa služeb pomocí </a:t>
            </a:r>
            <a:r>
              <a:rPr lang="cs-CZ" err="1">
                <a:ea typeface="+mj-lt"/>
                <a:cs typeface="+mj-lt"/>
              </a:rPr>
              <a:t>Systemctl</a:t>
            </a:r>
            <a:endParaRPr lang="cs-CZ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5C0DBE-13E6-57D8-9B18-9BA93E6A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cs-CZ" b="1">
                <a:ea typeface="+mn-lt"/>
                <a:cs typeface="+mn-lt"/>
              </a:rPr>
              <a:t>Zobrazení stavu služby</a:t>
            </a:r>
            <a:endParaRPr lang="cs-CZ"/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Například pro </a:t>
            </a:r>
            <a:r>
              <a:rPr lang="cs-CZ" u="sng" err="1">
                <a:ea typeface="+mn-lt"/>
                <a:cs typeface="+mn-lt"/>
              </a:rPr>
              <a:t>Apache</a:t>
            </a:r>
            <a:r>
              <a:rPr lang="cs-CZ" u="sng">
                <a:ea typeface="+mn-lt"/>
                <a:cs typeface="+mn-lt"/>
              </a:rPr>
              <a:t> (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status apache2</a:t>
            </a:r>
            <a:r>
              <a:rPr lang="cs-CZ" u="sng">
                <a:ea typeface="+mn-lt"/>
                <a:cs typeface="+mn-lt"/>
              </a:rPr>
              <a:t>)</a:t>
            </a:r>
            <a:r>
              <a:rPr lang="cs-CZ">
                <a:ea typeface="+mn-lt"/>
                <a:cs typeface="+mn-lt"/>
              </a:rPr>
              <a:t> uvidíte, zda služba běží, kdy byla naposledy spuštěna, a zda došlo k chybám. Můžete zjistit, jestli služba čelí problémům, jako je například neúspěšný start nebo zastavení.</a:t>
            </a:r>
            <a:endParaRPr lang="cs-CZ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 b="1">
                <a:ea typeface="+mn-lt"/>
                <a:cs typeface="+mn-lt"/>
              </a:rPr>
              <a:t>Spuštění a zastavení služby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 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start apache2</a:t>
            </a:r>
            <a:r>
              <a:rPr lang="cs-CZ">
                <a:ea typeface="+mn-lt"/>
                <a:cs typeface="+mn-lt"/>
              </a:rPr>
              <a:t> spustí </a:t>
            </a:r>
            <a:r>
              <a:rPr lang="cs-CZ" err="1">
                <a:ea typeface="+mn-lt"/>
                <a:cs typeface="+mn-lt"/>
              </a:rPr>
              <a:t>Apache</a:t>
            </a:r>
            <a:r>
              <a:rPr lang="cs-CZ">
                <a:ea typeface="+mn-lt"/>
                <a:cs typeface="+mn-lt"/>
              </a:rPr>
              <a:t>, pokud je vypnutý. 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stop apache2</a:t>
            </a:r>
            <a:r>
              <a:rPr lang="cs-CZ">
                <a:ea typeface="+mn-lt"/>
                <a:cs typeface="+mn-lt"/>
              </a:rPr>
              <a:t> jej ukončí. To je užitečné, pokud potřebujete provádět údržbu serveru nebo dočasně zastavit jeho provoz.</a:t>
            </a:r>
            <a:endParaRPr lang="cs-CZ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 b="1">
                <a:ea typeface="+mn-lt"/>
                <a:cs typeface="+mn-lt"/>
              </a:rPr>
              <a:t>Restartování služby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 Používá se, když měníte konfiguraci služby (např. změna konfiguračních souborů). 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restart apache2</a:t>
            </a:r>
            <a:r>
              <a:rPr lang="cs-CZ">
                <a:ea typeface="+mn-lt"/>
                <a:cs typeface="+mn-lt"/>
              </a:rPr>
              <a:t> službu ukončí a okamžitě spustí znovu s novou konfigurací.</a:t>
            </a:r>
            <a:endParaRPr lang="cs-CZ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 b="1">
                <a:ea typeface="+mn-lt"/>
                <a:cs typeface="+mn-lt"/>
              </a:rPr>
              <a:t>Příkaz pro opětovné načtení bez úplného restartu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 Pokud nechcete úplně restartovat službu, ale jen načíst nové konfigurace, můžete použít příkaz 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</a:t>
            </a:r>
            <a:r>
              <a:rPr lang="cs-CZ" u="sng" err="1">
                <a:latin typeface="Consolas"/>
              </a:rPr>
              <a:t>reload</a:t>
            </a:r>
            <a:r>
              <a:rPr lang="cs-CZ" u="sng">
                <a:latin typeface="Consolas"/>
              </a:rPr>
              <a:t> apache2</a:t>
            </a:r>
            <a:r>
              <a:rPr lang="cs-CZ">
                <a:ea typeface="+mn-lt"/>
                <a:cs typeface="+mn-lt"/>
              </a:rPr>
              <a:t>. To může být užitečné při menších změnách, například přidání modulu.</a:t>
            </a:r>
            <a:endParaRPr lang="cs-CZ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cs-CZ">
              <a:ea typeface="Calibri"/>
              <a:cs typeface="Calibri"/>
            </a:endParaRPr>
          </a:p>
        </p:txBody>
      </p:sp>
      <p:pic>
        <p:nvPicPr>
          <p:cNvPr id="4" name="Obrázek 3" descr="Obsah obrázku text, snímek obrazovky, software, Multimediální software&#10;&#10;Popis se vygeneroval automaticky.">
            <a:extLst>
              <a:ext uri="{FF2B5EF4-FFF2-40B4-BE49-F238E27FC236}">
                <a16:creationId xmlns:a16="http://schemas.microsoft.com/office/drawing/2014/main" id="{2393E125-86BA-BBC7-AF99-BFAAA8477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187" y="5298314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65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27C42C-E901-0F88-5BF3-816F98C68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Calibri Light"/>
                <a:cs typeface="Calibri Light"/>
              </a:rPr>
              <a:t>Ukázka: zakázání a povolení služby při startu systému 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6F3762-F241-E645-DEE7-3D8E5DBA4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cs-CZ" b="1">
                <a:ea typeface="+mn-lt"/>
                <a:cs typeface="+mn-lt"/>
              </a:rPr>
              <a:t>Povolení služby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 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</a:t>
            </a:r>
            <a:r>
              <a:rPr lang="cs-CZ" u="sng" err="1">
                <a:latin typeface="Consolas"/>
              </a:rPr>
              <a:t>enable</a:t>
            </a:r>
            <a:r>
              <a:rPr lang="cs-CZ" u="sng">
                <a:latin typeface="Consolas"/>
              </a:rPr>
              <a:t> apache2</a:t>
            </a:r>
            <a:r>
              <a:rPr lang="cs-CZ">
                <a:ea typeface="+mn-lt"/>
                <a:cs typeface="+mn-lt"/>
              </a:rPr>
              <a:t> zajistí, že </a:t>
            </a:r>
            <a:r>
              <a:rPr lang="cs-CZ" err="1">
                <a:ea typeface="+mn-lt"/>
                <a:cs typeface="+mn-lt"/>
              </a:rPr>
              <a:t>Apache</a:t>
            </a:r>
            <a:r>
              <a:rPr lang="cs-CZ">
                <a:ea typeface="+mn-lt"/>
                <a:cs typeface="+mn-lt"/>
              </a:rPr>
              <a:t> se spustí automaticky po každém startu systému. Je důležité zajistit, aby klíčové služby běžely bez zásahu správce systému po restartu.</a:t>
            </a:r>
            <a:endParaRPr lang="cs-CZ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 b="1">
                <a:ea typeface="+mn-lt"/>
                <a:cs typeface="+mn-lt"/>
              </a:rPr>
              <a:t>Zakázání služby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 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</a:t>
            </a:r>
            <a:r>
              <a:rPr lang="cs-CZ" u="sng" err="1">
                <a:latin typeface="Consolas"/>
              </a:rPr>
              <a:t>disable</a:t>
            </a:r>
            <a:r>
              <a:rPr lang="cs-CZ" u="sng">
                <a:latin typeface="Consolas"/>
              </a:rPr>
              <a:t> apache2</a:t>
            </a:r>
            <a:r>
              <a:rPr lang="cs-CZ">
                <a:ea typeface="+mn-lt"/>
                <a:cs typeface="+mn-lt"/>
              </a:rPr>
              <a:t> znamená, že </a:t>
            </a:r>
            <a:r>
              <a:rPr lang="cs-CZ" err="1">
                <a:ea typeface="+mn-lt"/>
                <a:cs typeface="+mn-lt"/>
              </a:rPr>
              <a:t>Apache</a:t>
            </a:r>
            <a:r>
              <a:rPr lang="cs-CZ">
                <a:ea typeface="+mn-lt"/>
                <a:cs typeface="+mn-lt"/>
              </a:rPr>
              <a:t> nebude spuštěn automaticky při startu. To je vhodné, pokud nechcete, aby běžely služby, které nejsou nutné, čímž šetříte systémové zdroje.</a:t>
            </a:r>
            <a:endParaRPr lang="cs-CZ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 b="1">
                <a:ea typeface="+mn-lt"/>
                <a:cs typeface="+mn-lt"/>
              </a:rPr>
              <a:t>Kontrola seznamu povolených služeb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Pomocí příkazu 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list-unit-</a:t>
            </a:r>
            <a:r>
              <a:rPr lang="cs-CZ" u="sng" err="1">
                <a:latin typeface="Consolas"/>
              </a:rPr>
              <a:t>files</a:t>
            </a:r>
            <a:r>
              <a:rPr lang="cs-CZ" u="sng">
                <a:latin typeface="Consolas"/>
              </a:rPr>
              <a:t> --type=</a:t>
            </a:r>
            <a:r>
              <a:rPr lang="cs-CZ" u="sng" err="1">
                <a:latin typeface="Consolas"/>
              </a:rPr>
              <a:t>service</a:t>
            </a:r>
            <a:r>
              <a:rPr lang="cs-CZ">
                <a:ea typeface="+mn-lt"/>
                <a:cs typeface="+mn-lt"/>
              </a:rPr>
              <a:t> zjistíte, které služby jsou nastaveny na automatické spuštění při startu systému (povoleny) a které nikoliv (zakázány). Tento příkaz je užitečný pro auditování služeb.</a:t>
            </a:r>
            <a:endParaRPr lang="cs-CZ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 b="1">
                <a:ea typeface="+mn-lt"/>
                <a:cs typeface="+mn-lt"/>
              </a:rPr>
              <a:t>Dočasné vypnutí služby bez jejího zakázání při startu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Pomocí příkazu </a:t>
            </a:r>
            <a:r>
              <a:rPr lang="cs-CZ" u="sng" err="1">
                <a:latin typeface="Consolas"/>
              </a:rPr>
              <a:t>systemctl</a:t>
            </a:r>
            <a:r>
              <a:rPr lang="cs-CZ" u="sng">
                <a:latin typeface="Consolas"/>
              </a:rPr>
              <a:t> stop apache2</a:t>
            </a:r>
            <a:r>
              <a:rPr lang="cs-CZ">
                <a:ea typeface="+mn-lt"/>
                <a:cs typeface="+mn-lt"/>
              </a:rPr>
              <a:t> lze službu dočasně vypnout, aniž by byla zakázána při startu systému. To je užitečné, pokud chcete přechodně ukončit službu, ale očekáváte, že ji budete později potřebovat.</a:t>
            </a:r>
            <a:endParaRPr lang="cs-CZ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cs-CZ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5617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3FA70D-0AE2-581C-3911-C2AF8C929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609600"/>
            <a:ext cx="5147730" cy="1641987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Ukázka: Plánování úlohy pomocí </a:t>
            </a:r>
            <a:r>
              <a:rPr lang="cs-CZ" err="1">
                <a:ea typeface="+mj-lt"/>
                <a:cs typeface="+mj-lt"/>
              </a:rPr>
              <a:t>Cronu</a:t>
            </a:r>
            <a:endParaRPr lang="cs-CZ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CFBAC3-2DC8-8FAD-97A6-EC8C32441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251587"/>
            <a:ext cx="5147730" cy="3637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>
                <a:ea typeface="+mn-lt"/>
                <a:cs typeface="+mn-lt"/>
              </a:rPr>
              <a:t>Příklad úlohy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 Záloha složky </a:t>
            </a:r>
            <a:r>
              <a:rPr lang="cs-CZ">
                <a:latin typeface="Consolas"/>
              </a:rPr>
              <a:t>/</a:t>
            </a:r>
            <a:r>
              <a:rPr lang="cs-CZ" err="1">
                <a:latin typeface="Consolas"/>
              </a:rPr>
              <a:t>home</a:t>
            </a:r>
            <a:r>
              <a:rPr lang="cs-CZ">
                <a:latin typeface="Consolas"/>
              </a:rPr>
              <a:t>/user</a:t>
            </a:r>
            <a:r>
              <a:rPr lang="cs-CZ">
                <a:ea typeface="+mn-lt"/>
                <a:cs typeface="+mn-lt"/>
              </a:rPr>
              <a:t> každý den ve 22:00.</a:t>
            </a:r>
            <a:endParaRPr lang="cs-CZ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 b="1" err="1">
                <a:ea typeface="+mn-lt"/>
                <a:cs typeface="+mn-lt"/>
              </a:rPr>
              <a:t>Cron</a:t>
            </a:r>
            <a:r>
              <a:rPr lang="cs-CZ" b="1">
                <a:ea typeface="+mn-lt"/>
                <a:cs typeface="+mn-lt"/>
              </a:rPr>
              <a:t> zápis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 </a:t>
            </a:r>
            <a:r>
              <a:rPr lang="cs-CZ" u="sng">
                <a:latin typeface="Consolas"/>
              </a:rPr>
              <a:t>0 22 * * * /usr/bin/backup.sh</a:t>
            </a:r>
            <a:r>
              <a:rPr lang="cs-CZ">
                <a:ea typeface="+mn-lt"/>
                <a:cs typeface="+mn-lt"/>
              </a:rPr>
              <a:t> – Tento zápis způsobí, že každý den v 22:00 se spustí skript </a:t>
            </a:r>
            <a:r>
              <a:rPr lang="cs-CZ">
                <a:latin typeface="Consolas"/>
              </a:rPr>
              <a:t>backup.sh</a:t>
            </a:r>
            <a:r>
              <a:rPr lang="cs-CZ">
                <a:ea typeface="+mn-lt"/>
                <a:cs typeface="+mn-lt"/>
              </a:rPr>
              <a:t>, který provede zálohu složky.</a:t>
            </a:r>
            <a:endParaRPr lang="cs-CZ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 b="1">
                <a:ea typeface="+mn-lt"/>
                <a:cs typeface="+mn-lt"/>
              </a:rPr>
              <a:t>Kontrola a úprava úloh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Pomocí příkazu </a:t>
            </a:r>
            <a:r>
              <a:rPr lang="cs-CZ" u="sng" err="1">
                <a:latin typeface="Consolas"/>
              </a:rPr>
              <a:t>crontab</a:t>
            </a:r>
            <a:r>
              <a:rPr lang="cs-CZ" u="sng">
                <a:latin typeface="Consolas"/>
              </a:rPr>
              <a:t> -e</a:t>
            </a:r>
            <a:r>
              <a:rPr lang="cs-CZ">
                <a:ea typeface="+mn-lt"/>
                <a:cs typeface="+mn-lt"/>
              </a:rPr>
              <a:t> můžete přidat nebo upravit naplánované úlohy, zatímco </a:t>
            </a:r>
            <a:r>
              <a:rPr lang="cs-CZ" u="sng" err="1">
                <a:latin typeface="Consolas"/>
              </a:rPr>
              <a:t>crontab</a:t>
            </a:r>
            <a:r>
              <a:rPr lang="cs-CZ" u="sng">
                <a:latin typeface="Consolas"/>
              </a:rPr>
              <a:t> -l</a:t>
            </a:r>
            <a:r>
              <a:rPr lang="cs-CZ">
                <a:ea typeface="+mn-lt"/>
                <a:cs typeface="+mn-lt"/>
              </a:rPr>
              <a:t> zobrazí aktuální seznam.</a:t>
            </a:r>
            <a:endParaRPr lang="cs-CZ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cs-CZ">
              <a:ea typeface="Calibri"/>
              <a:cs typeface="Calibri"/>
            </a:endParaRPr>
          </a:p>
        </p:txBody>
      </p:sp>
      <p:pic>
        <p:nvPicPr>
          <p:cNvPr id="4" name="Obrázek 3" descr="Obsah obrázku text, elektronika, snímek obrazovky, displej&#10;&#10;Popis se vygeneroval automaticky.">
            <a:extLst>
              <a:ext uri="{FF2B5EF4-FFF2-40B4-BE49-F238E27FC236}">
                <a16:creationId xmlns:a16="http://schemas.microsoft.com/office/drawing/2014/main" id="{AD5BC8F2-E143-B9AD-73D6-704A9D7EC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30" y="1657424"/>
            <a:ext cx="5447070" cy="3213771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379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9C9DC2-AFFD-F272-9D7D-61DA67A09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Plánovač úloh v </a:t>
            </a:r>
            <a:r>
              <a:rPr lang="cs-CZ" err="1">
                <a:ea typeface="Calibri Light"/>
                <a:cs typeface="Calibri Light"/>
              </a:rPr>
              <a:t>linuxu</a:t>
            </a:r>
            <a:r>
              <a:rPr lang="cs-CZ">
                <a:ea typeface="Calibri Light"/>
                <a:cs typeface="Calibri Light"/>
              </a:rPr>
              <a:t> - </a:t>
            </a:r>
            <a:r>
              <a:rPr lang="cs-CZ" err="1">
                <a:ea typeface="Calibri Light"/>
                <a:cs typeface="Calibri Light"/>
              </a:rPr>
              <a:t>cron</a:t>
            </a:r>
            <a:endParaRPr lang="cs-CZ" err="1"/>
          </a:p>
        </p:txBody>
      </p:sp>
      <p:pic>
        <p:nvPicPr>
          <p:cNvPr id="4" name="Obrázek 3" descr="Obsah obrázku text, snímek obrazovky, Písmo, displej&#10;&#10;Popis se vygeneroval automaticky.">
            <a:extLst>
              <a:ext uri="{FF2B5EF4-FFF2-40B4-BE49-F238E27FC236}">
                <a16:creationId xmlns:a16="http://schemas.microsoft.com/office/drawing/2014/main" id="{08318A82-9275-7079-E083-16690DD5C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245" y="1406982"/>
            <a:ext cx="6095593" cy="3276381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6" name="Zástupný obsah 2">
            <a:extLst>
              <a:ext uri="{FF2B5EF4-FFF2-40B4-BE49-F238E27FC236}">
                <a16:creationId xmlns:a16="http://schemas.microsoft.com/office/drawing/2014/main" id="{1186B957-F7F1-5B0C-9D81-5ABC24850D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806044"/>
              </p:ext>
            </p:extLst>
          </p:nvPr>
        </p:nvGraphicFramePr>
        <p:xfrm>
          <a:off x="-1576" y="2198790"/>
          <a:ext cx="5819210" cy="4587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54669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E41E22-7107-7B92-270D-BE63DA1DE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>
                <a:cs typeface="Calibri Light"/>
              </a:rPr>
              <a:t>Cron</a:t>
            </a:r>
            <a:r>
              <a:rPr lang="cs-CZ">
                <a:cs typeface="Calibri Light"/>
              </a:rPr>
              <a:t> - uživatel vs. Administrátor (</a:t>
            </a:r>
            <a:r>
              <a:rPr lang="cs-CZ" err="1">
                <a:cs typeface="Calibri Light"/>
              </a:rPr>
              <a:t>root</a:t>
            </a:r>
            <a:r>
              <a:rPr lang="cs-CZ">
                <a:cs typeface="Calibri Light"/>
              </a:rPr>
              <a:t>)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B7B147-CEFB-E9E2-F7E7-65C114E91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b="1" u="sng">
                <a:ea typeface="+mn-lt"/>
                <a:cs typeface="+mn-lt"/>
              </a:rPr>
              <a:t>Uživatelský </a:t>
            </a:r>
            <a:r>
              <a:rPr lang="cs-CZ" b="1" u="sng" err="1">
                <a:ea typeface="+mn-lt"/>
                <a:cs typeface="+mn-lt"/>
              </a:rPr>
              <a:t>cron</a:t>
            </a:r>
            <a:r>
              <a:rPr lang="cs-CZ" u="sng">
                <a:ea typeface="+mn-lt"/>
                <a:cs typeface="+mn-lt"/>
              </a:rPr>
              <a:t>:</a:t>
            </a:r>
            <a:r>
              <a:rPr lang="cs-CZ">
                <a:ea typeface="+mn-lt"/>
                <a:cs typeface="+mn-lt"/>
              </a:rPr>
              <a:t> 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cs-CZ">
                <a:ea typeface="+mn-lt"/>
                <a:cs typeface="+mn-lt"/>
              </a:rPr>
              <a:t>Každý uživatel má vlastní </a:t>
            </a:r>
            <a:r>
              <a:rPr lang="cs-CZ" err="1">
                <a:ea typeface="+mn-lt"/>
                <a:cs typeface="+mn-lt"/>
              </a:rPr>
              <a:t>crontab</a:t>
            </a:r>
            <a:r>
              <a:rPr lang="cs-CZ">
                <a:ea typeface="+mn-lt"/>
                <a:cs typeface="+mn-lt"/>
              </a:rPr>
              <a:t>, kde může naplánovat úlohy, jako zálohování nebo skripty, které se spustí automaticky. Tyto úlohy se provádějí v uživatelském kontextu </a:t>
            </a:r>
            <a:r>
              <a:rPr lang="cs-CZ">
                <a:latin typeface="Constantia"/>
                <a:ea typeface="+mn-lt"/>
                <a:cs typeface="+mn-lt"/>
              </a:rPr>
              <a:t>(bez administrátorských práv)</a:t>
            </a:r>
            <a:r>
              <a:rPr lang="cs-CZ">
                <a:ea typeface="+mn-lt"/>
                <a:cs typeface="+mn-lt"/>
              </a:rPr>
              <a:t>, což znamená, že mají omezený přístup k systémovým souborům a procesům.</a:t>
            </a:r>
            <a:endParaRPr lang="cs-CZ"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cs-CZ" b="1" u="sng">
                <a:ea typeface="+mn-lt"/>
                <a:cs typeface="+mn-lt"/>
              </a:rPr>
              <a:t>Administrátorský </a:t>
            </a:r>
            <a:r>
              <a:rPr lang="cs-CZ" b="1" u="sng" err="1">
                <a:ea typeface="+mn-lt"/>
                <a:cs typeface="+mn-lt"/>
              </a:rPr>
              <a:t>cron</a:t>
            </a:r>
            <a:r>
              <a:rPr lang="cs-CZ" b="1" u="sng">
                <a:ea typeface="+mn-lt"/>
                <a:cs typeface="+mn-lt"/>
              </a:rPr>
              <a:t> (</a:t>
            </a:r>
            <a:r>
              <a:rPr lang="cs-CZ" b="1" u="sng" err="1">
                <a:ea typeface="+mn-lt"/>
                <a:cs typeface="+mn-lt"/>
              </a:rPr>
              <a:t>root</a:t>
            </a:r>
            <a:r>
              <a:rPr lang="cs-CZ" b="1" u="sng">
                <a:ea typeface="+mn-lt"/>
                <a:cs typeface="+mn-lt"/>
              </a:rPr>
              <a:t>)</a:t>
            </a:r>
            <a:r>
              <a:rPr lang="cs-CZ" u="sng">
                <a:ea typeface="+mn-lt"/>
                <a:cs typeface="+mn-lt"/>
              </a:rPr>
              <a:t>:</a:t>
            </a:r>
            <a:r>
              <a:rPr lang="cs-CZ">
                <a:ea typeface="+mn-lt"/>
                <a:cs typeface="+mn-lt"/>
              </a:rPr>
              <a:t> 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cs-CZ">
                <a:ea typeface="+mn-lt"/>
                <a:cs typeface="+mn-lt"/>
              </a:rPr>
              <a:t>Administrátor má přístup k </a:t>
            </a:r>
            <a:r>
              <a:rPr lang="cs-CZ" u="sng">
                <a:latin typeface="Consolas"/>
              </a:rPr>
              <a:t>/</a:t>
            </a:r>
            <a:r>
              <a:rPr lang="cs-CZ" u="sng" err="1">
                <a:latin typeface="Consolas"/>
              </a:rPr>
              <a:t>etc</a:t>
            </a:r>
            <a:r>
              <a:rPr lang="cs-CZ" u="sng">
                <a:latin typeface="Consolas"/>
              </a:rPr>
              <a:t>/</a:t>
            </a:r>
            <a:r>
              <a:rPr lang="cs-CZ" u="sng" err="1">
                <a:latin typeface="Consolas"/>
              </a:rPr>
              <a:t>crontab</a:t>
            </a:r>
            <a:r>
              <a:rPr lang="cs-CZ">
                <a:ea typeface="+mn-lt"/>
                <a:cs typeface="+mn-lt"/>
              </a:rPr>
              <a:t>, kde může naplánovat úlohy, které se týkají celého systému. Úlohy naplánované v tomto souboru běží s plnými právy, což umožňuje provádět kritické systémové úkoly jako aktualizace systému, automatické zálohy celého systému nebo čištění logů.</a:t>
            </a:r>
            <a:endParaRPr lang="cs-CZ">
              <a:cs typeface="Calibri"/>
            </a:endParaRPr>
          </a:p>
          <a:p>
            <a:pPr>
              <a:buClr>
                <a:srgbClr val="FFFFFF"/>
              </a:buClr>
            </a:pPr>
            <a:endParaRPr lang="cs-CZ">
              <a:cs typeface="Calibri"/>
            </a:endParaRPr>
          </a:p>
          <a:p>
            <a:pPr>
              <a:buClr>
                <a:srgbClr val="FFFFFF"/>
              </a:buClr>
            </a:pPr>
            <a:endParaRPr lang="cs-CZ"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cs-CZ" b="1">
                <a:ea typeface="+mn-lt"/>
                <a:cs typeface="+mn-lt"/>
              </a:rPr>
              <a:t>Příklad struktury </a:t>
            </a:r>
            <a:r>
              <a:rPr lang="cs-CZ" b="1" err="1">
                <a:ea typeface="+mn-lt"/>
                <a:cs typeface="+mn-lt"/>
              </a:rPr>
              <a:t>crontab</a:t>
            </a:r>
            <a:r>
              <a:rPr lang="cs-CZ">
                <a:ea typeface="+mn-lt"/>
                <a:cs typeface="+mn-lt"/>
              </a:rPr>
              <a:t>:</a:t>
            </a:r>
            <a:endParaRPr lang="cs-CZ"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>
                <a:latin typeface="Georgia Pro"/>
                <a:ea typeface="+mn-lt"/>
                <a:cs typeface="+mn-lt"/>
              </a:rPr>
              <a:t>Uživatelská úloha:</a:t>
            </a:r>
            <a:r>
              <a:rPr lang="cs-CZ">
                <a:ea typeface="+mn-lt"/>
                <a:cs typeface="+mn-lt"/>
              </a:rPr>
              <a:t> </a:t>
            </a:r>
            <a:r>
              <a:rPr lang="cs-CZ" u="sng">
                <a:latin typeface="Consolas"/>
                <a:cs typeface="Calibri"/>
              </a:rPr>
              <a:t>0 22 * * * /home/user/backup.sh</a:t>
            </a:r>
            <a:r>
              <a:rPr lang="cs-CZ">
                <a:ea typeface="+mn-lt"/>
                <a:cs typeface="+mn-lt"/>
              </a:rPr>
              <a:t> (provádí se každý den ve 22:00).</a:t>
            </a:r>
            <a:endParaRPr lang="cs-CZ"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>
                <a:latin typeface="Georgia Pro"/>
                <a:ea typeface="+mn-lt"/>
                <a:cs typeface="+mn-lt"/>
              </a:rPr>
              <a:t>Administrátorská úloha:</a:t>
            </a:r>
            <a:r>
              <a:rPr lang="cs-CZ">
                <a:ea typeface="+mn-lt"/>
                <a:cs typeface="+mn-lt"/>
              </a:rPr>
              <a:t> </a:t>
            </a:r>
            <a:r>
              <a:rPr lang="cs-CZ" u="sng">
                <a:latin typeface="Consolas"/>
                <a:cs typeface="Calibri"/>
              </a:rPr>
              <a:t>0 2 * * * /</a:t>
            </a:r>
            <a:r>
              <a:rPr lang="cs-CZ" u="sng" err="1">
                <a:latin typeface="Consolas"/>
                <a:cs typeface="Calibri"/>
              </a:rPr>
              <a:t>usr</a:t>
            </a:r>
            <a:r>
              <a:rPr lang="cs-CZ" u="sng">
                <a:latin typeface="Consolas"/>
                <a:cs typeface="Calibri"/>
              </a:rPr>
              <a:t>/</a:t>
            </a:r>
            <a:r>
              <a:rPr lang="cs-CZ" u="sng" err="1">
                <a:latin typeface="Consolas"/>
                <a:cs typeface="Calibri"/>
              </a:rPr>
              <a:t>sbin</a:t>
            </a:r>
            <a:r>
              <a:rPr lang="cs-CZ" u="sng">
                <a:latin typeface="Consolas"/>
                <a:cs typeface="Calibri"/>
              </a:rPr>
              <a:t>/</a:t>
            </a:r>
            <a:r>
              <a:rPr lang="cs-CZ" u="sng" err="1">
                <a:latin typeface="Consolas"/>
                <a:cs typeface="Calibri"/>
              </a:rPr>
              <a:t>logrotate</a:t>
            </a:r>
            <a:r>
              <a:rPr lang="cs-CZ">
                <a:ea typeface="+mn-lt"/>
                <a:cs typeface="+mn-lt"/>
              </a:rPr>
              <a:t> (provádí se každý den ve 2:00).</a:t>
            </a:r>
            <a:endParaRPr lang="cs-CZ">
              <a:cs typeface="Calibri"/>
            </a:endParaRPr>
          </a:p>
          <a:p>
            <a:pPr>
              <a:buClr>
                <a:srgbClr val="FFFFFF"/>
              </a:buClr>
            </a:pPr>
            <a:endParaRPr lang="cs-CZ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4839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78D1DB9-01B8-9A0E-3346-EDA89162A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cs-CZ">
                <a:ea typeface="Calibri Light"/>
                <a:cs typeface="Calibri Light"/>
              </a:rPr>
              <a:t>Příklady plánovaných úloh pomocí </a:t>
            </a:r>
            <a:r>
              <a:rPr lang="cs-CZ" err="1">
                <a:ea typeface="Calibri Light"/>
                <a:cs typeface="Calibri Light"/>
              </a:rPr>
              <a:t>cronu</a:t>
            </a:r>
            <a:endParaRPr lang="cs-CZ" err="1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8536B3-9DB8-24F6-BA25-84C7431BD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cs-CZ" sz="1100" b="1">
                <a:ea typeface="+mn-lt"/>
                <a:cs typeface="+mn-lt"/>
              </a:rPr>
              <a:t>Pravidelné zálohy</a:t>
            </a:r>
            <a:endParaRPr lang="cs-CZ" sz="110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/>
              <a:buChar char="§"/>
            </a:pPr>
            <a:r>
              <a:rPr lang="cs-CZ" sz="1100">
                <a:ea typeface="+mn-lt"/>
                <a:cs typeface="+mn-lt"/>
              </a:rPr>
              <a:t>Nastavení pravidelné zálohy může být klíčové pro ochranu dat. Například úloha </a:t>
            </a:r>
            <a:endParaRPr lang="cs-CZ" sz="11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100">
                <a:latin typeface="Consolas"/>
              </a:rPr>
              <a:t>  </a:t>
            </a:r>
            <a:r>
              <a:rPr lang="cs-CZ" sz="1100" u="sng">
                <a:latin typeface="Consolas"/>
              </a:rPr>
              <a:t>0 22 * * * /usr/local/bin/backup.sh</a:t>
            </a:r>
            <a:r>
              <a:rPr lang="cs-CZ" sz="1100">
                <a:ea typeface="+mn-lt"/>
                <a:cs typeface="+mn-lt"/>
              </a:rPr>
              <a:t> vytvoří zálohu každou noc ve 22:00. Může kopírovat důležité        soubory do externího úložiště nebo cloudové služby.</a:t>
            </a:r>
            <a:endParaRPr lang="cs-CZ" sz="11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/>
              <a:buChar char="§"/>
            </a:pPr>
            <a:endParaRPr lang="cs-CZ" sz="110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100" b="1">
                <a:ea typeface="+mn-lt"/>
                <a:cs typeface="+mn-lt"/>
              </a:rPr>
              <a:t>Automatické aktualizace</a:t>
            </a:r>
            <a:endParaRPr lang="cs-CZ" sz="110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/>
              <a:buChar char="§"/>
            </a:pPr>
            <a:r>
              <a:rPr lang="cs-CZ" sz="1100" u="sng">
                <a:latin typeface="Consolas"/>
              </a:rPr>
              <a:t>0 3 * * 1 </a:t>
            </a:r>
            <a:r>
              <a:rPr lang="cs-CZ" sz="1100" u="sng" err="1">
                <a:latin typeface="Consolas"/>
              </a:rPr>
              <a:t>apt-get</a:t>
            </a:r>
            <a:r>
              <a:rPr lang="cs-CZ" sz="1100" u="sng">
                <a:latin typeface="Consolas"/>
              </a:rPr>
              <a:t> update &amp;&amp; </a:t>
            </a:r>
            <a:r>
              <a:rPr lang="cs-CZ" sz="1100" u="sng" err="1">
                <a:latin typeface="Consolas"/>
              </a:rPr>
              <a:t>apt-get</a:t>
            </a:r>
            <a:r>
              <a:rPr lang="cs-CZ" sz="1100" u="sng">
                <a:latin typeface="Consolas"/>
              </a:rPr>
              <a:t> upgrade</a:t>
            </a:r>
            <a:r>
              <a:rPr lang="cs-CZ" sz="1100">
                <a:ea typeface="+mn-lt"/>
                <a:cs typeface="+mn-lt"/>
              </a:rPr>
              <a:t> aktualizuje systém každé pondělí ve 3:00 ráno. Tím se zajišťuje, že systémové balíčky jsou vždy aktuální, aniž byste museli ručně kontrolovat aktualizace.</a:t>
            </a:r>
            <a:endParaRPr lang="cs-CZ" sz="11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/>
              <a:buChar char="§"/>
            </a:pPr>
            <a:endParaRPr lang="cs-CZ" sz="110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100" b="1">
                <a:ea typeface="+mn-lt"/>
                <a:cs typeface="+mn-lt"/>
              </a:rPr>
              <a:t>Čištění logů</a:t>
            </a:r>
            <a:endParaRPr lang="cs-CZ" sz="110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/>
              <a:buChar char="§"/>
            </a:pPr>
            <a:r>
              <a:rPr lang="cs-CZ" sz="1100">
                <a:ea typeface="+mn-lt"/>
                <a:cs typeface="+mn-lt"/>
              </a:rPr>
              <a:t>Systémové logy mohou zabírat velké množství diskového prostoru. Pomocí příkazu v </a:t>
            </a:r>
            <a:r>
              <a:rPr lang="cs-CZ" sz="1100" err="1">
                <a:ea typeface="+mn-lt"/>
                <a:cs typeface="+mn-lt"/>
              </a:rPr>
              <a:t>crontabu</a:t>
            </a:r>
            <a:r>
              <a:rPr lang="cs-CZ" sz="1100">
                <a:ea typeface="+mn-lt"/>
                <a:cs typeface="+mn-lt"/>
              </a:rPr>
              <a:t>, například </a:t>
            </a:r>
            <a:endParaRPr lang="cs-CZ" sz="11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100">
                <a:latin typeface="Consolas"/>
              </a:rPr>
              <a:t>  </a:t>
            </a:r>
            <a:r>
              <a:rPr lang="cs-CZ" sz="1100" u="sng">
                <a:latin typeface="Consolas"/>
              </a:rPr>
              <a:t>0 2 * * 7 /</a:t>
            </a:r>
            <a:r>
              <a:rPr lang="cs-CZ" sz="1100" u="sng" err="1">
                <a:latin typeface="Consolas"/>
              </a:rPr>
              <a:t>usr</a:t>
            </a:r>
            <a:r>
              <a:rPr lang="cs-CZ" sz="1100" u="sng">
                <a:latin typeface="Consolas"/>
              </a:rPr>
              <a:t>/bin/</a:t>
            </a:r>
            <a:r>
              <a:rPr lang="cs-CZ" sz="1100" u="sng" err="1">
                <a:latin typeface="Consolas"/>
              </a:rPr>
              <a:t>logrotate</a:t>
            </a:r>
            <a:r>
              <a:rPr lang="cs-CZ" sz="1100">
                <a:ea typeface="+mn-lt"/>
                <a:cs typeface="+mn-lt"/>
              </a:rPr>
              <a:t>, můžete jednou týdně automaticky čistit staré logy, což zajistí dostatek    místa na disku.</a:t>
            </a:r>
            <a:endParaRPr lang="cs-CZ" sz="11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/>
              <a:buChar char="§"/>
            </a:pPr>
            <a:endParaRPr lang="cs-CZ" sz="110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100" b="1">
                <a:ea typeface="+mn-lt"/>
                <a:cs typeface="+mn-lt"/>
              </a:rPr>
              <a:t>Odesílání e-mailových upozornění</a:t>
            </a:r>
            <a:endParaRPr lang="cs-CZ" sz="1100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/>
              <a:buChar char="§"/>
            </a:pPr>
            <a:r>
              <a:rPr lang="cs-CZ" sz="1100" err="1">
                <a:ea typeface="+mn-lt"/>
                <a:cs typeface="+mn-lt"/>
              </a:rPr>
              <a:t>Cron</a:t>
            </a:r>
            <a:r>
              <a:rPr lang="cs-CZ" sz="1100">
                <a:ea typeface="+mn-lt"/>
                <a:cs typeface="+mn-lt"/>
              </a:rPr>
              <a:t> může být také použit pro pravidelné odesílání e-mailů, například o stavu systému nebo dokončených úlohách. To může být užitečné při správě serverů, kde chcete být informováni o chybách nebo úspěšných úlohách.</a:t>
            </a:r>
            <a:endParaRPr lang="cs-CZ" sz="11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/>
              <a:buChar char="§"/>
            </a:pPr>
            <a:endParaRPr lang="cs-CZ" sz="1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406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E0CF63-0EB5-B29B-080B-7BFDE3D22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cs-CZ">
                <a:cs typeface="Calibri Light"/>
              </a:rPr>
              <a:t> </a:t>
            </a:r>
            <a:r>
              <a:rPr lang="cs-CZ" err="1">
                <a:cs typeface="Calibri Light"/>
              </a:rPr>
              <a:t>windows</a:t>
            </a:r>
            <a:endParaRPr lang="cs-CZ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EEB445-DD7E-9685-A3DB-E7F4C791F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cs-CZ" sz="1000" b="1">
                <a:ea typeface="+mn-lt"/>
                <a:cs typeface="+mn-lt"/>
              </a:rPr>
              <a:t>Plánování úloh ve Windows</a:t>
            </a:r>
            <a:r>
              <a:rPr lang="cs-CZ" sz="1000">
                <a:ea typeface="+mn-lt"/>
                <a:cs typeface="+mn-lt"/>
              </a:rPr>
              <a:t>:</a:t>
            </a:r>
            <a:endParaRPr lang="cs-CZ" sz="100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000">
                <a:ea typeface="+mn-lt"/>
                <a:cs typeface="+mn-lt"/>
              </a:rPr>
              <a:t>Ve Windows se používá</a:t>
            </a:r>
            <a:r>
              <a:rPr lang="cs-CZ" sz="1000" u="sng">
                <a:ea typeface="+mn-lt"/>
                <a:cs typeface="+mn-lt"/>
              </a:rPr>
              <a:t> </a:t>
            </a:r>
            <a:r>
              <a:rPr lang="cs-CZ" sz="1000" b="1" u="sng">
                <a:ea typeface="+mn-lt"/>
                <a:cs typeface="+mn-lt"/>
              </a:rPr>
              <a:t>Plánovač úloh (</a:t>
            </a:r>
            <a:r>
              <a:rPr lang="cs-CZ" sz="1000" b="1" u="sng" err="1">
                <a:ea typeface="+mn-lt"/>
                <a:cs typeface="+mn-lt"/>
              </a:rPr>
              <a:t>Task</a:t>
            </a:r>
            <a:r>
              <a:rPr lang="cs-CZ" sz="1000" b="1" u="sng">
                <a:ea typeface="+mn-lt"/>
                <a:cs typeface="+mn-lt"/>
              </a:rPr>
              <a:t> Scheduler)</a:t>
            </a:r>
            <a:r>
              <a:rPr lang="cs-CZ" sz="1000">
                <a:ea typeface="+mn-lt"/>
                <a:cs typeface="+mn-lt"/>
              </a:rPr>
              <a:t>, který nabízí grafické rozhraní pro nastavení automatizovaných úloh. Tyto úlohy lze naplánovat na základě času, událostí (např. po spuštění systému), nebo podmínkami (např. při nečinnosti systému).</a:t>
            </a:r>
            <a:endParaRPr lang="cs-CZ" sz="100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000">
                <a:ea typeface="+mn-lt"/>
                <a:cs typeface="+mn-lt"/>
              </a:rPr>
              <a:t>Stejně jako </a:t>
            </a:r>
            <a:r>
              <a:rPr lang="cs-CZ" sz="1000" err="1">
                <a:ea typeface="+mn-lt"/>
                <a:cs typeface="+mn-lt"/>
              </a:rPr>
              <a:t>cron</a:t>
            </a:r>
            <a:r>
              <a:rPr lang="cs-CZ" sz="1000">
                <a:ea typeface="+mn-lt"/>
                <a:cs typeface="+mn-lt"/>
              </a:rPr>
              <a:t>, </a:t>
            </a:r>
            <a:r>
              <a:rPr lang="cs-CZ" sz="1000" err="1">
                <a:ea typeface="+mn-lt"/>
                <a:cs typeface="+mn-lt"/>
              </a:rPr>
              <a:t>Task</a:t>
            </a:r>
            <a:r>
              <a:rPr lang="cs-CZ" sz="1000">
                <a:ea typeface="+mn-lt"/>
                <a:cs typeface="+mn-lt"/>
              </a:rPr>
              <a:t> Scheduler umožňuje administrátorům i běžným uživatelům vytvářet úlohy. Administrátoři mohou spravovat systémové úlohy, zatímco běžní uživatelé mohou vytvářet úlohy pro své aplikace.</a:t>
            </a:r>
            <a:endParaRPr lang="cs-CZ" sz="10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000" b="1">
                <a:ea typeface="+mn-lt"/>
                <a:cs typeface="+mn-lt"/>
              </a:rPr>
              <a:t>Správa služeb ve Windows</a:t>
            </a:r>
            <a:r>
              <a:rPr lang="cs-CZ" sz="1000">
                <a:ea typeface="+mn-lt"/>
                <a:cs typeface="+mn-lt"/>
              </a:rPr>
              <a:t>:</a:t>
            </a:r>
            <a:endParaRPr lang="cs-CZ" sz="1000"/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000" b="1">
                <a:ea typeface="+mn-lt"/>
                <a:cs typeface="+mn-lt"/>
              </a:rPr>
              <a:t>Služby ve Windows</a:t>
            </a:r>
            <a:r>
              <a:rPr lang="cs-CZ" sz="1000">
                <a:ea typeface="+mn-lt"/>
                <a:cs typeface="+mn-lt"/>
              </a:rPr>
              <a:t> jsou spravovány přes nástroj </a:t>
            </a:r>
            <a:r>
              <a:rPr lang="cs-CZ" sz="1000" b="1" err="1">
                <a:ea typeface="+mn-lt"/>
                <a:cs typeface="+mn-lt"/>
              </a:rPr>
              <a:t>Services.msc</a:t>
            </a:r>
            <a:r>
              <a:rPr lang="cs-CZ" sz="1000">
                <a:ea typeface="+mn-lt"/>
                <a:cs typeface="+mn-lt"/>
              </a:rPr>
              <a:t>, kde je možné spouštět, zastavovat, povolovat nebo zakazovat služby podobně jako v Linuxu s </a:t>
            </a:r>
            <a:r>
              <a:rPr lang="cs-CZ" sz="1000" err="1">
                <a:latin typeface="Consolas"/>
              </a:rPr>
              <a:t>systemctl</a:t>
            </a:r>
            <a:r>
              <a:rPr lang="cs-CZ" sz="1000">
                <a:ea typeface="+mn-lt"/>
                <a:cs typeface="+mn-lt"/>
              </a:rPr>
              <a:t>.</a:t>
            </a:r>
            <a:endParaRPr lang="cs-CZ" sz="100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000">
                <a:ea typeface="+mn-lt"/>
                <a:cs typeface="+mn-lt"/>
              </a:rPr>
              <a:t>Administrátoři mohou používat i příkazový řádek s příkazy jako </a:t>
            </a:r>
            <a:endParaRPr lang="cs-CZ" sz="10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cs-CZ" sz="1000" err="1">
                <a:latin typeface="Consolas"/>
              </a:rPr>
              <a:t>sc</a:t>
            </a:r>
            <a:r>
              <a:rPr lang="cs-CZ" sz="1000">
                <a:latin typeface="Consolas"/>
              </a:rPr>
              <a:t> start</a:t>
            </a:r>
            <a:r>
              <a:rPr lang="cs-CZ" sz="1000">
                <a:ea typeface="+mn-lt"/>
                <a:cs typeface="+mn-lt"/>
              </a:rPr>
              <a:t> nebo </a:t>
            </a:r>
            <a:r>
              <a:rPr lang="cs-CZ" sz="1000">
                <a:latin typeface="Consolas"/>
              </a:rPr>
              <a:t>net start</a:t>
            </a:r>
            <a:r>
              <a:rPr lang="cs-CZ" sz="1000">
                <a:ea typeface="+mn-lt"/>
                <a:cs typeface="+mn-lt"/>
              </a:rPr>
              <a:t>, které spustí nebo zastaví služby.</a:t>
            </a:r>
            <a:endParaRPr lang="cs-CZ" sz="10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000">
                <a:ea typeface="+mn-lt"/>
                <a:cs typeface="+mn-lt"/>
              </a:rPr>
              <a:t>Příklady:</a:t>
            </a:r>
            <a:endParaRPr lang="cs-CZ" sz="1000"/>
          </a:p>
          <a:p>
            <a:pPr marL="457200" lvl="1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000">
                <a:ea typeface="+mn-lt"/>
                <a:cs typeface="+mn-lt"/>
              </a:rPr>
              <a:t>Spuštění služby: </a:t>
            </a:r>
            <a:r>
              <a:rPr lang="cs-CZ" sz="1000" u="sng" err="1">
                <a:latin typeface="Consolas"/>
              </a:rPr>
              <a:t>sc</a:t>
            </a:r>
            <a:r>
              <a:rPr lang="cs-CZ" sz="1000" u="sng">
                <a:latin typeface="Consolas"/>
              </a:rPr>
              <a:t> start </a:t>
            </a:r>
            <a:r>
              <a:rPr lang="cs-CZ" sz="1000" u="sng" err="1">
                <a:latin typeface="Consolas"/>
              </a:rPr>
              <a:t>název_služby</a:t>
            </a:r>
            <a:r>
              <a:rPr lang="cs-CZ" sz="1000">
                <a:ea typeface="+mn-lt"/>
                <a:cs typeface="+mn-lt"/>
              </a:rPr>
              <a:t>.</a:t>
            </a:r>
            <a:endParaRPr lang="cs-CZ" sz="1000">
              <a:ea typeface="Calibri" panose="020F0502020204030204"/>
              <a:cs typeface="Calibri" panose="020F0502020204030204"/>
            </a:endParaRPr>
          </a:p>
          <a:p>
            <a:pPr marL="457200" lvl="1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cs-CZ" sz="1000">
                <a:ea typeface="+mn-lt"/>
                <a:cs typeface="+mn-lt"/>
              </a:rPr>
              <a:t>Kontrola stavu služby: </a:t>
            </a:r>
            <a:r>
              <a:rPr lang="cs-CZ" sz="1000" u="sng" err="1">
                <a:latin typeface="Consolas"/>
              </a:rPr>
              <a:t>sc</a:t>
            </a:r>
            <a:r>
              <a:rPr lang="cs-CZ" sz="1000" u="sng">
                <a:latin typeface="Consolas"/>
              </a:rPr>
              <a:t> </a:t>
            </a:r>
            <a:r>
              <a:rPr lang="cs-CZ" sz="1000" u="sng" err="1">
                <a:latin typeface="Consolas"/>
              </a:rPr>
              <a:t>query</a:t>
            </a:r>
            <a:r>
              <a:rPr lang="cs-CZ" sz="1000" u="sng">
                <a:latin typeface="Consolas"/>
              </a:rPr>
              <a:t> </a:t>
            </a:r>
            <a:r>
              <a:rPr lang="cs-CZ" sz="1000" u="sng" err="1">
                <a:latin typeface="Consolas"/>
              </a:rPr>
              <a:t>název_služby</a:t>
            </a:r>
            <a:r>
              <a:rPr lang="cs-CZ" sz="1000">
                <a:ea typeface="+mn-lt"/>
                <a:cs typeface="+mn-lt"/>
              </a:rPr>
              <a:t>.</a:t>
            </a:r>
            <a:endParaRPr lang="cs-CZ" sz="10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10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Obrázek 3" descr="Obsah obrázku text, snímek obrazovky, software, číslo&#10;&#10;Popis se vygeneroval automaticky.">
            <a:extLst>
              <a:ext uri="{FF2B5EF4-FFF2-40B4-BE49-F238E27FC236}">
                <a16:creationId xmlns:a16="http://schemas.microsoft.com/office/drawing/2014/main" id="{2EE63048-2151-C43B-72C3-03AEB67A4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1377532"/>
            <a:ext cx="6095593" cy="394070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4754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997A87-2D22-B5B9-373B-A74D7814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630" y="1030288"/>
            <a:ext cx="6131596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3300">
                <a:ea typeface="+mj-lt"/>
                <a:cs typeface="+mj-lt"/>
              </a:rPr>
              <a:t>Podobnosti a rozdíly mezi Linuxem a Windows</a:t>
            </a:r>
            <a:endParaRPr lang="cs-CZ" sz="3300"/>
          </a:p>
        </p:txBody>
      </p:sp>
      <p:pic>
        <p:nvPicPr>
          <p:cNvPr id="5" name="Obrázek 4" descr="Obsah obrázku text, snímek obrazovky, počítač, software&#10;&#10;Popis se vygeneroval automaticky.">
            <a:extLst>
              <a:ext uri="{FF2B5EF4-FFF2-40B4-BE49-F238E27FC236}">
                <a16:creationId xmlns:a16="http://schemas.microsoft.com/office/drawing/2014/main" id="{3C46E15E-D5F0-B34D-F50F-2817C674D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48" y="1106483"/>
            <a:ext cx="3445714" cy="2162185"/>
          </a:xfrm>
          <a:prstGeom prst="roundRect">
            <a:avLst>
              <a:gd name="adj" fmla="val 7306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57A21A-A215-E587-F938-CE4730511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5630" y="2142067"/>
            <a:ext cx="6131596" cy="3649133"/>
          </a:xfrm>
        </p:spPr>
        <p:txBody>
          <a:bodyPr>
            <a:normAutofit/>
          </a:bodyPr>
          <a:lstStyle/>
          <a:p>
            <a:r>
              <a:rPr lang="cs-CZ" b="1" err="1">
                <a:ea typeface="+mn-lt"/>
                <a:cs typeface="+mn-lt"/>
              </a:rPr>
              <a:t>Cron</a:t>
            </a:r>
            <a:r>
              <a:rPr lang="cs-CZ" b="1">
                <a:ea typeface="+mn-lt"/>
                <a:cs typeface="+mn-lt"/>
              </a:rPr>
              <a:t> vs. </a:t>
            </a:r>
            <a:r>
              <a:rPr lang="cs-CZ" b="1" err="1">
                <a:ea typeface="+mn-lt"/>
                <a:cs typeface="+mn-lt"/>
              </a:rPr>
              <a:t>Task</a:t>
            </a:r>
            <a:r>
              <a:rPr lang="cs-CZ" b="1">
                <a:ea typeface="+mn-lt"/>
                <a:cs typeface="+mn-lt"/>
              </a:rPr>
              <a:t> Scheduler</a:t>
            </a:r>
            <a:r>
              <a:rPr lang="cs-CZ">
                <a:ea typeface="+mn-lt"/>
                <a:cs typeface="+mn-lt"/>
              </a:rPr>
              <a:t>: 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cs-CZ">
                <a:ea typeface="+mn-lt"/>
                <a:cs typeface="+mn-lt"/>
              </a:rPr>
              <a:t>Obě platformy používají nástroje k automatizaci úloh. Zatímco Linux využívá textový </a:t>
            </a:r>
            <a:r>
              <a:rPr lang="cs-CZ" err="1">
                <a:ea typeface="+mn-lt"/>
                <a:cs typeface="+mn-lt"/>
              </a:rPr>
              <a:t>cron</a:t>
            </a:r>
            <a:r>
              <a:rPr lang="cs-CZ">
                <a:ea typeface="+mn-lt"/>
                <a:cs typeface="+mn-lt"/>
              </a:rPr>
              <a:t> a podporuje jak uživatelské, tak administrátorské úlohy, Windows </a:t>
            </a:r>
            <a:r>
              <a:rPr lang="cs-CZ" err="1">
                <a:ea typeface="+mn-lt"/>
                <a:cs typeface="+mn-lt"/>
              </a:rPr>
              <a:t>Task</a:t>
            </a:r>
            <a:r>
              <a:rPr lang="cs-CZ">
                <a:ea typeface="+mn-lt"/>
                <a:cs typeface="+mn-lt"/>
              </a:rPr>
              <a:t> Scheduler má více grafické rozhraní a širší možnosti založené na událostech.</a:t>
            </a:r>
            <a:endParaRPr lang="cs-CZ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cs-CZ" b="1" err="1">
                <a:ea typeface="+mn-lt"/>
                <a:cs typeface="+mn-lt"/>
              </a:rPr>
              <a:t>Systemd</a:t>
            </a:r>
            <a:r>
              <a:rPr lang="cs-CZ" b="1">
                <a:ea typeface="+mn-lt"/>
                <a:cs typeface="+mn-lt"/>
              </a:rPr>
              <a:t> vs. </a:t>
            </a:r>
            <a:r>
              <a:rPr lang="cs-CZ" b="1" err="1">
                <a:ea typeface="+mn-lt"/>
                <a:cs typeface="+mn-lt"/>
              </a:rPr>
              <a:t>Services.msc</a:t>
            </a:r>
            <a:r>
              <a:rPr lang="cs-CZ">
                <a:ea typeface="+mn-lt"/>
                <a:cs typeface="+mn-lt"/>
              </a:rPr>
              <a:t>: 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cs-CZ">
                <a:ea typeface="+mn-lt"/>
                <a:cs typeface="+mn-lt"/>
              </a:rPr>
              <a:t>Oba systémy mají služby, které běží na pozadí. V Linuxu používáme </a:t>
            </a:r>
            <a:r>
              <a:rPr lang="cs-CZ" err="1">
                <a:ea typeface="+mn-lt"/>
                <a:cs typeface="+mn-lt"/>
              </a:rPr>
              <a:t>systemctl</a:t>
            </a:r>
            <a:r>
              <a:rPr lang="cs-CZ">
                <a:ea typeface="+mn-lt"/>
                <a:cs typeface="+mn-lt"/>
              </a:rPr>
              <a:t> pro správu služeb, zatímco ve Windows slouží nástroj </a:t>
            </a:r>
            <a:r>
              <a:rPr lang="cs-CZ" b="1" err="1">
                <a:ea typeface="+mn-lt"/>
                <a:cs typeface="+mn-lt"/>
              </a:rPr>
              <a:t>Services.msc</a:t>
            </a:r>
            <a:r>
              <a:rPr lang="cs-CZ">
                <a:ea typeface="+mn-lt"/>
                <a:cs typeface="+mn-lt"/>
              </a:rPr>
              <a:t> pro podobné účely.</a:t>
            </a:r>
            <a:endParaRPr lang="cs-CZ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cs-CZ">
              <a:ea typeface="Calibri"/>
              <a:cs typeface="Calibri"/>
            </a:endParaRPr>
          </a:p>
        </p:txBody>
      </p:sp>
      <p:pic>
        <p:nvPicPr>
          <p:cNvPr id="4" name="Obrázek 3" descr="Obsah obrázku text, elektronika, snímek obrazovky, software&#10;&#10;Popis se vygeneroval automaticky.">
            <a:extLst>
              <a:ext uri="{FF2B5EF4-FFF2-40B4-BE49-F238E27FC236}">
                <a16:creationId xmlns:a16="http://schemas.microsoft.com/office/drawing/2014/main" id="{01419243-622F-C7C3-3BE8-EFE8213E4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48" y="3726706"/>
            <a:ext cx="3445714" cy="1877914"/>
          </a:xfrm>
          <a:prstGeom prst="roundRect">
            <a:avLst>
              <a:gd name="adj" fmla="val 7306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492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A66C6E-CCAB-46D3-FA84-882560D4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A239B3-4776-70F1-782D-5D73523DE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b="1" u="sng">
                <a:ea typeface="+mn-lt"/>
                <a:cs typeface="+mn-lt"/>
              </a:rPr>
              <a:t>Hlavní body</a:t>
            </a:r>
            <a:r>
              <a:rPr lang="cs-CZ" b="1">
                <a:ea typeface="+mn-lt"/>
                <a:cs typeface="+mn-lt"/>
              </a:rPr>
              <a:t>:</a:t>
            </a:r>
            <a:endParaRPr lang="cs-CZ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cs-CZ">
                <a:ea typeface="+mn-lt"/>
                <a:cs typeface="+mn-lt"/>
              </a:rPr>
              <a:t>Služby a jejich správná správa jsou klíčové pro stabilitu a bezpečnost systému.</a:t>
            </a:r>
            <a:endParaRPr lang="cs-CZ"/>
          </a:p>
          <a:p>
            <a:pPr>
              <a:buClr>
                <a:srgbClr val="FFFFFF"/>
              </a:buClr>
            </a:pPr>
            <a:r>
              <a:rPr lang="cs-CZ" err="1">
                <a:ea typeface="+mn-lt"/>
                <a:cs typeface="+mn-lt"/>
              </a:rPr>
              <a:t>Systemctl</a:t>
            </a:r>
            <a:r>
              <a:rPr lang="cs-CZ">
                <a:ea typeface="+mn-lt"/>
                <a:cs typeface="+mn-lt"/>
              </a:rPr>
              <a:t> je univerzální nástroj pro správu služeb v systémech používajících </a:t>
            </a:r>
            <a:r>
              <a:rPr lang="cs-CZ" err="1">
                <a:ea typeface="+mn-lt"/>
                <a:cs typeface="+mn-lt"/>
              </a:rPr>
              <a:t>systemd</a:t>
            </a:r>
            <a:r>
              <a:rPr lang="cs-CZ">
                <a:ea typeface="+mn-lt"/>
                <a:cs typeface="+mn-lt"/>
              </a:rPr>
              <a:t>. Pomáhá správcům zastavovat, spouštět, povolovat a zakazovat služby podle potřeby.</a:t>
            </a:r>
            <a:endParaRPr lang="cs-CZ"/>
          </a:p>
          <a:p>
            <a:pPr>
              <a:buClr>
                <a:srgbClr val="FFFFFF"/>
              </a:buClr>
            </a:pPr>
            <a:r>
              <a:rPr lang="cs-CZ" err="1">
                <a:ea typeface="+mn-lt"/>
                <a:cs typeface="+mn-lt"/>
              </a:rPr>
              <a:t>Cron</a:t>
            </a:r>
            <a:r>
              <a:rPr lang="cs-CZ">
                <a:ea typeface="+mn-lt"/>
                <a:cs typeface="+mn-lt"/>
              </a:rPr>
              <a:t> je neocenitelný při automatizaci úloh, jako jsou zálohy, aktualizace nebo údržba systému, a umožňuje efektivní správu systému bez neustálé ruční intervence.</a:t>
            </a:r>
            <a:endParaRPr lang="cs-CZ"/>
          </a:p>
          <a:p>
            <a:pPr>
              <a:buClr>
                <a:srgbClr val="FFFFFF"/>
              </a:buClr>
            </a:pPr>
            <a:endParaRPr lang="cs-CZ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cs-CZ">
                <a:ea typeface="+mn-lt"/>
                <a:cs typeface="+mn-lt"/>
              </a:rPr>
              <a:t>Dokumentace k </a:t>
            </a:r>
            <a:r>
              <a:rPr lang="cs-CZ" b="1" err="1">
                <a:ea typeface="+mn-lt"/>
                <a:cs typeface="+mn-lt"/>
              </a:rPr>
              <a:t>systemd</a:t>
            </a:r>
            <a:r>
              <a:rPr lang="cs-CZ">
                <a:ea typeface="+mn-lt"/>
                <a:cs typeface="+mn-lt"/>
              </a:rPr>
              <a:t> je skvělým zdrojem pro pokročilé techniky správy služeb:  </a:t>
            </a:r>
            <a:r>
              <a:rPr lang="cs-CZ">
                <a:ea typeface="+mn-lt"/>
                <a:cs typeface="+mn-lt"/>
                <a:hlinkClick r:id="rId2"/>
              </a:rPr>
              <a:t>System and Service Manager (systemd.io)</a:t>
            </a:r>
          </a:p>
          <a:p>
            <a:pPr marL="0" indent="0">
              <a:buNone/>
            </a:pPr>
            <a:r>
              <a:rPr lang="cs-CZ">
                <a:ea typeface="+mn-lt"/>
                <a:cs typeface="+mn-lt"/>
              </a:rPr>
              <a:t>Pro více informací o </a:t>
            </a:r>
            <a:r>
              <a:rPr lang="cs-CZ" b="1" err="1">
                <a:ea typeface="+mn-lt"/>
                <a:cs typeface="+mn-lt"/>
              </a:rPr>
              <a:t>cron</a:t>
            </a:r>
            <a:r>
              <a:rPr lang="cs-CZ">
                <a:ea typeface="+mn-lt"/>
                <a:cs typeface="+mn-lt"/>
              </a:rPr>
              <a:t> a jeho pokročilých funkcích: </a:t>
            </a:r>
            <a:r>
              <a:rPr lang="cs-CZ">
                <a:ea typeface="+mn-lt"/>
                <a:cs typeface="+mn-lt"/>
                <a:hlinkClick r:id="rId3"/>
              </a:rPr>
              <a:t>CronHowto - Community Help Wiki (ubuntu.com)</a:t>
            </a:r>
          </a:p>
          <a:p>
            <a:pPr marL="0" indent="0">
              <a:buNone/>
            </a:pPr>
            <a:r>
              <a:rPr lang="cs-CZ">
                <a:ea typeface="+mn-lt"/>
                <a:cs typeface="+mn-lt"/>
                <a:hlinkClick r:id="rId4"/>
              </a:rPr>
              <a:t>Linux – Wikipedie (wikipedia.org)</a:t>
            </a:r>
            <a:endParaRPr lang="cs-CZ"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>
                <a:ea typeface="+mn-lt"/>
                <a:cs typeface="+mn-lt"/>
                <a:hlinkClick r:id="rId5"/>
              </a:rPr>
              <a:t>Linux/Přehled základních příkazů – Wikiknihy (wikibooks.org)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887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Celestial</vt:lpstr>
      <vt:lpstr>SLUŽBY</vt:lpstr>
      <vt:lpstr>Služby a jejich význam</vt:lpstr>
      <vt:lpstr>Ovládání služeb - Zapnutí, vypnutí, povolení a zakázaní</vt:lpstr>
      <vt:lpstr>Příklady běžících služeb v pc</vt:lpstr>
      <vt:lpstr>Instalace softwaru v linuxu</vt:lpstr>
      <vt:lpstr>Ukázka: Instalace a správa služby Apache  </vt:lpstr>
      <vt:lpstr>Ukázka: Správa služeb pomocí Systemctl</vt:lpstr>
      <vt:lpstr>Ukázka: zakázání a povolení služby při startu systému </vt:lpstr>
      <vt:lpstr>Ukázka: Plánování úlohy pomocí Cronu</vt:lpstr>
      <vt:lpstr>Plánovač úloh v linuxu - cron</vt:lpstr>
      <vt:lpstr>Cron - uživatel vs. Administrátor (root)</vt:lpstr>
      <vt:lpstr>Příklady plánovaných úloh pomocí cronu</vt:lpstr>
      <vt:lpstr> windows</vt:lpstr>
      <vt:lpstr>Podobnosti a rozdíly mezi Linuxem a Windows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2024-10-10T18:08:33Z</dcterms:created>
  <dcterms:modified xsi:type="dcterms:W3CDTF">2024-11-19T08:28:02Z</dcterms:modified>
</cp:coreProperties>
</file>