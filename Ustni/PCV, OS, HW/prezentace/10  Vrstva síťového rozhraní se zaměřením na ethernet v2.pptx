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E4E09-07E6-4B98-6375-DA2D0863DA79}" v="15" dt="2024-12-03T09:10:02.226"/>
    <p1510:client id="{33F25453-A31C-D296-EF2C-90F0D876A17E}" v="2" dt="2024-12-03T10:04:44.290"/>
    <p1510:client id="{C82EE61E-7819-CB44-E4ED-D901517CD37B}" v="1" dt="2024-12-03T10:16:32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Stuchlík" userId="S::it2131@sspu-opava.cz::eb86bc3d-6fb7-45b0-a20b-45655d763beb" providerId="AD" clId="Web-{C82EE61E-7819-CB44-E4ED-D901517CD37B}"/>
    <pc:docChg chg="modSld">
      <pc:chgData name="Adam Stuchlík" userId="S::it2131@sspu-opava.cz::eb86bc3d-6fb7-45b0-a20b-45655d763beb" providerId="AD" clId="Web-{C82EE61E-7819-CB44-E4ED-D901517CD37B}" dt="2024-12-03T10:16:32.954" v="0" actId="1076"/>
      <pc:docMkLst>
        <pc:docMk/>
      </pc:docMkLst>
      <pc:sldChg chg="modSp">
        <pc:chgData name="Adam Stuchlík" userId="S::it2131@sspu-opava.cz::eb86bc3d-6fb7-45b0-a20b-45655d763beb" providerId="AD" clId="Web-{C82EE61E-7819-CB44-E4ED-D901517CD37B}" dt="2024-12-03T10:16:32.954" v="0" actId="1076"/>
        <pc:sldMkLst>
          <pc:docMk/>
          <pc:sldMk cId="347983761" sldId="268"/>
        </pc:sldMkLst>
        <pc:picChg chg="mod">
          <ac:chgData name="Adam Stuchlík" userId="S::it2131@sspu-opava.cz::eb86bc3d-6fb7-45b0-a20b-45655d763beb" providerId="AD" clId="Web-{C82EE61E-7819-CB44-E4ED-D901517CD37B}" dt="2024-12-03T10:16:32.954" v="0" actId="1076"/>
          <ac:picMkLst>
            <pc:docMk/>
            <pc:sldMk cId="347983761" sldId="268"/>
            <ac:picMk id="5" creationId="{5E27A48D-4E77-3EB4-D490-1B6C1DB2ABC8}"/>
          </ac:picMkLst>
        </pc:picChg>
      </pc:sldChg>
    </pc:docChg>
  </pc:docChgLst>
  <pc:docChgLst>
    <pc:chgData name="Patrik Tomaštík" userId="S::it2127@sspu-opava.cz::61d4026c-6905-4d40-9155-cfc70c4d783a" providerId="AD" clId="Web-{125E4E09-07E6-4B98-6375-DA2D0863DA79}"/>
    <pc:docChg chg="modSld">
      <pc:chgData name="Patrik Tomaštík" userId="S::it2127@sspu-opava.cz::61d4026c-6905-4d40-9155-cfc70c4d783a" providerId="AD" clId="Web-{125E4E09-07E6-4B98-6375-DA2D0863DA79}" dt="2024-12-03T09:10:02.226" v="14" actId="1076"/>
      <pc:docMkLst>
        <pc:docMk/>
      </pc:docMkLst>
      <pc:sldChg chg="modSp">
        <pc:chgData name="Patrik Tomaštík" userId="S::it2127@sspu-opava.cz::61d4026c-6905-4d40-9155-cfc70c4d783a" providerId="AD" clId="Web-{125E4E09-07E6-4B98-6375-DA2D0863DA79}" dt="2024-12-03T09:08:57.834" v="11" actId="14100"/>
        <pc:sldMkLst>
          <pc:docMk/>
          <pc:sldMk cId="2429226253" sldId="262"/>
        </pc:sldMkLst>
        <pc:picChg chg="mod">
          <ac:chgData name="Patrik Tomaštík" userId="S::it2127@sspu-opava.cz::61d4026c-6905-4d40-9155-cfc70c4d783a" providerId="AD" clId="Web-{125E4E09-07E6-4B98-6375-DA2D0863DA79}" dt="2024-12-03T09:08:57.834" v="11" actId="14100"/>
          <ac:picMkLst>
            <pc:docMk/>
            <pc:sldMk cId="2429226253" sldId="262"/>
            <ac:picMk id="8" creationId="{D38BDEFC-672A-108F-05FF-B3FFA98728BE}"/>
          </ac:picMkLst>
        </pc:picChg>
      </pc:sldChg>
      <pc:sldChg chg="modSp">
        <pc:chgData name="Patrik Tomaštík" userId="S::it2127@sspu-opava.cz::61d4026c-6905-4d40-9155-cfc70c4d783a" providerId="AD" clId="Web-{125E4E09-07E6-4B98-6375-DA2D0863DA79}" dt="2024-12-03T09:10:02.226" v="14" actId="1076"/>
        <pc:sldMkLst>
          <pc:docMk/>
          <pc:sldMk cId="749733744" sldId="266"/>
        </pc:sldMkLst>
        <pc:spChg chg="mod">
          <ac:chgData name="Patrik Tomaštík" userId="S::it2127@sspu-opava.cz::61d4026c-6905-4d40-9155-cfc70c4d783a" providerId="AD" clId="Web-{125E4E09-07E6-4B98-6375-DA2D0863DA79}" dt="2024-12-03T09:09:58.648" v="13" actId="1076"/>
          <ac:spMkLst>
            <pc:docMk/>
            <pc:sldMk cId="749733744" sldId="266"/>
            <ac:spMk id="2" creationId="{BDB189DD-941E-1DD7-B2DB-1B338D065CCA}"/>
          </ac:spMkLst>
        </pc:spChg>
        <pc:spChg chg="mod">
          <ac:chgData name="Patrik Tomaštík" userId="S::it2127@sspu-opava.cz::61d4026c-6905-4d40-9155-cfc70c4d783a" providerId="AD" clId="Web-{125E4E09-07E6-4B98-6375-DA2D0863DA79}" dt="2024-12-03T09:10:02.226" v="14" actId="1076"/>
          <ac:spMkLst>
            <pc:docMk/>
            <pc:sldMk cId="749733744" sldId="266"/>
            <ac:spMk id="4" creationId="{3CB06D85-8F72-A809-01C3-2737AE2F3FB0}"/>
          </ac:spMkLst>
        </pc:spChg>
      </pc:sldChg>
    </pc:docChg>
  </pc:docChgLst>
  <pc:docChgLst>
    <pc:chgData name="Viktorie Mazurová" userId="S::it2113@sspu-opava.cz::26b123b6-967d-4ab5-8f53-f45db6c1d905" providerId="AD" clId="Web-{33F25453-A31C-D296-EF2C-90F0D876A17E}"/>
    <pc:docChg chg="modSld">
      <pc:chgData name="Viktorie Mazurová" userId="S::it2113@sspu-opava.cz::26b123b6-967d-4ab5-8f53-f45db6c1d905" providerId="AD" clId="Web-{33F25453-A31C-D296-EF2C-90F0D876A17E}" dt="2024-12-03T10:04:44.290" v="1" actId="1076"/>
      <pc:docMkLst>
        <pc:docMk/>
      </pc:docMkLst>
      <pc:sldChg chg="modSp">
        <pc:chgData name="Viktorie Mazurová" userId="S::it2113@sspu-opava.cz::26b123b6-967d-4ab5-8f53-f45db6c1d905" providerId="AD" clId="Web-{33F25453-A31C-D296-EF2C-90F0D876A17E}" dt="2024-12-03T10:04:44.290" v="1" actId="1076"/>
        <pc:sldMkLst>
          <pc:docMk/>
          <pc:sldMk cId="749733744" sldId="266"/>
        </pc:sldMkLst>
        <pc:picChg chg="mod">
          <ac:chgData name="Viktorie Mazurová" userId="S::it2113@sspu-opava.cz::26b123b6-967d-4ab5-8f53-f45db6c1d905" providerId="AD" clId="Web-{33F25453-A31C-D296-EF2C-90F0D876A17E}" dt="2024-12-03T10:04:44.290" v="1" actId="1076"/>
          <ac:picMkLst>
            <pc:docMk/>
            <pc:sldMk cId="749733744" sldId="266"/>
            <ac:picMk id="8" creationId="{B184C5FA-5B6B-7172-0035-D01EDA21D2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3038D-C346-DBEE-EA24-B6A652523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DE9D0C9-577F-DD2A-843E-FBAE23890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488037D-EC26-AF94-4985-ECBF9791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9B3E3F-1B37-BE98-5EC2-F769B1D9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4E4B84-AA42-634A-C445-447510ED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255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85ED6F-EF16-780C-D13E-F50DADF22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323B2B-6FCE-F3AB-E671-54F59BE12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1EBF676-10AC-42F8-568D-76E6D082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9515093-937C-2B4F-E1C8-E64CF51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3D9085-0310-D45D-989C-A32E447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335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F0319E-E033-4BE2-73EA-6C669FCA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A960F28-DB37-ECE9-6327-730CD5F4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B90527-CA0D-69ED-5C9F-BE4B27E8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840A8C-4105-04A9-34E1-48D9E777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0D94288-04AC-255F-38CD-1A856697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497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18FA1B-6E61-5D11-49A8-8A5053CD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762CEA-3BC5-5293-7A3C-A5D8A9728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5774F6D-8BD1-A50A-322F-95946A93F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474135B-C30F-5011-1A39-DC2725A4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39A47F5-D118-C620-EA79-D644AC8C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FD5FDA8-DED7-D4C5-F523-810717A3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298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762453-15DB-428C-2270-A0DA7B4E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7243469-BCE1-CA14-B30E-850FA5E4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4D167F0-8E30-A439-EA00-45831E1D7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405738A-B173-8409-F213-4C18BA91C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69A2A2B-34C9-866E-5CE4-5B6AC7DBF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A36EE38-90BA-65BE-D387-282F5CAC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E1DEC0F-8637-931F-1EC1-A8556A39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9B7CC69-5A88-F377-91B7-E040117F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015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56E299-9859-0034-0A95-A1CDBA6E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09D2A4B-3CC0-C7AF-A88B-B4501FD3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3723841-E104-A124-3606-7E01D818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410CAA6-4994-A913-D9DA-94DD1861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249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455B7F1-D41C-058A-6EC5-DBF9F142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521958F-1C75-25C5-8DD6-CAB7C1A3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B54E71-027F-38C7-77AD-CE965AE6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509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BBBB8E-664C-4C2C-34B5-88D78AAF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B441F4-DC75-4813-2F89-91622E7E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76662CD-BCA9-2BD7-09B1-1BBED1624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0C722D7-B226-60E3-9361-B39637C4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EE62F01-1E2E-1C75-4E40-79A1BB0E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ECD9D79-7B6D-9271-987A-53034137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690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586390-10C7-0F5E-EE20-970F24B24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0FFEDFD-A659-7DEC-7193-1CE065EFF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BD0F983-3E80-DFC2-7856-74DA21507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DD180BC-262E-A828-4074-3C09DE8C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5C69C29-D71A-E4FB-356E-87FFD8CB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E58EA2A-5E62-8A3D-0E4C-69565A55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786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0E9B12-5B02-9E5B-C53B-6F6124D0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FF63396-315D-E1DD-F180-95CE4657C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22685D-D25E-5F90-40AD-6EA20CC2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F059C7-4B83-B09F-DDE1-5DA7CF2F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2EB3BB-4B70-EA9D-EF97-F5B5B88B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252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DCAFF79-2D18-1ABD-6387-B2966FF92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74EB816-A0F7-BC2D-BDF0-13631614D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446FA3-E748-ACB7-C2DC-E3A46720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2096DE-7D5F-C552-05BD-A9230E1B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943573-3491-3287-DA66-E16A4CD4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750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B3FAEFA-A33A-A309-C2FA-116422A3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299193-AA0B-5569-0836-C75995322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FA6BB3-D92D-3E5F-A92B-D5A1D28EF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8B8F6-2291-41AF-A231-D84748CF6609}" type="datetimeFigureOut">
              <a:rPr lang="cs-CZ" smtClean="0"/>
              <a:t>03.12.2024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39E68E-2716-44AA-2E1E-0859BCF75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2F274F-95BF-3D6F-DFD8-CC7A90272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83CB8-C490-4436-A725-FF379307D8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98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0BD90E1-58B4-B665-1023-EE1026F57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30" y="2899182"/>
            <a:ext cx="3724998" cy="284607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cs-CZ" sz="4400"/>
              <a:t>Vrstva síťového rozhraní se zaměřením na ethernet</a:t>
            </a:r>
            <a:br>
              <a:rPr lang="cs-CZ" sz="3700"/>
            </a:br>
            <a:br>
              <a:rPr lang="cs-CZ" sz="3700"/>
            </a:br>
            <a:br>
              <a:rPr lang="cs-CZ" sz="3700"/>
            </a:br>
            <a:br>
              <a:rPr lang="cs-CZ" sz="3700"/>
            </a:br>
            <a:r>
              <a:rPr lang="cs-CZ" sz="2000"/>
              <a:t>Vítězslav </a:t>
            </a:r>
            <a:r>
              <a:rPr lang="cs-CZ" sz="2000" err="1"/>
              <a:t>Nikel</a:t>
            </a:r>
            <a:r>
              <a:rPr lang="cs-CZ" sz="2000"/>
              <a:t> a Patrik Tomaštík</a:t>
            </a:r>
            <a:br>
              <a:rPr lang="cs-CZ" sz="3700"/>
            </a:br>
            <a:endParaRPr lang="cs-CZ" sz="370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konektor, kabel&#10;&#10;Popis byl vytvořen automaticky se střední mírou spolehlivosti">
            <a:extLst>
              <a:ext uri="{FF2B5EF4-FFF2-40B4-BE49-F238E27FC236}">
                <a16:creationId xmlns:a16="http://schemas.microsoft.com/office/drawing/2014/main" id="{3CBC22F6-FEA5-5A92-4A89-6FB9FBA41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15" y="883463"/>
            <a:ext cx="3364992" cy="2523744"/>
          </a:xfrm>
          <a:prstGeom prst="rect">
            <a:avLst/>
          </a:prstGeom>
        </p:spPr>
      </p:pic>
      <p:pic>
        <p:nvPicPr>
          <p:cNvPr id="7" name="Obrázek 6" descr="Obsah obrázku text, snímek obrazovky, Písmo, Barevnost&#10;&#10;Popis byl vytvořen automaticky">
            <a:extLst>
              <a:ext uri="{FF2B5EF4-FFF2-40B4-BE49-F238E27FC236}">
                <a16:creationId xmlns:a16="http://schemas.microsoft.com/office/drawing/2014/main" id="{F4F3C0BC-6975-3BCD-C275-9DF33C32D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572" y="894911"/>
            <a:ext cx="3703320" cy="2500847"/>
          </a:xfrm>
          <a:prstGeom prst="rect">
            <a:avLst/>
          </a:prstGeom>
        </p:spPr>
      </p:pic>
      <p:pic>
        <p:nvPicPr>
          <p:cNvPr id="9" name="Obrázek 8" descr="Obsah obrázku kabel, Elektrické vedení&#10;&#10;Popis byl vytvořen automaticky">
            <a:extLst>
              <a:ext uri="{FF2B5EF4-FFF2-40B4-BE49-F238E27FC236}">
                <a16:creationId xmlns:a16="http://schemas.microsoft.com/office/drawing/2014/main" id="{D9F4F71A-A38F-EBBF-6E09-819CE7F99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998" y="3662197"/>
            <a:ext cx="3703320" cy="2329296"/>
          </a:xfrm>
          <a:prstGeom prst="rect">
            <a:avLst/>
          </a:prstGeom>
        </p:spPr>
      </p:pic>
      <p:pic>
        <p:nvPicPr>
          <p:cNvPr id="6" name="Obrázek 5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156199B3-366F-0479-8481-B81953261D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15" y="3662197"/>
            <a:ext cx="3360508" cy="231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28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F056B2-E9F5-7458-E793-D0499DF1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131" y="-737118"/>
            <a:ext cx="6001166" cy="2392121"/>
          </a:xfrm>
        </p:spPr>
        <p:txBody>
          <a:bodyPr>
            <a:normAutofit/>
          </a:bodyPr>
          <a:lstStyle/>
          <a:p>
            <a:r>
              <a:rPr lang="cs-CZ"/>
              <a:t>Fyzická vrstva (</a:t>
            </a:r>
            <a:r>
              <a:rPr lang="cs-CZ" err="1"/>
              <a:t>Layer</a:t>
            </a:r>
            <a:r>
              <a:rPr lang="cs-CZ"/>
              <a:t> 1)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Obrázek 5" descr="Obsah obrázku text, snímek obrazovky, Písmo, Barevnost&#10;&#10;Popis byl vytvořen automaticky">
            <a:extLst>
              <a:ext uri="{FF2B5EF4-FFF2-40B4-BE49-F238E27FC236}">
                <a16:creationId xmlns:a16="http://schemas.microsoft.com/office/drawing/2014/main" id="{64F06D06-99BA-B29C-E5CA-FE362B814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65" y="1752151"/>
            <a:ext cx="3999701" cy="270099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E8D6BE2-1556-E067-39A0-E25131026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4131" y="1259633"/>
            <a:ext cx="6969967" cy="52689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cs-CZ" sz="2000" b="1"/>
              <a:t>Ethernet</a:t>
            </a:r>
            <a:r>
              <a:rPr lang="cs-CZ" sz="2000"/>
              <a:t> je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síťová technologie </a:t>
            </a:r>
            <a:r>
              <a:rPr lang="cs-CZ" sz="2000"/>
              <a:t>pro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lokální sítě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LAN</a:t>
            </a:r>
            <a:r>
              <a:rPr lang="cs-CZ" sz="2000"/>
              <a:t>), která umožňuje zařízení komunikovat pomocí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protokolu</a:t>
            </a:r>
            <a:r>
              <a:rPr lang="cs-CZ" sz="2000"/>
              <a:t>, který definuje fyzickou vrstvu a datový linkový rámec.</a:t>
            </a:r>
          </a:p>
          <a:p>
            <a:r>
              <a:rPr lang="cs-CZ" sz="2000"/>
              <a:t>Zajišťuje ve fyzické vrstvě </a:t>
            </a:r>
            <a:r>
              <a:rPr lang="cs-CZ" sz="2000" b="1"/>
              <a:t>fyzické propojení zařízení </a:t>
            </a:r>
            <a:r>
              <a:rPr lang="cs-CZ" sz="2000"/>
              <a:t>a přenos dat v podobě elektrických nebo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optických signálů, určuje typ kabelu, konektory a kódování signálu</a:t>
            </a:r>
            <a:r>
              <a:rPr lang="cs-CZ" sz="2000"/>
              <a:t>.</a:t>
            </a:r>
          </a:p>
          <a:p>
            <a:r>
              <a:rPr lang="cs-CZ" sz="2000"/>
              <a:t>V </a:t>
            </a:r>
            <a:r>
              <a:rPr lang="cs-CZ" sz="2000" b="1"/>
              <a:t>Ethernetu</a:t>
            </a:r>
            <a:r>
              <a:rPr lang="cs-CZ" sz="2000"/>
              <a:t> se používají kabely jako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kroucená dvojlinka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UTP, STP</a:t>
            </a:r>
            <a:r>
              <a:rPr lang="cs-CZ" sz="2000"/>
              <a:t>) nebo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optická vlákna</a:t>
            </a:r>
            <a:r>
              <a:rPr lang="cs-CZ" sz="2000"/>
              <a:t>. </a:t>
            </a:r>
          </a:p>
          <a:p>
            <a:r>
              <a:rPr lang="cs-CZ" sz="2000"/>
              <a:t>Přenáší data ve formě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elektrických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metalické kabely</a:t>
            </a:r>
            <a:r>
              <a:rPr lang="cs-CZ" sz="2000"/>
              <a:t>) nebo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optických signálů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optické kabely</a:t>
            </a:r>
            <a:r>
              <a:rPr lang="cs-CZ" sz="2000"/>
              <a:t>). </a:t>
            </a:r>
          </a:p>
          <a:p>
            <a:r>
              <a:rPr lang="cs-CZ" sz="2000"/>
              <a:t>Podporuje různé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přenosové rychlosti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10 Mbps, 100 Mbps, 1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Gbps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, 10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Gbps</a:t>
            </a:r>
            <a:r>
              <a:rPr lang="cs-CZ" sz="2000"/>
              <a:t>) 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kódování signálů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např. Manchester, 4B/5B</a:t>
            </a:r>
            <a:r>
              <a:rPr lang="cs-CZ" sz="2000"/>
              <a:t>) pro efektivní přenos dat.</a:t>
            </a:r>
          </a:p>
        </p:txBody>
      </p:sp>
    </p:spTree>
    <p:extLst>
      <p:ext uri="{BB962C8B-B14F-4D97-AF65-F5344CB8AC3E}">
        <p14:creationId xmlns:p14="http://schemas.microsoft.com/office/powerpoint/2010/main" val="19299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38E79D-08A0-350D-68DF-7F6D18D8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421" y="-398569"/>
            <a:ext cx="5458838" cy="1325563"/>
          </a:xfrm>
        </p:spPr>
        <p:txBody>
          <a:bodyPr>
            <a:normAutofit/>
          </a:bodyPr>
          <a:lstStyle/>
          <a:p>
            <a:r>
              <a:rPr lang="cs-CZ"/>
              <a:t>Linková vrstva (</a:t>
            </a:r>
            <a:r>
              <a:rPr lang="cs-CZ" err="1"/>
              <a:t>Layer</a:t>
            </a:r>
            <a:r>
              <a:rPr lang="cs-CZ"/>
              <a:t> 2)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Obrázek 5" descr="Obsah obrázku text, snímek obrazovky, Písmo, Barevnost&#10;&#10;Popis byl vytvořen automaticky">
            <a:extLst>
              <a:ext uri="{FF2B5EF4-FFF2-40B4-BE49-F238E27FC236}">
                <a16:creationId xmlns:a16="http://schemas.microsoft.com/office/drawing/2014/main" id="{A7262C3F-E247-751C-C1CD-A0340E188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117"/>
            <a:ext cx="2209896" cy="211192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73726EB-B4B7-CA44-2F12-6EED3C8B07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3155" y="264212"/>
            <a:ext cx="7610879" cy="47088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Zajišťuje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přenos dat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mezi přímo propojenými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uzly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Řídí přístup k přenosovému médiu a </a:t>
            </a: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detekci chyb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Pracuje s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MAC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adresami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 identifikaci zařízení v síti.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Rozděluje </a:t>
            </a: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na rámce a zajišťuje jejich správné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odeslání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příjem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Linková vrstva </a:t>
            </a:r>
            <a:r>
              <a:rPr lang="cs-CZ" sz="1700"/>
              <a:t>zajišťuje spolehlivost přenosu dat mezi zařízeními v síti.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sz="1700"/>
              <a:t>Součástí této vrstvy je také </a:t>
            </a:r>
            <a:r>
              <a:rPr lang="cs-CZ" sz="1700" b="1"/>
              <a:t>detekce chyb </a:t>
            </a:r>
            <a:r>
              <a:rPr lang="cs-CZ" sz="1700"/>
              <a:t>(</a:t>
            </a:r>
            <a:r>
              <a:rPr lang="cs-CZ" sz="17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zejména u rámců</a:t>
            </a:r>
            <a:r>
              <a:rPr lang="cs-CZ" sz="1700"/>
              <a:t>)</a:t>
            </a:r>
            <a:r>
              <a:rPr lang="cs-CZ" sz="1700" b="1"/>
              <a:t> </a:t>
            </a:r>
            <a:r>
              <a:rPr lang="cs-CZ" sz="1700"/>
              <a:t>při přenášení pomocí technik jako </a:t>
            </a:r>
            <a:r>
              <a:rPr lang="cs-CZ" sz="1700" b="1"/>
              <a:t>parita</a:t>
            </a:r>
            <a:r>
              <a:rPr lang="cs-CZ" sz="1700"/>
              <a:t>,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kontrolní součet</a:t>
            </a:r>
            <a:r>
              <a:rPr lang="cs-CZ" sz="1700"/>
              <a:t> a </a:t>
            </a:r>
            <a:r>
              <a:rPr lang="cs-CZ" sz="1700" err="1">
                <a:solidFill>
                  <a:schemeClr val="accent6">
                    <a:lumMod val="75000"/>
                  </a:schemeClr>
                </a:solidFill>
              </a:rPr>
              <a:t>Cyclic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1700" err="1">
                <a:solidFill>
                  <a:schemeClr val="accent6">
                    <a:lumMod val="75000"/>
                  </a:schemeClr>
                </a:solidFill>
              </a:rPr>
              <a:t>Redundancy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1700" err="1">
                <a:solidFill>
                  <a:schemeClr val="accent6">
                    <a:lumMod val="75000"/>
                  </a:schemeClr>
                </a:solidFill>
              </a:rPr>
              <a:t>Check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1700"/>
              <a:t>(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CRC, ukázka výpočtu dolní obrázek</a:t>
            </a:r>
            <a:r>
              <a:rPr lang="cs-CZ" sz="1700"/>
              <a:t>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sz="1700" b="1">
                <a:solidFill>
                  <a:schemeClr val="tx2">
                    <a:lumMod val="75000"/>
                    <a:lumOff val="25000"/>
                  </a:schemeClr>
                </a:solidFill>
              </a:rPr>
              <a:t>Parita</a:t>
            </a:r>
            <a:r>
              <a:rPr lang="cs-CZ" sz="1700"/>
              <a:t> slouží k </a:t>
            </a:r>
            <a:r>
              <a:rPr lang="cs-CZ" sz="1700" b="1"/>
              <a:t>detekci jedné chyby </a:t>
            </a:r>
            <a:r>
              <a:rPr lang="cs-CZ" sz="1700"/>
              <a:t>změnou jednoho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bitu</a:t>
            </a:r>
            <a:r>
              <a:rPr lang="cs-CZ" sz="1700"/>
              <a:t>, kontrolní součet je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matematická funkce </a:t>
            </a:r>
            <a:r>
              <a:rPr lang="cs-CZ" sz="1700" err="1"/>
              <a:t>spočítavající</a:t>
            </a:r>
            <a:r>
              <a:rPr lang="cs-CZ" sz="1700"/>
              <a:t> součet dat, a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CRC</a:t>
            </a:r>
            <a:r>
              <a:rPr lang="cs-CZ" sz="1700"/>
              <a:t> je složitější polynomiální metoda používaná například v </a:t>
            </a:r>
            <a:r>
              <a:rPr lang="cs-CZ" sz="1700" b="1"/>
              <a:t>ethernetových rámcích (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kde je nejvíce používaná pro svou účinnost s prací s velkými bloky dat</a:t>
            </a:r>
            <a:r>
              <a:rPr lang="cs-CZ" sz="1700" b="1"/>
              <a:t>)</a:t>
            </a:r>
            <a:r>
              <a:rPr lang="cs-CZ" sz="170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cs-CZ" altLang="cs-CZ" sz="1700" b="1" i="0" u="none" strike="noStrike" cap="none" normalizeH="0" baseline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Sudá parita: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pokud je počet 1 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sudý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tak je vše v pořádku</a:t>
            </a:r>
            <a:r>
              <a:rPr lang="cs-CZ" altLang="cs-CZ" sz="1700">
                <a:latin typeface="Arial" panose="020B0604020202020204" pitchFamily="34" charset="0"/>
              </a:rPr>
              <a:t>, pokud ne, tak je někde chyba.</a:t>
            </a: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altLang="cs-CZ" sz="1700" b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Lichá parita: </a:t>
            </a:r>
            <a:r>
              <a:rPr lang="cs-CZ" altLang="cs-CZ" sz="1700">
                <a:latin typeface="Arial" panose="020B0604020202020204" pitchFamily="34" charset="0"/>
              </a:rPr>
              <a:t>pokud je počet 1 </a:t>
            </a:r>
            <a:r>
              <a:rPr lang="cs-CZ" altLang="cs-CZ" sz="17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lichý</a:t>
            </a:r>
            <a:r>
              <a:rPr lang="cs-CZ" altLang="cs-CZ" sz="1700">
                <a:latin typeface="Arial" panose="020B0604020202020204" pitchFamily="34" charset="0"/>
              </a:rPr>
              <a:t>, tak je vše v pořádku, pokud ne, tak je někde chyba.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sz="1700" b="1">
                <a:solidFill>
                  <a:schemeClr val="tx2">
                    <a:lumMod val="75000"/>
                    <a:lumOff val="25000"/>
                  </a:schemeClr>
                </a:solidFill>
              </a:rPr>
              <a:t>Kontrolní součet </a:t>
            </a:r>
            <a:r>
              <a:rPr lang="cs-CZ" sz="1700"/>
              <a:t>je jednoduchá metoda </a:t>
            </a:r>
            <a:r>
              <a:rPr lang="cs-CZ" sz="1700" b="1"/>
              <a:t>detekce chyb</a:t>
            </a:r>
            <a:r>
              <a:rPr lang="cs-CZ" sz="1700"/>
              <a:t>, která spočívá ve </a:t>
            </a:r>
            <a:r>
              <a:rPr lang="cs-CZ" sz="1700">
                <a:solidFill>
                  <a:schemeClr val="accent3">
                    <a:lumMod val="75000"/>
                  </a:schemeClr>
                </a:solidFill>
              </a:rPr>
              <a:t>výpočtu součtu přenášených dat </a:t>
            </a:r>
            <a:r>
              <a:rPr lang="cs-CZ" sz="1700"/>
              <a:t>a jeho porovnání s hodnotou na straně příjemce, aby se ověřila jejich </a:t>
            </a:r>
            <a:r>
              <a:rPr lang="cs-CZ" sz="1700" b="1"/>
              <a:t>integrita </a:t>
            </a:r>
            <a:r>
              <a:rPr lang="cs-CZ" sz="1700"/>
              <a:t>a je účinnější než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parita, </a:t>
            </a:r>
            <a:r>
              <a:rPr lang="cs-CZ" sz="1700"/>
              <a:t>detekuje více chyb, ale je méně robustní než </a:t>
            </a:r>
            <a:r>
              <a:rPr lang="cs-CZ" sz="1700" b="1"/>
              <a:t>CRC</a:t>
            </a:r>
            <a:r>
              <a:rPr lang="cs-CZ" sz="1700"/>
              <a:t>. (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obrázek nahoře vpravo vedle vrstev</a:t>
            </a:r>
            <a:r>
              <a:rPr lang="cs-CZ" sz="1700"/>
              <a:t>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sz="1700" b="1">
                <a:solidFill>
                  <a:schemeClr val="tx2">
                    <a:lumMod val="50000"/>
                    <a:lumOff val="50000"/>
                  </a:schemeClr>
                </a:solidFill>
              </a:rPr>
              <a:t>Rozdělení do podvrstev:</a:t>
            </a:r>
            <a:r>
              <a:rPr lang="cs-CZ" sz="17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cs-CZ" sz="1700" b="1">
                <a:solidFill>
                  <a:schemeClr val="accent1">
                    <a:lumMod val="75000"/>
                  </a:schemeClr>
                </a:solidFill>
              </a:rPr>
              <a:t>Ethernet linková vrstva </a:t>
            </a:r>
            <a:r>
              <a:rPr lang="cs-CZ" sz="1700"/>
              <a:t>se skládá ze dvou podvrstev: </a:t>
            </a:r>
            <a:r>
              <a:rPr lang="cs-CZ" sz="1700" b="1"/>
              <a:t>LLC (</a:t>
            </a:r>
            <a:r>
              <a:rPr lang="cs-CZ" sz="1700" b="1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Logical</a:t>
            </a:r>
            <a:r>
              <a:rPr lang="cs-CZ" sz="17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 Link </a:t>
            </a:r>
            <a:r>
              <a:rPr lang="cs-CZ" sz="1700" b="1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Control</a:t>
            </a:r>
            <a:r>
              <a:rPr lang="cs-CZ" sz="1700" b="1"/>
              <a:t>) a MAC (</a:t>
            </a:r>
            <a:r>
              <a:rPr lang="cs-CZ" sz="17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Media Access </a:t>
            </a:r>
            <a:r>
              <a:rPr lang="cs-CZ" sz="1700" b="1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Control</a:t>
            </a:r>
            <a:r>
              <a:rPr lang="cs-CZ" sz="1700" b="1"/>
              <a:t>)</a:t>
            </a: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Obrázek 4" descr="Obsah obrázku text, snímek obrazovky, číslo, Písmo&#10;&#10;Popis byl vytvořen automaticky">
            <a:extLst>
              <a:ext uri="{FF2B5EF4-FFF2-40B4-BE49-F238E27FC236}">
                <a16:creationId xmlns:a16="http://schemas.microsoft.com/office/drawing/2014/main" id="{6C5BF0F3-2F83-4D6E-4C9C-441DB1AAD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3402"/>
            <a:ext cx="4109549" cy="3275743"/>
          </a:xfrm>
          <a:prstGeom prst="rect">
            <a:avLst/>
          </a:prstGeom>
        </p:spPr>
      </p:pic>
      <p:pic>
        <p:nvPicPr>
          <p:cNvPr id="7" name="Obrázek 6" descr="Obsah obrázku text, Písmo, design&#10;&#10;Popis byl vytvořen automaticky">
            <a:extLst>
              <a:ext uri="{FF2B5EF4-FFF2-40B4-BE49-F238E27FC236}">
                <a16:creationId xmlns:a16="http://schemas.microsoft.com/office/drawing/2014/main" id="{B25EF6D0-B4D8-821B-B210-03D307CE9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644" y="45149"/>
            <a:ext cx="1648905" cy="2413274"/>
          </a:xfrm>
          <a:prstGeom prst="rect">
            <a:avLst/>
          </a:prstGeom>
        </p:spPr>
      </p:pic>
      <p:pic>
        <p:nvPicPr>
          <p:cNvPr id="9" name="Obrázek 8" descr="Obsah obrázku text, snímek obrazovky, Písmo, řada/pruh&#10;&#10;Popis byl vytvořen automaticky">
            <a:extLst>
              <a:ext uri="{FF2B5EF4-FFF2-40B4-BE49-F238E27FC236}">
                <a16:creationId xmlns:a16="http://schemas.microsoft.com/office/drawing/2014/main" id="{E6EB45B4-A31A-3884-1980-587C38AD2E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7054"/>
            <a:ext cx="4293457" cy="126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5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5F393D-22E0-109C-E99F-855FC274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479" y="260460"/>
            <a:ext cx="8505210" cy="1325563"/>
          </a:xfrm>
        </p:spPr>
        <p:txBody>
          <a:bodyPr>
            <a:normAutofit/>
          </a:bodyPr>
          <a:lstStyle/>
          <a:p>
            <a:r>
              <a:rPr lang="cs-CZ" sz="3200"/>
              <a:t>Tři typy médií pro přenos v počítačových sítích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A6FC340-38F4-EDF0-1E01-D5EDF953D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7759" y="1301337"/>
            <a:ext cx="812696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Metalická (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měděná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) média:</a:t>
            </a:r>
            <a:endParaRPr kumimoji="0" lang="cs-CZ" altLang="cs-CZ" sz="1600" b="0" i="0" u="none" strike="noStrike" cap="none" normalizeH="0" baseline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Přenos dat pomocí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elektrických signálů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 měděných vodičích.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Široce používaná díky nízkým nákladům, ale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náchylná k rušení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elektromagnetickými vlnami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ztrátám na delší vzdálenosti.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Příklady:</a:t>
            </a:r>
            <a:r>
              <a:rPr lang="cs-CZ" altLang="cs-CZ" sz="1600"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Kroucená dvojlinka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UTP, STP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cs-CZ" altLang="cs-CZ" sz="1600">
                <a:latin typeface="Arial" panose="020B0604020202020204" pitchFamily="34" charset="0"/>
              </a:rPr>
              <a:t>,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Koaxiální kabel</a:t>
            </a:r>
            <a:endParaRPr lang="cs-CZ" altLang="cs-CZ" sz="160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Optická média:</a:t>
            </a:r>
            <a:endParaRPr kumimoji="0" lang="cs-CZ" altLang="cs-CZ" sz="1600" b="0" i="0" u="none" strike="noStrike" cap="none" normalizeH="0" baseline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Přenos dat pomocí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světelných impulzů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 optickém vlákně.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Poskytuje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vysokou kapacitu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přenosu,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nízké ztráty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signálu a je vhodné pro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dlouhé vzdálenosti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vysoké rychlosti.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Příklad:</a:t>
            </a:r>
            <a:r>
              <a:rPr lang="cs-CZ" altLang="cs-CZ" sz="1600"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Optické vlákno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Bezdrátová média:</a:t>
            </a:r>
            <a:endParaRPr kumimoji="0" lang="cs-CZ" altLang="cs-CZ" sz="1600" b="0" i="0" u="none" strike="noStrike" cap="none" normalizeH="0" baseline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Přenos dat pomocí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rádiových vln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což umožňuje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flexibilitu a mobilitu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 náchylné k rušení a má omezený dosah, avšak je praktické pro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mobilní zařízení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situacích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kdy není možné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instalovat kabely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Příklady:</a:t>
            </a:r>
            <a:r>
              <a:rPr lang="cs-CZ" altLang="cs-CZ" sz="1600"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Wi-Fi, Bluetooth</a:t>
            </a:r>
            <a:r>
              <a:rPr lang="cs-CZ" altLang="cs-CZ" sz="16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Satelitní přenos a další RF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rádiové frekvence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Elektrická přenosová média:</a:t>
            </a:r>
            <a:endParaRPr kumimoji="0" lang="cs-CZ" altLang="cs-CZ" sz="1600" b="0" i="0" u="none" strike="noStrike" cap="none" normalizeH="0" baseline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Méně běžný typ, který využívá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stávající elektrické vedení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 přenos dat.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Výhodné pro rychlou instalaci v prostředí, kde již existuje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elektrická infrastruktura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Příklad:</a:t>
            </a:r>
            <a:r>
              <a:rPr lang="cs-CZ" altLang="cs-CZ" sz="1600"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Powerline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PLC</a:t>
            </a:r>
            <a:r>
              <a:rPr kumimoji="0" lang="cs-CZ" altLang="cs-CZ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cs-CZ" altLang="cs-CZ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Obrázek 7" descr="Obsah obrázku displej, design&#10;&#10;Popis byl vytvořen automaticky">
            <a:extLst>
              <a:ext uri="{FF2B5EF4-FFF2-40B4-BE49-F238E27FC236}">
                <a16:creationId xmlns:a16="http://schemas.microsoft.com/office/drawing/2014/main" id="{35501174-251E-4CA2-39D7-356E31110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96" y="2519660"/>
            <a:ext cx="25622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9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8E568EC-6005-49ED-6B5C-42CB725E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5" y="-2"/>
            <a:ext cx="9392421" cy="1330841"/>
          </a:xfrm>
        </p:spPr>
        <p:txBody>
          <a:bodyPr>
            <a:normAutofit/>
          </a:bodyPr>
          <a:lstStyle/>
          <a:p>
            <a:r>
              <a:rPr lang="cs-CZ" sz="4100"/>
              <a:t>Standardy kabelů Cat3 až Cat6a, T568A/B, konektory, využití křížených kabelů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893A8A-ED6D-5283-0D50-691112AA6E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22311"/>
            <a:ext cx="7352521" cy="56356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Cat3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Používá se pro telefonní a starší ethernetové sítě (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10 Mbps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Cat5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Přenos do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100 Mbps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běžný v sítích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100BASE-T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Cat5e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Vylepšená verze Cat5, lepší ochrana proti přeslechům, rychlosti až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cs-CZ" altLang="cs-CZ" sz="2000" b="0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Cat6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Podpora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cs-CZ" altLang="cs-CZ" sz="2000" b="0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 delší vzdálenosti,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 </a:t>
            </a:r>
            <a:r>
              <a:rPr kumimoji="0" lang="cs-CZ" altLang="cs-CZ" sz="2000" b="0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 kratší (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až 55 m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Cat6a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Podpora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 </a:t>
            </a:r>
            <a:r>
              <a:rPr kumimoji="0" lang="cs-CZ" altLang="cs-CZ" sz="2000" b="0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Gbps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100 m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zlepšené stínění a ochrana proti přeslechům.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T568A/B </a:t>
            </a:r>
            <a:r>
              <a:rPr lang="cs-CZ" sz="2000"/>
              <a:t>standardy pro zapojení jednotlivých vodičů v </a:t>
            </a:r>
            <a:r>
              <a:rPr lang="cs-CZ" sz="2000" b="1"/>
              <a:t>UTP</a:t>
            </a:r>
            <a:r>
              <a:rPr lang="cs-CZ" sz="2000"/>
              <a:t> kabelech do konektorů </a:t>
            </a:r>
            <a:r>
              <a:rPr lang="cs-CZ" sz="2000" b="1"/>
              <a:t>RJ-45</a:t>
            </a:r>
            <a:r>
              <a:rPr lang="cs-CZ" sz="2000"/>
              <a:t>. Důležité je, aby obě strany kabelu byly zapojeny podle stejného standardu.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T568A:</a:t>
            </a:r>
            <a:r>
              <a:rPr lang="cs-CZ" sz="2000"/>
              <a:t> Častější mimo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Severní Ameriku</a:t>
            </a:r>
            <a:r>
              <a:rPr lang="cs-CZ" sz="2000"/>
              <a:t>, kde je často preferovaný pro nové instalace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zejména v oblasti komerčních budov</a:t>
            </a:r>
            <a:r>
              <a:rPr lang="cs-CZ" sz="200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T568B:</a:t>
            </a:r>
            <a:r>
              <a:rPr lang="cs-CZ" sz="2000"/>
              <a:t> Běžnější v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Severní Americe </a:t>
            </a:r>
            <a:r>
              <a:rPr lang="cs-CZ" sz="2000"/>
              <a:t>a je historicky spojen s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telekomunikacemi</a:t>
            </a:r>
            <a:r>
              <a:rPr lang="cs-CZ" sz="2000"/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Křížené kabely (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Crossover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Používají se k přímému propojení dvou zařízení bez přepínače (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např. počítač-počítač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). </a:t>
            </a:r>
          </a:p>
        </p:txBody>
      </p:sp>
      <p:pic>
        <p:nvPicPr>
          <p:cNvPr id="6" name="Obrázek 5" descr="Obsah obrázku kabel, Elektrické vedení&#10;&#10;Popis byl vytvořen automaticky">
            <a:extLst>
              <a:ext uri="{FF2B5EF4-FFF2-40B4-BE49-F238E27FC236}">
                <a16:creationId xmlns:a16="http://schemas.microsoft.com/office/drawing/2014/main" id="{B6157F42-2657-430A-4116-2E95A9EDD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196" y="790999"/>
            <a:ext cx="4569379" cy="287402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, řada/pruh, snímek obrazovky, diagram&#10;&#10;Popis byl vytvořen automaticky">
            <a:extLst>
              <a:ext uri="{FF2B5EF4-FFF2-40B4-BE49-F238E27FC236}">
                <a16:creationId xmlns:a16="http://schemas.microsoft.com/office/drawing/2014/main" id="{1A3D3525-A92A-8EA6-CBA4-C593A1638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501" y="3670368"/>
            <a:ext cx="4413655" cy="28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7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BA3CA69-2E93-B4D6-ED9A-EC2AE146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-233266"/>
            <a:ext cx="9093841" cy="1212979"/>
          </a:xfrm>
        </p:spPr>
        <p:txBody>
          <a:bodyPr>
            <a:normAutofit/>
          </a:bodyPr>
          <a:lstStyle/>
          <a:p>
            <a:r>
              <a:rPr lang="cs-CZ"/>
              <a:t>Optické rozvody a </a:t>
            </a:r>
            <a:r>
              <a:rPr lang="cs-CZ" err="1"/>
              <a:t>Snellův</a:t>
            </a:r>
            <a:r>
              <a:rPr lang="cs-CZ"/>
              <a:t> zákon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2F9A84-C22F-3734-E3E5-32E92720CB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934" y="382555"/>
            <a:ext cx="7492482" cy="64754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Optické rozvody: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altLang="cs-CZ" sz="2000">
                <a:latin typeface="Arial" panose="020B0604020202020204" pitchFamily="34" charset="0"/>
              </a:rPr>
              <a:t>P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oužívají optická vlákna pro přenos dat pomocí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světelných impulzů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což umožňuje vysokou rychlost a velkou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šířku pásma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 dlouhé vzdálenosti.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cs-CZ" sz="2400" b="1"/>
              <a:t>Výhody optických vláken:</a:t>
            </a:r>
            <a:r>
              <a:rPr lang="cs-CZ" sz="2400"/>
              <a:t> </a:t>
            </a:r>
            <a:r>
              <a:rPr lang="cs-CZ" sz="2000" b="1">
                <a:solidFill>
                  <a:schemeClr val="accent6">
                    <a:lumMod val="75000"/>
                  </a:schemeClr>
                </a:solidFill>
              </a:rPr>
              <a:t>Velká šířka pásma, Nízké ztráty,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2000" b="1">
                <a:solidFill>
                  <a:schemeClr val="accent6">
                    <a:lumMod val="75000"/>
                  </a:schemeClr>
                </a:solidFill>
              </a:rPr>
              <a:t>Odolnost proti elektromagnetickému rušení</a:t>
            </a:r>
            <a:endParaRPr kumimoji="0" lang="cs-CZ" altLang="cs-CZ" sz="2000" b="0" i="0" u="none" strike="noStrike" cap="none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Snellův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zákon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Popisuje lom světla při přechodu mezi různými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médii (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prostředími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Určuje úhel, pod kterým se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světlo láme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 závislosti na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indexu lomu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obou prostředí.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2400"/>
              <a:t>Tento princip se využívá v </a:t>
            </a:r>
            <a:r>
              <a:rPr lang="cs-CZ" sz="2400" b="1"/>
              <a:t>Ethernetových sítích </a:t>
            </a:r>
            <a:r>
              <a:rPr lang="cs-CZ" sz="2400"/>
              <a:t>s </a:t>
            </a:r>
            <a:r>
              <a:rPr lang="cs-CZ" sz="2400" b="1"/>
              <a:t>optickými kabely</a:t>
            </a:r>
            <a:r>
              <a:rPr lang="cs-CZ" sz="2400"/>
              <a:t> pro vysokorychlostní komunikaci na </a:t>
            </a:r>
            <a:r>
              <a:rPr lang="cs-CZ" sz="2400">
                <a:solidFill>
                  <a:schemeClr val="accent6">
                    <a:lumMod val="75000"/>
                  </a:schemeClr>
                </a:solidFill>
              </a:rPr>
              <a:t>dlouhé vzdálenost</a:t>
            </a:r>
            <a:r>
              <a:rPr lang="cs-CZ" sz="2400"/>
              <a:t>i.</a:t>
            </a:r>
            <a:endParaRPr kumimoji="0" lang="cs-CZ" altLang="cs-CZ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Obrázek 4" descr="Obsah obrázku text, Písmo, řada/pruh, číslo&#10;&#10;Popis byl vytvořen automaticky">
            <a:extLst>
              <a:ext uri="{FF2B5EF4-FFF2-40B4-BE49-F238E27FC236}">
                <a16:creationId xmlns:a16="http://schemas.microsoft.com/office/drawing/2014/main" id="{A5C39DD6-1739-2587-ADD7-1B0A93DE9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495" y="2407294"/>
            <a:ext cx="4788505" cy="264325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65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50D77C1-2D5E-E20C-3F13-B784CCF0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" y="240031"/>
            <a:ext cx="4789170" cy="1085849"/>
          </a:xfrm>
        </p:spPr>
        <p:txBody>
          <a:bodyPr anchor="t">
            <a:noAutofit/>
          </a:bodyPr>
          <a:lstStyle/>
          <a:p>
            <a:r>
              <a:rPr lang="cs-CZ" sz="4800" b="1"/>
              <a:t>Základní popis rámce</a:t>
            </a:r>
          </a:p>
        </p:txBody>
      </p:sp>
      <p:pic>
        <p:nvPicPr>
          <p:cNvPr id="8" name="Obrázek 7" descr="Obsah obrázku text, Písmo, řada/pruh, software&#10;&#10;Popis byl vytvořen automaticky">
            <a:extLst>
              <a:ext uri="{FF2B5EF4-FFF2-40B4-BE49-F238E27FC236}">
                <a16:creationId xmlns:a16="http://schemas.microsoft.com/office/drawing/2014/main" id="{D38BDEFC-672A-108F-05FF-B3FFA9872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54" y="1981149"/>
            <a:ext cx="4808671" cy="101559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6459C06-42B2-2895-1105-8EBFE7606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0201" y="240031"/>
            <a:ext cx="6770552" cy="67206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Rámec</a:t>
            </a:r>
            <a:r>
              <a:rPr lang="cs-CZ" altLang="cs-CZ" sz="2000"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/>
              <a:t>je </a:t>
            </a:r>
            <a:r>
              <a:rPr lang="cs-CZ" sz="1800" b="1"/>
              <a:t>základní jednotkou přenosu </a:t>
            </a:r>
            <a:r>
              <a:rPr lang="cs-CZ" sz="1800"/>
              <a:t>dat na </a:t>
            </a:r>
            <a:r>
              <a:rPr lang="cs-CZ" sz="1800" b="1"/>
              <a:t>linkové vrstvě</a:t>
            </a:r>
            <a:r>
              <a:rPr lang="cs-CZ" sz="1800"/>
              <a:t> (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Layer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r>
              <a:rPr lang="cs-CZ" sz="1800"/>
              <a:t>) v počítačových sítích, jako je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Ethernet</a:t>
            </a:r>
            <a:r>
              <a:rPr lang="cs-CZ" sz="1800"/>
              <a:t>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/>
              <a:t>Je to struktura, která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obsahuje všechny potřebné informace </a:t>
            </a:r>
            <a:r>
              <a:rPr lang="cs-CZ" sz="1800"/>
              <a:t>pro spolehlivý přenos dat mezi dvěma zařízeními v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síti</a:t>
            </a:r>
            <a:r>
              <a:rPr lang="cs-CZ" sz="180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cs-CZ" sz="2400" b="1">
                <a:solidFill>
                  <a:schemeClr val="tx2">
                    <a:lumMod val="50000"/>
                    <a:lumOff val="50000"/>
                  </a:schemeClr>
                </a:solidFill>
              </a:rPr>
              <a:t>Struktura rámce Ethernetu: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Preambule:</a:t>
            </a:r>
            <a:r>
              <a:rPr lang="cs-CZ" sz="1800"/>
              <a:t> </a:t>
            </a:r>
            <a:r>
              <a:rPr lang="cs-CZ" sz="1500"/>
              <a:t>Synchronizaci mezi odesílajícím a přijímajícím zařízením.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Start </a:t>
            </a:r>
            <a:r>
              <a:rPr lang="cs-CZ" sz="1800" err="1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1800" err="1">
                <a:solidFill>
                  <a:schemeClr val="tx2">
                    <a:lumMod val="50000"/>
                    <a:lumOff val="50000"/>
                  </a:schemeClr>
                </a:solidFill>
              </a:rPr>
              <a:t>Delimiter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cs-CZ" sz="1800"/>
              <a:t>Označuje konec preambule a začátek rámce.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Hlavička rámce</a:t>
            </a:r>
            <a:r>
              <a:rPr lang="cs-CZ" sz="1800"/>
              <a:t> (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header</a:t>
            </a:r>
            <a:r>
              <a:rPr lang="cs-CZ" sz="1800"/>
              <a:t>)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:</a:t>
            </a:r>
            <a:r>
              <a:rPr lang="cs-CZ" sz="1800"/>
              <a:t> Obsahuje informace pro přenos dat.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 err="1">
                <a:solidFill>
                  <a:schemeClr val="tx2">
                    <a:lumMod val="50000"/>
                    <a:lumOff val="50000"/>
                  </a:schemeClr>
                </a:solidFill>
              </a:rPr>
              <a:t>Payload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cs-CZ" sz="1800"/>
              <a:t>Obsahuje přenášená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Kontrolní součet: </a:t>
            </a:r>
            <a:r>
              <a:rPr lang="cs-CZ" sz="1600"/>
              <a:t>Detekce chyb při přenosu.</a:t>
            </a:r>
          </a:p>
          <a:p>
            <a:r>
              <a:rPr lang="cs-CZ" sz="1800" b="1">
                <a:solidFill>
                  <a:schemeClr val="tx2">
                    <a:lumMod val="50000"/>
                    <a:lumOff val="50000"/>
                  </a:schemeClr>
                </a:solidFill>
              </a:rPr>
              <a:t>Funkce a účel Ethernet rámce:</a:t>
            </a:r>
          </a:p>
          <a:p>
            <a:pPr marL="0" indent="0">
              <a:buNone/>
            </a:pPr>
            <a:r>
              <a:rPr lang="cs-CZ" sz="1800"/>
              <a:t>Umožňují </a:t>
            </a:r>
            <a:r>
              <a:rPr lang="cs-CZ" sz="1800" b="1"/>
              <a:t>efektivní a spolehlivý přenos dat</a:t>
            </a:r>
            <a:r>
              <a:rPr lang="cs-CZ" sz="1800"/>
              <a:t> v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lokálních sítích</a:t>
            </a:r>
            <a:r>
              <a:rPr lang="cs-CZ" sz="1800"/>
              <a:t>.</a:t>
            </a:r>
          </a:p>
          <a:p>
            <a:pPr marL="0" indent="0">
              <a:buNone/>
            </a:pPr>
            <a:r>
              <a:rPr lang="cs-CZ" sz="1800"/>
              <a:t>Každý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rámec</a:t>
            </a:r>
            <a:r>
              <a:rPr lang="cs-CZ" sz="1800"/>
              <a:t> nese nezbytné informace o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adresování</a:t>
            </a:r>
            <a:r>
              <a:rPr lang="cs-CZ" sz="1800"/>
              <a:t> (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pomocí </a:t>
            </a:r>
            <a:r>
              <a:rPr lang="cs-CZ" sz="18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MAC adres</a:t>
            </a:r>
            <a:r>
              <a:rPr lang="cs-CZ" sz="1800"/>
              <a:t>) a zajišťuje, že data dorazí k správnému zařízení.</a:t>
            </a:r>
          </a:p>
          <a:p>
            <a:pPr marL="0" indent="0">
              <a:buNone/>
            </a:pPr>
            <a:r>
              <a:rPr lang="cs-CZ" sz="1800" b="1"/>
              <a:t>Kontrola chyb</a:t>
            </a:r>
            <a:r>
              <a:rPr lang="cs-CZ" sz="1800"/>
              <a:t> je důležitou funkcí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rámce</a:t>
            </a:r>
            <a:r>
              <a:rPr lang="cs-CZ" sz="1800"/>
              <a:t>. </a:t>
            </a:r>
          </a:p>
          <a:p>
            <a:pPr marL="0" indent="0">
              <a:buNone/>
            </a:pPr>
            <a:r>
              <a:rPr lang="cs-CZ" sz="1800" b="1"/>
              <a:t>FCS</a:t>
            </a:r>
            <a:r>
              <a:rPr lang="cs-CZ" sz="1800"/>
              <a:t> pomáhá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detekovat chyby</a:t>
            </a:r>
            <a:r>
              <a:rPr lang="cs-CZ" sz="1800"/>
              <a:t>, ale neřeší jejich opravu – pokud je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rámec</a:t>
            </a:r>
            <a:r>
              <a:rPr lang="cs-CZ" sz="1800"/>
              <a:t> poškozen, je zahozen a musí být </a:t>
            </a:r>
            <a:r>
              <a:rPr lang="cs-CZ" sz="1800" b="1"/>
              <a:t>odeslán znovu</a:t>
            </a:r>
            <a:r>
              <a:rPr lang="cs-CZ" sz="1800"/>
              <a:t>.</a:t>
            </a:r>
          </a:p>
          <a:p>
            <a:pPr marL="0" indent="0">
              <a:buNone/>
            </a:pPr>
            <a:r>
              <a:rPr lang="cs-CZ" sz="1800"/>
              <a:t>Každý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ethernetový rámec </a:t>
            </a:r>
            <a:r>
              <a:rPr lang="cs-CZ" sz="1800"/>
              <a:t>obsahuje v poli </a:t>
            </a:r>
            <a:r>
              <a:rPr lang="cs-CZ" sz="1800" b="1"/>
              <a:t>FCS</a:t>
            </a:r>
            <a:r>
              <a:rPr lang="cs-CZ" sz="1800"/>
              <a:t> (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Frame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Check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Sequence</a:t>
            </a:r>
            <a:r>
              <a:rPr lang="cs-CZ" sz="1800"/>
              <a:t>) hodnotu kontrolní součtu vypočtenou metodou </a:t>
            </a:r>
            <a:r>
              <a:rPr lang="cs-CZ" sz="1800" b="1"/>
              <a:t>CRC</a:t>
            </a:r>
            <a:r>
              <a:rPr lang="cs-CZ" sz="1800"/>
              <a:t> (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Cyclic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Redundancy</a:t>
            </a:r>
            <a:r>
              <a:rPr lang="cs-CZ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8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Check</a:t>
            </a:r>
            <a:r>
              <a:rPr lang="cs-CZ" sz="1800"/>
              <a:t>).</a:t>
            </a:r>
          </a:p>
          <a:p>
            <a:pPr marL="0" indent="0">
              <a:buNone/>
            </a:pPr>
            <a:r>
              <a:rPr lang="cs-CZ" sz="1800"/>
              <a:t>Tento </a:t>
            </a:r>
            <a:r>
              <a:rPr lang="cs-CZ" sz="1800">
                <a:solidFill>
                  <a:schemeClr val="accent6">
                    <a:lumMod val="75000"/>
                  </a:schemeClr>
                </a:solidFill>
              </a:rPr>
              <a:t>kontrolní součet </a:t>
            </a:r>
            <a:r>
              <a:rPr lang="cs-CZ" sz="1800"/>
              <a:t>slouží k </a:t>
            </a:r>
            <a:r>
              <a:rPr lang="cs-CZ" sz="1800" b="1"/>
              <a:t>detekci</a:t>
            </a:r>
            <a:r>
              <a:rPr lang="cs-CZ" sz="1800"/>
              <a:t> chyb při </a:t>
            </a:r>
            <a:r>
              <a:rPr lang="cs-CZ" sz="1800" b="1"/>
              <a:t>přenosu dat</a:t>
            </a:r>
            <a:r>
              <a:rPr lang="cs-CZ" sz="1800"/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cs-CZ" altLang="cs-CZ" sz="18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1" name="Obrázek 10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1C94E5BD-1A6F-9AE5-833B-AFFC3000F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6" y="3531435"/>
            <a:ext cx="5117014" cy="318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CA08D31-80E4-CD6A-37EF-64BFA6D0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534" y="122855"/>
            <a:ext cx="5458838" cy="1325563"/>
          </a:xfrm>
        </p:spPr>
        <p:txBody>
          <a:bodyPr>
            <a:normAutofit/>
          </a:bodyPr>
          <a:lstStyle/>
          <a:p>
            <a:r>
              <a:rPr lang="cs-CZ"/>
              <a:t>Historie Ethernetu, standardy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konektor, kabel&#10;&#10;Popis byl vytvořen automaticky se střední mírou spolehlivosti">
            <a:extLst>
              <a:ext uri="{FF2B5EF4-FFF2-40B4-BE49-F238E27FC236}">
                <a16:creationId xmlns:a16="http://schemas.microsoft.com/office/drawing/2014/main" id="{3B080825-659A-7DB3-D940-2CCA1B00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28" y="1844660"/>
            <a:ext cx="4224906" cy="316867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B2A8817-07EB-3A34-C4C3-D3035E427B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2504" y="1213553"/>
            <a:ext cx="7015961" cy="5510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Ethernet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byl vyvinut v roce 1973 v laboratořích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Xerox PARC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altLang="cs-CZ" sz="1800">
                <a:latin typeface="Arial" panose="020B0604020202020204" pitchFamily="34" charset="0"/>
              </a:rPr>
              <a:t> Výzkumníkem </a:t>
            </a:r>
            <a:r>
              <a:rPr lang="cs-CZ" altLang="cs-CZ" sz="1800" b="1">
                <a:latin typeface="Arial" panose="020B0604020202020204" pitchFamily="34" charset="0"/>
              </a:rPr>
              <a:t>Robertem </a:t>
            </a:r>
            <a:r>
              <a:rPr lang="cs-CZ" altLang="cs-CZ" sz="1800" b="1" err="1">
                <a:latin typeface="Arial" panose="020B0604020202020204" pitchFamily="34" charset="0"/>
              </a:rPr>
              <a:t>Metcalfem</a:t>
            </a:r>
            <a:r>
              <a:rPr lang="cs-CZ" altLang="cs-CZ" sz="1800" b="1">
                <a:latin typeface="Arial" panose="020B0604020202020204" pitchFamily="34" charset="0"/>
              </a:rPr>
              <a:t> </a:t>
            </a:r>
            <a:r>
              <a:rPr lang="cs-CZ" altLang="cs-CZ" sz="1800">
                <a:latin typeface="Arial" panose="020B0604020202020204" pitchFamily="34" charset="0"/>
              </a:rPr>
              <a:t>a jeho týmem.</a:t>
            </a:r>
            <a:endParaRPr kumimoji="0"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Byl </a:t>
            </a:r>
            <a:r>
              <a:rPr lang="cs-CZ" altLang="cs-CZ" sz="1800">
                <a:latin typeface="Arial" panose="020B0604020202020204" pitchFamily="34" charset="0"/>
              </a:rPr>
              <a:t>s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tandardizován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IEEE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 roce 1983 pod označením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IEEE 802.3.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</a:t>
            </a:r>
            <a:r>
              <a:rPr lang="cs-CZ" sz="1600"/>
              <a:t>ím se stal univerzálním standardem pro </a:t>
            </a:r>
            <a:r>
              <a:rPr lang="cs-CZ" sz="1600">
                <a:solidFill>
                  <a:schemeClr val="tx2">
                    <a:lumMod val="50000"/>
                    <a:lumOff val="50000"/>
                  </a:schemeClr>
                </a:solidFill>
              </a:rPr>
              <a:t>drátové lokální sítě</a:t>
            </a:r>
            <a:r>
              <a:rPr lang="cs-CZ" sz="1600"/>
              <a:t>.</a:t>
            </a:r>
            <a:endParaRPr kumimoji="0" lang="cs-CZ" altLang="cs-CZ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Postupně se rozvíjel z 10 Mbps (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Ethernet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 s použitím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koaxiálních kabelů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pro malé sítě</a:t>
            </a:r>
            <a:endParaRPr lang="cs-CZ" altLang="cs-CZ" sz="180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Fast Ethernet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100Mbps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 s využitím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kroucených dvoulinek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využití v kancelářích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Gigabit Ethernet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1Gbps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připojují se servery a kritické komponenty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10G, 40G a 100G Ethernet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kde se používají pro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přenost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obrovské množství dat.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sz="1800"/>
              <a:t>Díky své jednoduchosti, flexibilitě a rozšiřitelnosti se stal dominantní technologií pro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LAN</a:t>
            </a:r>
            <a:r>
              <a:rPr lang="cs-CZ" sz="1800"/>
              <a:t>. Zajišťuje spolehlivý přenos dat díky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MAC adresaci</a:t>
            </a:r>
            <a:r>
              <a:rPr lang="cs-CZ" sz="1800"/>
              <a:t>, </a:t>
            </a:r>
            <a:r>
              <a:rPr lang="cs-CZ" sz="1800" err="1">
                <a:solidFill>
                  <a:schemeClr val="tx2">
                    <a:lumMod val="50000"/>
                    <a:lumOff val="50000"/>
                  </a:schemeClr>
                </a:solidFill>
              </a:rPr>
              <a:t>switchům</a:t>
            </a:r>
            <a:r>
              <a:rPr lang="cs-CZ" sz="1800"/>
              <a:t> a metodám pro řešení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kolizí</a:t>
            </a:r>
            <a:r>
              <a:rPr lang="cs-CZ" sz="1800"/>
              <a:t>, jako je </a:t>
            </a:r>
            <a:r>
              <a:rPr lang="cs-CZ" sz="1800" b="1"/>
              <a:t>CSMA/CD</a:t>
            </a:r>
            <a:r>
              <a:rPr lang="cs-CZ" sz="1800"/>
              <a:t>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sz="1800" b="1"/>
              <a:t>Moderní síťové prvky </a:t>
            </a:r>
            <a:r>
              <a:rPr lang="cs-CZ" sz="1800"/>
              <a:t>jako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switche, </a:t>
            </a:r>
            <a:r>
              <a:rPr lang="cs-CZ" sz="1800" err="1">
                <a:solidFill>
                  <a:schemeClr val="tx2">
                    <a:lumMod val="50000"/>
                    <a:lumOff val="50000"/>
                  </a:schemeClr>
                </a:solidFill>
              </a:rPr>
              <a:t>routování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1800"/>
              <a:t>a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protokoly typu STP či LACP </a:t>
            </a:r>
            <a:r>
              <a:rPr lang="cs-CZ" sz="1800"/>
              <a:t>zajišťují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efektivitu</a:t>
            </a:r>
            <a:r>
              <a:rPr lang="cs-CZ" sz="1800"/>
              <a:t>,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redundanci</a:t>
            </a:r>
            <a:r>
              <a:rPr lang="cs-CZ" sz="1800"/>
              <a:t> a </a:t>
            </a:r>
            <a:r>
              <a:rPr lang="cs-CZ" sz="1800">
                <a:solidFill>
                  <a:schemeClr val="tx2">
                    <a:lumMod val="50000"/>
                    <a:lumOff val="50000"/>
                  </a:schemeClr>
                </a:solidFill>
              </a:rPr>
              <a:t>vysokou přenosovou kapacitu sítě</a:t>
            </a:r>
            <a:r>
              <a:rPr lang="cs-CZ" sz="1800"/>
              <a:t>.</a:t>
            </a:r>
            <a:endParaRPr kumimoji="0"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4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06A7340-F7EE-2211-F6D4-D1C054CF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9176" y="658879"/>
            <a:ext cx="5458838" cy="1325563"/>
          </a:xfrm>
        </p:spPr>
        <p:txBody>
          <a:bodyPr>
            <a:normAutofit/>
          </a:bodyPr>
          <a:lstStyle/>
          <a:p>
            <a:r>
              <a:rPr lang="cs-CZ"/>
              <a:t>Adresace v Ethernetu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&#10;&#10;Popis byl vytvořen automaticky">
            <a:extLst>
              <a:ext uri="{FF2B5EF4-FFF2-40B4-BE49-F238E27FC236}">
                <a16:creationId xmlns:a16="http://schemas.microsoft.com/office/drawing/2014/main" id="{F9B4C05B-901C-75DD-8E68-D7D70FFE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40" y="2288896"/>
            <a:ext cx="4777381" cy="19109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DAEC9AF-75D3-6E87-B99C-743F6B711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1260" y="1644335"/>
            <a:ext cx="6268029" cy="51110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cs-CZ" sz="2000"/>
              <a:t>V </a:t>
            </a:r>
            <a:r>
              <a:rPr lang="cs-CZ" sz="2000" b="1"/>
              <a:t>Ethernetu</a:t>
            </a:r>
            <a:r>
              <a:rPr lang="cs-CZ" sz="2000"/>
              <a:t> se pro adresaci používá </a:t>
            </a:r>
            <a:r>
              <a:rPr lang="cs-CZ" sz="2000" b="1"/>
              <a:t>MAC adresa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Media Access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Control</a:t>
            </a:r>
            <a:r>
              <a:rPr lang="cs-CZ" sz="2000"/>
              <a:t>). </a:t>
            </a:r>
          </a:p>
          <a:p>
            <a:r>
              <a:rPr lang="cs-CZ" sz="2000" b="1"/>
              <a:t>MAC adresa</a:t>
            </a:r>
            <a:r>
              <a:rPr lang="cs-CZ" sz="2000"/>
              <a:t> je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48bitový unikátní identifikátor</a:t>
            </a:r>
            <a:r>
              <a:rPr lang="cs-CZ" sz="2000"/>
              <a:t>, který má každé </a:t>
            </a:r>
            <a:r>
              <a:rPr lang="cs-CZ" sz="2000" b="1"/>
              <a:t>síťové zařízení</a:t>
            </a:r>
            <a:r>
              <a:rPr lang="cs-CZ" sz="2000"/>
              <a:t>. </a:t>
            </a:r>
          </a:p>
          <a:p>
            <a:r>
              <a:rPr lang="cs-CZ" sz="2000" b="1"/>
              <a:t>MAC adresa </a:t>
            </a:r>
            <a:r>
              <a:rPr lang="cs-CZ" sz="2000"/>
              <a:t>je přiřazena výrobcem a zapisuje se ve formátu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šesti hexadecimálních dvoj</a:t>
            </a:r>
            <a:r>
              <a:rPr lang="cs-CZ" sz="2000"/>
              <a:t>ic, např. </a:t>
            </a:r>
            <a:r>
              <a:rPr lang="cs-CZ" sz="2000" b="1"/>
              <a:t>00:1A:2B:3C:4D:5E</a:t>
            </a:r>
            <a:r>
              <a:rPr lang="cs-CZ" sz="2000"/>
              <a:t>.</a:t>
            </a:r>
          </a:p>
          <a:p>
            <a:r>
              <a:rPr lang="cs-CZ" sz="2000" b="1"/>
              <a:t>MAC adresy </a:t>
            </a:r>
            <a:r>
              <a:rPr lang="cs-CZ" sz="2000"/>
              <a:t>slouží k </a:t>
            </a:r>
            <a:r>
              <a:rPr lang="cs-CZ" sz="2000" b="1"/>
              <a:t>identifikaci</a:t>
            </a:r>
            <a:r>
              <a:rPr lang="cs-CZ" sz="2000"/>
              <a:t> zařízení na </a:t>
            </a:r>
            <a:r>
              <a:rPr lang="cs-CZ" sz="2000" b="1"/>
              <a:t>vrstvě datového spojení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Link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Layer</a:t>
            </a:r>
            <a:r>
              <a:rPr lang="cs-CZ" sz="2000"/>
              <a:t>)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/>
              <a:t>a jsou používány k doručování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rámců</a:t>
            </a:r>
            <a:r>
              <a:rPr lang="cs-CZ" sz="2000"/>
              <a:t> mezi zařízeními v </a:t>
            </a:r>
            <a:r>
              <a:rPr lang="cs-CZ" sz="2000" b="1"/>
              <a:t>lokální síti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LAN</a:t>
            </a:r>
            <a:r>
              <a:rPr lang="cs-CZ" sz="2000"/>
              <a:t>)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. </a:t>
            </a:r>
          </a:p>
          <a:p>
            <a:r>
              <a:rPr lang="cs-CZ" sz="2000"/>
              <a:t>Každý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rámec</a:t>
            </a:r>
            <a:r>
              <a:rPr lang="cs-CZ" sz="2000"/>
              <a:t> obsahuje </a:t>
            </a:r>
            <a:r>
              <a:rPr lang="cs-CZ" sz="2000" b="1"/>
              <a:t>zdrojovou a cílovou MAC adresu</a:t>
            </a:r>
            <a:r>
              <a:rPr lang="cs-CZ" sz="2000"/>
              <a:t>, které  určují,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odkud</a:t>
            </a:r>
            <a:r>
              <a:rPr lang="cs-CZ" sz="2000"/>
              <a:t> 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kam</a:t>
            </a:r>
            <a:r>
              <a:rPr lang="cs-CZ" sz="2000"/>
              <a:t> data putují.</a:t>
            </a:r>
          </a:p>
        </p:txBody>
      </p:sp>
    </p:spTree>
    <p:extLst>
      <p:ext uri="{BB962C8B-B14F-4D97-AF65-F5344CB8AC3E}">
        <p14:creationId xmlns:p14="http://schemas.microsoft.com/office/powerpoint/2010/main" val="373025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B62C06D-B929-62D1-6AD6-FBACEF3AB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8" y="0"/>
            <a:ext cx="5458838" cy="1325563"/>
          </a:xfrm>
        </p:spPr>
        <p:txBody>
          <a:bodyPr>
            <a:normAutofit fontScale="90000"/>
          </a:bodyPr>
          <a:lstStyle/>
          <a:p>
            <a:r>
              <a:rPr lang="cs-CZ" sz="3400" b="1"/>
              <a:t>Kolizní doména, přístupová metoda a způsob řešení kolize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, řada/pruh, diagram&#10;&#10;Popis byl vytvořen automaticky">
            <a:extLst>
              <a:ext uri="{FF2B5EF4-FFF2-40B4-BE49-F238E27FC236}">
                <a16:creationId xmlns:a16="http://schemas.microsoft.com/office/drawing/2014/main" id="{A906F8E2-AF72-CD07-9F1C-A2C1D5574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770" y="4529136"/>
            <a:ext cx="5478126" cy="22953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D6D4265-368A-6289-C0D3-4129246030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548" y="1108359"/>
            <a:ext cx="1116634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Kolizní doména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sítě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kde může dojít ke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kolizi dat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pokud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dvě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nebo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více zařízení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vysílají současně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Malá Ethernetová síť s </a:t>
            </a:r>
            <a:r>
              <a:rPr kumimoji="0" lang="cs-CZ" altLang="cs-CZ" sz="2000" b="0" i="0" u="none" strike="noStrike" cap="none" normalizeH="0" baseline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hubem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kde se všechny zařízení nacházejí ve stejné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kolizní doméně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CSMA/CD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Carrier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Sense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Access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Collision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1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Přístupová metoda, kde zařízení naslouchá kanálu před vysíláním a detekuje kolize.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Když počítač chce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odeslat data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nejprve se ujistí, že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síť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není </a:t>
            </a:r>
            <a:r>
              <a:rPr kumimoji="0" lang="cs-CZ" altLang="cs-CZ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obsazena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Řešení kolizí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kolizi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zařízení čeká náhodný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časový interval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před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opětovným vysíláním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Příklad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kolizi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dva počítače 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počkají náhodně, aby minimalizovaly další kolizi při </a:t>
            </a:r>
            <a:r>
              <a:rPr kumimoji="0" lang="cs-CZ" altLang="cs-CZ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opětovném odesílání</a:t>
            </a:r>
            <a:r>
              <a:rPr kumimoji="0" lang="cs-CZ" altLang="cs-CZ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45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B189DD-941E-1DD7-B2DB-1B338D06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9911" y="-701"/>
            <a:ext cx="5482138" cy="1144206"/>
          </a:xfrm>
        </p:spPr>
        <p:txBody>
          <a:bodyPr anchor="b">
            <a:normAutofit/>
          </a:bodyPr>
          <a:lstStyle/>
          <a:p>
            <a:r>
              <a:rPr lang="cs-CZ" sz="3500"/>
              <a:t>Síťový hardware zajišťující funkcionalitu a jejich rozdíly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lektronický protoboard">
            <a:extLst>
              <a:ext uri="{FF2B5EF4-FFF2-40B4-BE49-F238E27FC236}">
                <a16:creationId xmlns:a16="http://schemas.microsoft.com/office/drawing/2014/main" id="{D14F042A-1D9D-FE48-D9CD-0A67C01C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29"/>
          <a:stretch/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8" name="Obrázek 7" descr="Obsah obrázku text, snímek obrazovky, Písmo, diagram&#10;&#10;Popis byl vytvořen automaticky">
            <a:extLst>
              <a:ext uri="{FF2B5EF4-FFF2-40B4-BE49-F238E27FC236}">
                <a16:creationId xmlns:a16="http://schemas.microsoft.com/office/drawing/2014/main" id="{B184C5FA-5B6B-7172-0035-D01EDA21D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032"/>
          <a:stretch/>
        </p:blipFill>
        <p:spPr>
          <a:xfrm>
            <a:off x="279143" y="3538199"/>
            <a:ext cx="5221625" cy="301039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CB06D85-8F72-A809-01C3-2737AE2F3F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9911" y="1143504"/>
            <a:ext cx="5827797" cy="59920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Hub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cs-CZ" sz="2000">
                <a:solidFill>
                  <a:schemeClr val="accent6">
                    <a:lumMod val="50000"/>
                    <a:alpha val="80000"/>
                  </a:schemeClr>
                </a:solidFill>
              </a:rPr>
              <a:t>Jednoduché zařízení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, které přeposílá všechny přijaté </a:t>
            </a:r>
            <a:r>
              <a:rPr lang="cs-CZ" sz="2000">
                <a:solidFill>
                  <a:schemeClr val="accent3">
                    <a:lumMod val="75000"/>
                    <a:alpha val="80000"/>
                  </a:schemeClr>
                </a:solidFill>
              </a:rPr>
              <a:t>signály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 na všechny porty bez ohledu na cílovou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MAC adresu</a:t>
            </a:r>
            <a:r>
              <a:rPr lang="cs-CZ" sz="2000">
                <a:solidFill>
                  <a:schemeClr val="tx2">
                    <a:lumMod val="50000"/>
                    <a:lumOff val="50000"/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Vhodný pro malé a jednoduché sítě, ale neefektivní, protože způsobuje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kolize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Switch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Inteligentnější než hub; přeposílá data pouze na port, který odpovídá cílové </a:t>
            </a:r>
            <a:r>
              <a:rPr lang="cs-CZ" sz="2000" b="1"/>
              <a:t>MAC adrese</a:t>
            </a:r>
            <a:r>
              <a:rPr lang="cs-CZ" sz="2000"/>
              <a:t>. </a:t>
            </a:r>
            <a:r>
              <a:rPr lang="cs-CZ" sz="2000">
                <a:solidFill>
                  <a:schemeClr val="accent6">
                    <a:lumMod val="75000"/>
                    <a:alpha val="80000"/>
                  </a:schemeClr>
                </a:solidFill>
              </a:rPr>
              <a:t>Eliminuje kolize 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tím, že  každému zařízení přiděluje vlastní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kolizní doménu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Vhodný pro většinu </a:t>
            </a:r>
            <a:r>
              <a:rPr lang="cs-CZ" sz="2000">
                <a:solidFill>
                  <a:schemeClr val="accent6">
                    <a:lumMod val="75000"/>
                    <a:alpha val="80000"/>
                  </a:schemeClr>
                </a:solidFill>
              </a:rPr>
              <a:t>LAN sítí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; zajišťuje efektivní přenos dat.</a:t>
            </a:r>
          </a:p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Router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Propojuje různé sítě a směruje pakety mezi nimi. Pracuje na třetí </a:t>
            </a:r>
            <a:r>
              <a:rPr lang="cs-CZ" sz="2000">
                <a:solidFill>
                  <a:schemeClr val="accent6">
                    <a:lumMod val="75000"/>
                    <a:alpha val="80000"/>
                  </a:schemeClr>
                </a:solidFill>
              </a:rPr>
              <a:t>vrstvě</a:t>
            </a:r>
            <a:r>
              <a:rPr lang="cs-CZ" sz="2000">
                <a:solidFill>
                  <a:schemeClr val="tx2">
                    <a:lumMod val="50000"/>
                    <a:lumOff val="50000"/>
                    <a:alpha val="80000"/>
                  </a:schemeClr>
                </a:solidFill>
              </a:rPr>
              <a:t> 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Network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Layer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).</a:t>
            </a:r>
          </a:p>
          <a:p>
            <a:pPr marL="0" indent="0">
              <a:buNone/>
            </a:pPr>
            <a:r>
              <a:rPr lang="cs-CZ" sz="20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: Používá se pro připojení domácích nebo firemních sítí k </a:t>
            </a:r>
            <a:r>
              <a:rPr lang="cs-CZ" sz="2000">
                <a:solidFill>
                  <a:schemeClr val="accent3">
                    <a:lumMod val="75000"/>
                    <a:alpha val="80000"/>
                  </a:schemeClr>
                </a:solidFill>
              </a:rPr>
              <a:t>internetu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; spravuje</a:t>
            </a:r>
            <a:r>
              <a:rPr lang="cs-CZ" sz="2000">
                <a:solidFill>
                  <a:schemeClr val="tx2">
                    <a:lumMod val="50000"/>
                    <a:lumOff val="50000"/>
                    <a:alpha val="80000"/>
                  </a:schemeClr>
                </a:solidFill>
              </a:rPr>
              <a:t>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IP adresaci 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cs-CZ" sz="2000">
                <a:solidFill>
                  <a:schemeClr val="accent6">
                    <a:lumMod val="75000"/>
                    <a:alpha val="80000"/>
                  </a:schemeClr>
                </a:solidFill>
              </a:rPr>
              <a:t>NAT</a:t>
            </a:r>
            <a:r>
              <a:rPr lang="cs-CZ" sz="2000">
                <a:solidFill>
                  <a:schemeClr val="tx2">
                    <a:lumMod val="50000"/>
                    <a:lumOff val="50000"/>
                    <a:alpha val="80000"/>
                  </a:schemeClr>
                </a:solidFill>
              </a:rPr>
              <a:t> 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Network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Address</a:t>
            </a:r>
            <a:r>
              <a:rPr lang="cs-CZ" sz="2000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Translation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</a:rPr>
              <a:t>).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73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>
            <a:extLst>
              <a:ext uri="{FF2B5EF4-FFF2-40B4-BE49-F238E27FC236}">
                <a16:creationId xmlns:a16="http://schemas.microsoft.com/office/drawing/2014/main" id="{9EE5ACC2-09D7-CE50-DEDE-F31DCD317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0750" y="123825"/>
            <a:ext cx="5581650" cy="6858000"/>
          </a:xfrm>
        </p:spPr>
        <p:txBody>
          <a:bodyPr/>
          <a:lstStyle/>
          <a:p>
            <a:pPr marL="0" indent="0" algn="l">
              <a:buNone/>
            </a:pPr>
            <a:r>
              <a:rPr lang="cs-CZ" sz="2400" b="1" err="1">
                <a:solidFill>
                  <a:schemeClr val="tx1">
                    <a:alpha val="80000"/>
                  </a:schemeClr>
                </a:solidFill>
              </a:rPr>
              <a:t>Bridge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 Spojuje dvě nebo více síťových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segmentů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filtruje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 provoz na základě 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MAC adres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, podobně jako 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switch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 algn="l">
              <a:buNone/>
            </a:pP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 Pomoc při rozšíření sítí a </a:t>
            </a:r>
            <a:r>
              <a:rPr lang="cs-CZ" sz="2400">
                <a:solidFill>
                  <a:schemeClr val="accent6">
                    <a:lumMod val="75000"/>
                    <a:alpha val="80000"/>
                  </a:schemeClr>
                </a:solidFill>
              </a:rPr>
              <a:t>segmentaci provozu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 algn="l">
              <a:buNone/>
            </a:pPr>
            <a:r>
              <a:rPr lang="cs-CZ" sz="2400" b="1" err="1">
                <a:solidFill>
                  <a:schemeClr val="tx1">
                    <a:alpha val="80000"/>
                  </a:schemeClr>
                </a:solidFill>
              </a:rPr>
              <a:t>Repeater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 Zesiluje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signál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 pro přenos na delší vzdálenosti. Nepřidává žádné 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inteligentní funkce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 algn="l">
              <a:buNone/>
            </a:pP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 Používá se pro prodloužení dosahu 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kabelových sítí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 algn="l">
              <a:buNone/>
            </a:pP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Access Point (</a:t>
            </a:r>
            <a:r>
              <a:rPr lang="cs-CZ" sz="2400" b="1">
                <a:solidFill>
                  <a:schemeClr val="accent5">
                    <a:lumMod val="60000"/>
                    <a:lumOff val="40000"/>
                    <a:alpha val="80000"/>
                  </a:schemeClr>
                </a:solidFill>
              </a:rPr>
              <a:t>AP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)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</a:t>
            </a:r>
            <a:r>
              <a:rPr lang="cs-CZ" sz="2400">
                <a:solidFill>
                  <a:schemeClr val="tx2">
                    <a:lumMod val="50000"/>
                    <a:lumOff val="50000"/>
                    <a:alpha val="80000"/>
                  </a:schemeClr>
                </a:solidFill>
              </a:rPr>
              <a:t> 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Umožňuje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bezdrátovým zařízením 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připojení k </a:t>
            </a: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drátové síti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 Funguje jako rozhraní mezi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bezdrátovými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drátovými sítěmi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 algn="l">
              <a:buNone/>
            </a:pPr>
            <a:r>
              <a:rPr lang="cs-CZ" sz="2400" b="1">
                <a:solidFill>
                  <a:schemeClr val="tx1">
                    <a:alpha val="80000"/>
                  </a:schemeClr>
                </a:solidFill>
              </a:rPr>
              <a:t>Použití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: Vhodný pro rozšíření bezdrátového pokrytí v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domácnostech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 nebo </a:t>
            </a:r>
            <a:r>
              <a:rPr lang="cs-CZ" sz="2400">
                <a:solidFill>
                  <a:schemeClr val="accent3">
                    <a:lumMod val="75000"/>
                    <a:alpha val="80000"/>
                  </a:schemeClr>
                </a:solidFill>
              </a:rPr>
              <a:t>kancelářích</a:t>
            </a:r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algn="l"/>
            <a:endParaRPr lang="cs-CZ"/>
          </a:p>
        </p:txBody>
      </p:sp>
      <p:pic>
        <p:nvPicPr>
          <p:cNvPr id="5" name="Obrázek 4" descr="Obsah obrázku text, snímek obrazovky, elektronika, kabel&#10;&#10;Popis byl vytvořen automaticky">
            <a:extLst>
              <a:ext uri="{FF2B5EF4-FFF2-40B4-BE49-F238E27FC236}">
                <a16:creationId xmlns:a16="http://schemas.microsoft.com/office/drawing/2014/main" id="{DA3A8995-4DBD-8130-1AA3-8DA7DBBFC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912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85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8B8EA9-DEA3-636C-6165-CC1C477F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722" y="41507"/>
            <a:ext cx="5458838" cy="1325563"/>
          </a:xfrm>
        </p:spPr>
        <p:txBody>
          <a:bodyPr>
            <a:normAutofit/>
          </a:bodyPr>
          <a:lstStyle/>
          <a:p>
            <a:r>
              <a:rPr lang="cs-CZ" sz="2800" b="1"/>
              <a:t>Zajištění redundance a navýšení přenosové kapacity přenosové linky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, diagram, Písmo, snímek obrazovky&#10;&#10;Popis byl vytvořen automaticky">
            <a:extLst>
              <a:ext uri="{FF2B5EF4-FFF2-40B4-BE49-F238E27FC236}">
                <a16:creationId xmlns:a16="http://schemas.microsoft.com/office/drawing/2014/main" id="{C0CB69C1-1DEA-F73A-8D42-E65039F91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3" y="41507"/>
            <a:ext cx="4552677" cy="202594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1FE5409-AF01-3754-2E7D-8E1D7548E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107" y="1272083"/>
            <a:ext cx="7437738" cy="54494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7500" lnSpcReduction="20000"/>
          </a:bodyPr>
          <a:lstStyle/>
          <a:p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Zajištění redundance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/>
              <a:t>v síti znamená použití </a:t>
            </a:r>
            <a:r>
              <a:rPr lang="cs-CZ" sz="2000" b="1"/>
              <a:t>více spojení mezi zařízeními</a:t>
            </a:r>
            <a:r>
              <a:rPr lang="cs-CZ" sz="2000"/>
              <a:t>, aby se zajistilo, že pokud jedna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cesta selže</a:t>
            </a:r>
            <a:r>
              <a:rPr lang="cs-CZ" sz="2000"/>
              <a:t>, provoz se automaticky přesměruje na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záložní cestu.</a:t>
            </a:r>
            <a:r>
              <a:rPr lang="cs-CZ" sz="2000"/>
              <a:t> </a:t>
            </a:r>
          </a:p>
          <a:p>
            <a:pPr marL="0" indent="0">
              <a:buNone/>
            </a:pPr>
            <a:r>
              <a:rPr lang="cs-CZ" sz="2000"/>
              <a:t>    To zvyšuje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spolehlivost sítě</a:t>
            </a:r>
            <a:r>
              <a:rPr lang="cs-CZ" sz="2000"/>
              <a:t>.</a:t>
            </a:r>
          </a:p>
          <a:p>
            <a:pPr marL="0" indent="0">
              <a:buNone/>
            </a:pPr>
            <a:r>
              <a:rPr lang="cs-CZ" sz="1900" b="1"/>
              <a:t>Příklady: </a:t>
            </a:r>
            <a:r>
              <a:rPr lang="cs-CZ" sz="1900">
                <a:solidFill>
                  <a:schemeClr val="accent6">
                    <a:lumMod val="75000"/>
                  </a:schemeClr>
                </a:solidFill>
              </a:rPr>
              <a:t>Propojení </a:t>
            </a:r>
            <a:r>
              <a:rPr lang="cs-CZ" sz="1900" err="1">
                <a:solidFill>
                  <a:schemeClr val="accent6">
                    <a:lumMod val="75000"/>
                  </a:schemeClr>
                </a:solidFill>
              </a:rPr>
              <a:t>switchů</a:t>
            </a:r>
            <a:r>
              <a:rPr lang="cs-CZ" sz="190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cs-CZ" sz="1900" err="1">
                <a:solidFill>
                  <a:schemeClr val="accent6">
                    <a:lumMod val="75000"/>
                  </a:schemeClr>
                </a:solidFill>
              </a:rPr>
              <a:t>Multiple</a:t>
            </a:r>
            <a:r>
              <a:rPr lang="cs-CZ" sz="1900">
                <a:solidFill>
                  <a:schemeClr val="accent6">
                    <a:lumMod val="75000"/>
                  </a:schemeClr>
                </a:solidFill>
              </a:rPr>
              <a:t> linky na routeru, Záložní servery</a:t>
            </a:r>
            <a:endParaRPr lang="cs-CZ" sz="20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Navýšení přenosové kapacity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/>
              <a:t>se dosahuje například pomocí </a:t>
            </a:r>
            <a:r>
              <a:rPr lang="cs-CZ" sz="2000" b="1"/>
              <a:t>Link </a:t>
            </a:r>
            <a:r>
              <a:rPr lang="cs-CZ" sz="2000" b="1" err="1"/>
              <a:t>Aggregation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LACP</a:t>
            </a:r>
            <a:r>
              <a:rPr lang="cs-CZ" sz="2000"/>
              <a:t>),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/>
              <a:t>která </a:t>
            </a:r>
            <a:r>
              <a:rPr lang="cs-CZ" sz="2000" b="1"/>
              <a:t>kombinuje</a:t>
            </a:r>
            <a:r>
              <a:rPr lang="cs-CZ" sz="2000"/>
              <a:t> více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fyzických spojení </a:t>
            </a:r>
            <a:r>
              <a:rPr lang="cs-CZ" sz="2000"/>
              <a:t>do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jednoho logického</a:t>
            </a:r>
            <a:r>
              <a:rPr lang="cs-CZ" sz="2000"/>
              <a:t>, čímž se zvyšuje celková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šířka pásma</a:t>
            </a:r>
            <a:r>
              <a:rPr lang="cs-CZ" sz="2000"/>
              <a:t>. </a:t>
            </a:r>
          </a:p>
          <a:p>
            <a:pPr marL="0" indent="0">
              <a:buNone/>
            </a:pPr>
            <a:r>
              <a:rPr lang="cs-CZ" sz="2000"/>
              <a:t>    Pokud jedno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fyzické spojení </a:t>
            </a:r>
            <a:r>
              <a:rPr lang="cs-CZ" sz="2000"/>
              <a:t>selže, provoz může být rozložen mezi zbývající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aktivní linky</a:t>
            </a:r>
            <a:r>
              <a:rPr lang="cs-CZ" sz="2000"/>
              <a:t>.</a:t>
            </a:r>
          </a:p>
          <a:p>
            <a:pPr marL="0" indent="0">
              <a:buNone/>
            </a:pPr>
            <a:r>
              <a:rPr lang="cs-CZ" sz="2000" b="1"/>
              <a:t>Příklady: </a:t>
            </a:r>
            <a:r>
              <a:rPr lang="cs-CZ" sz="1800">
                <a:solidFill>
                  <a:schemeClr val="accent6">
                    <a:lumMod val="50000"/>
                  </a:schemeClr>
                </a:solidFill>
              </a:rPr>
              <a:t>Sběrnicové systémy, Využití VLAN, LACP</a:t>
            </a:r>
          </a:p>
          <a:p>
            <a:r>
              <a:rPr lang="cs-CZ" sz="2000">
                <a:solidFill>
                  <a:schemeClr val="tx2">
                    <a:lumMod val="75000"/>
                    <a:lumOff val="25000"/>
                  </a:schemeClr>
                </a:solidFill>
              </a:rPr>
              <a:t>Agregace linek</a:t>
            </a:r>
            <a:r>
              <a:rPr lang="cs-CZ" sz="2000"/>
              <a:t>, jako je technologie </a:t>
            </a:r>
            <a:r>
              <a:rPr lang="cs-CZ" sz="2000" b="1" err="1"/>
              <a:t>EtherChannel</a:t>
            </a:r>
            <a:r>
              <a:rPr lang="cs-CZ" sz="2000"/>
              <a:t>, zvyšuje přenosovou kapacitu seskupením více fyzických spojů do jednoho logického spoje. </a:t>
            </a:r>
          </a:p>
          <a:p>
            <a:r>
              <a:rPr lang="cs-CZ" sz="2000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EtherChannel</a:t>
            </a:r>
            <a:r>
              <a:rPr lang="cs-CZ" sz="2000"/>
              <a:t> může být konfigurován buď pomocí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Cisco</a:t>
            </a:r>
            <a:r>
              <a:rPr lang="cs-CZ" sz="2000"/>
              <a:t> proprietárního protokolu </a:t>
            </a:r>
            <a:r>
              <a:rPr lang="cs-CZ" sz="2000" b="1" err="1"/>
              <a:t>PaGP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Port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Aggregation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Protocol</a:t>
            </a:r>
            <a:r>
              <a:rPr lang="cs-CZ" sz="2000"/>
              <a:t>), nebo standardního </a:t>
            </a:r>
            <a:r>
              <a:rPr lang="cs-CZ" sz="2000" b="1"/>
              <a:t>LACP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Link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Aggregation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Control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Protocol</a:t>
            </a:r>
            <a:r>
              <a:rPr lang="cs-CZ" sz="2000"/>
              <a:t>). </a:t>
            </a:r>
          </a:p>
          <a:p>
            <a:r>
              <a:rPr lang="cs-CZ" sz="2000"/>
              <a:t>Tyto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technologie</a:t>
            </a:r>
            <a:r>
              <a:rPr lang="cs-CZ" sz="2000"/>
              <a:t> poskytují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redundanci </a:t>
            </a:r>
            <a:r>
              <a:rPr lang="cs-CZ" sz="2000"/>
              <a:t>a zvyšují propustnost.</a:t>
            </a:r>
          </a:p>
          <a:p>
            <a:r>
              <a:rPr lang="cs-CZ" sz="2000" b="1" err="1"/>
              <a:t>PaGP</a:t>
            </a:r>
            <a:r>
              <a:rPr lang="cs-CZ" sz="2000"/>
              <a:t> automaticky vyjednává vytvoření </a:t>
            </a:r>
            <a:r>
              <a:rPr lang="cs-CZ" sz="2000" b="1" err="1"/>
              <a:t>EtherChannel</a:t>
            </a:r>
            <a:r>
              <a:rPr lang="cs-CZ" sz="2000"/>
              <a:t> mezi dvěma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Cisco </a:t>
            </a:r>
            <a:r>
              <a:rPr lang="cs-CZ" sz="2000"/>
              <a:t>zařízeními a kontroluje, že jsou linky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kompatibilní. </a:t>
            </a:r>
          </a:p>
          <a:p>
            <a:r>
              <a:rPr lang="cs-CZ" sz="2000" b="1" err="1"/>
              <a:t>PaGP</a:t>
            </a:r>
            <a:r>
              <a:rPr lang="cs-CZ" sz="2000"/>
              <a:t> podporuje </a:t>
            </a:r>
            <a:r>
              <a:rPr lang="cs-CZ" sz="2000">
                <a:solidFill>
                  <a:schemeClr val="accent6">
                    <a:lumMod val="50000"/>
                  </a:schemeClr>
                </a:solidFill>
              </a:rPr>
              <a:t>Auto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pasivní</a:t>
            </a:r>
            <a:r>
              <a:rPr lang="cs-CZ" sz="2000"/>
              <a:t>) a </a:t>
            </a:r>
            <a:r>
              <a:rPr lang="cs-CZ" sz="2000" err="1">
                <a:solidFill>
                  <a:schemeClr val="accent6">
                    <a:lumMod val="75000"/>
                  </a:schemeClr>
                </a:solidFill>
              </a:rPr>
              <a:t>Desirable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aktivní</a:t>
            </a:r>
            <a:r>
              <a:rPr lang="cs-CZ" sz="2000"/>
              <a:t>).</a:t>
            </a:r>
          </a:p>
          <a:p>
            <a:r>
              <a:rPr lang="cs-CZ" sz="2000">
                <a:solidFill>
                  <a:schemeClr val="tx2">
                    <a:lumMod val="75000"/>
                    <a:lumOff val="25000"/>
                  </a:schemeClr>
                </a:solidFill>
              </a:rPr>
              <a:t>fyzické propojení </a:t>
            </a:r>
            <a:r>
              <a:rPr lang="cs-CZ" sz="2000"/>
              <a:t>zařízení pro zajištění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redundance spojů </a:t>
            </a:r>
            <a:r>
              <a:rPr lang="cs-CZ" sz="2000"/>
              <a:t>může vytvořit </a:t>
            </a:r>
            <a:r>
              <a:rPr lang="cs-CZ" sz="2000">
                <a:solidFill>
                  <a:schemeClr val="accent3">
                    <a:lumMod val="75000"/>
                  </a:schemeClr>
                </a:solidFill>
              </a:rPr>
              <a:t>cyklus</a:t>
            </a:r>
            <a:r>
              <a:rPr lang="cs-CZ" sz="2000"/>
              <a:t>, ale ten je řízen </a:t>
            </a:r>
            <a:r>
              <a:rPr lang="cs-CZ" sz="2000" b="1"/>
              <a:t>STP</a:t>
            </a:r>
            <a:r>
              <a:rPr lang="cs-CZ" sz="2000"/>
              <a:t>, které zabrání </a:t>
            </a:r>
            <a:r>
              <a:rPr lang="cs-CZ" sz="2000">
                <a:solidFill>
                  <a:schemeClr val="accent3">
                    <a:lumMod val="75000"/>
                  </a:schemeClr>
                </a:solidFill>
              </a:rPr>
              <a:t>smyčkám</a:t>
            </a:r>
            <a:r>
              <a:rPr lang="cs-CZ" sz="2000"/>
              <a:t> tím, že blokuje </a:t>
            </a:r>
            <a:r>
              <a:rPr lang="cs-CZ" sz="2000">
                <a:solidFill>
                  <a:schemeClr val="accent3">
                    <a:lumMod val="75000"/>
                  </a:schemeClr>
                </a:solidFill>
              </a:rPr>
              <a:t>redundantní linky</a:t>
            </a:r>
            <a:r>
              <a:rPr lang="cs-CZ" sz="2000"/>
              <a:t>, dokud nejsou potřeba.</a:t>
            </a:r>
            <a:endParaRPr kumimoji="0" lang="cs-CZ" altLang="cs-CZ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Obrázek 5" descr="Obsah obrázku diagram, řada/pruh, Dětské kresby, design&#10;&#10;Popis byl vytvořen automaticky">
            <a:extLst>
              <a:ext uri="{FF2B5EF4-FFF2-40B4-BE49-F238E27FC236}">
                <a16:creationId xmlns:a16="http://schemas.microsoft.com/office/drawing/2014/main" id="{35AAF3D2-9F1E-FFCD-5419-0DEE3B1C3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635" y="4746447"/>
            <a:ext cx="1911472" cy="1911472"/>
          </a:xfrm>
          <a:prstGeom prst="rect">
            <a:avLst/>
          </a:prstGeom>
        </p:spPr>
      </p:pic>
      <p:pic>
        <p:nvPicPr>
          <p:cNvPr id="7" name="Obrázek 6" descr="Obsah obrázku text, snímek obrazovky, software, design&#10;&#10;Popis byl vytvořen automaticky">
            <a:extLst>
              <a:ext uri="{FF2B5EF4-FFF2-40B4-BE49-F238E27FC236}">
                <a16:creationId xmlns:a16="http://schemas.microsoft.com/office/drawing/2014/main" id="{7EBEFA65-240E-571A-1609-B4571AFD1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83" y="2043482"/>
            <a:ext cx="3505088" cy="26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9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F98D3C-2473-CAF8-FE37-59518390A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37" y="-130011"/>
            <a:ext cx="5458838" cy="1325563"/>
          </a:xfrm>
        </p:spPr>
        <p:txBody>
          <a:bodyPr>
            <a:normAutofit/>
          </a:bodyPr>
          <a:lstStyle/>
          <a:p>
            <a:r>
              <a:rPr lang="cs-CZ" sz="3600"/>
              <a:t>STP (</a:t>
            </a:r>
            <a:r>
              <a:rPr lang="cs-CZ" sz="3600" err="1"/>
              <a:t>Spanning</a:t>
            </a:r>
            <a:r>
              <a:rPr lang="cs-CZ" sz="3600"/>
              <a:t> </a:t>
            </a:r>
            <a:r>
              <a:rPr lang="cs-CZ" sz="3600" err="1"/>
              <a:t>Tree</a:t>
            </a:r>
            <a:r>
              <a:rPr lang="cs-CZ" sz="3600"/>
              <a:t> </a:t>
            </a:r>
            <a:r>
              <a:rPr lang="cs-CZ" sz="3600" err="1"/>
              <a:t>Protocol</a:t>
            </a:r>
            <a:r>
              <a:rPr lang="cs-CZ" sz="3600"/>
              <a:t>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, diagram, řada/pruh&#10;&#10;Popis byl vytvořen automaticky">
            <a:extLst>
              <a:ext uri="{FF2B5EF4-FFF2-40B4-BE49-F238E27FC236}">
                <a16:creationId xmlns:a16="http://schemas.microsoft.com/office/drawing/2014/main" id="{5E27A48D-4E77-3EB4-D490-1B6C1DB2A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60" y="1066581"/>
            <a:ext cx="2708838" cy="236346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Obrázek 5" descr="Obsah obrázku text, snímek obrazovky, diagram, řada/pruh&#10;&#10;Popis byl vytvořen automaticky">
            <a:extLst>
              <a:ext uri="{FF2B5EF4-FFF2-40B4-BE49-F238E27FC236}">
                <a16:creationId xmlns:a16="http://schemas.microsoft.com/office/drawing/2014/main" id="{D91B04F1-D3B3-D76C-E0F7-E67763CC3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6139"/>
            <a:ext cx="3473251" cy="3290907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37B525-47F7-BDED-ED20-FD67F1102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2208" y="13597"/>
            <a:ext cx="8300834" cy="5857391"/>
          </a:xfrm>
        </p:spPr>
        <p:txBody>
          <a:bodyPr>
            <a:noAutofit/>
          </a:bodyPr>
          <a:lstStyle/>
          <a:p>
            <a:r>
              <a:rPr lang="cs-CZ" sz="2000" b="1" err="1">
                <a:solidFill>
                  <a:schemeClr val="tx2">
                    <a:lumMod val="50000"/>
                    <a:lumOff val="50000"/>
                  </a:schemeClr>
                </a:solidFill>
              </a:rPr>
              <a:t>Spanning</a:t>
            </a: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 b="1" err="1">
                <a:solidFill>
                  <a:schemeClr val="tx2">
                    <a:lumMod val="50000"/>
                    <a:lumOff val="50000"/>
                  </a:schemeClr>
                </a:solidFill>
              </a:rPr>
              <a:t>Tree</a:t>
            </a: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 b="1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Protocol</a:t>
            </a: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 b="1"/>
              <a:t>(</a:t>
            </a:r>
            <a:r>
              <a:rPr lang="cs-CZ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STP</a:t>
            </a:r>
            <a:r>
              <a:rPr lang="cs-CZ" sz="2000" b="1"/>
              <a:t>)</a:t>
            </a:r>
            <a:r>
              <a:rPr lang="cs-CZ" sz="2000"/>
              <a:t> je síťový protokol, který zabraňuje vzniku smyček v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Ethernetových sítích</a:t>
            </a:r>
            <a:r>
              <a:rPr lang="cs-CZ" sz="2000"/>
              <a:t>, čímž zajišťuje                                              efektivní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přenos dat </a:t>
            </a:r>
            <a:r>
              <a:rPr lang="cs-CZ" sz="2000"/>
              <a:t>bez nekonečného </a:t>
            </a:r>
            <a:r>
              <a:rPr lang="cs-CZ" sz="2000" b="1"/>
              <a:t>cyklování</a:t>
            </a:r>
            <a:r>
              <a:rPr lang="cs-CZ" sz="2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Kořenový most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STP</a:t>
            </a:r>
            <a:r>
              <a:rPr lang="cs-CZ" sz="2000"/>
              <a:t> zvolí jeden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switch</a:t>
            </a:r>
            <a:r>
              <a:rPr lang="cs-CZ" sz="2000"/>
              <a:t> jako </a:t>
            </a:r>
            <a:r>
              <a:rPr lang="cs-CZ" sz="2000" b="1"/>
              <a:t>kořenový most (</a:t>
            </a:r>
            <a:r>
              <a:rPr lang="cs-CZ" sz="2000" b="1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root</a:t>
            </a:r>
            <a:r>
              <a:rPr lang="cs-CZ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b="1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bridge</a:t>
            </a:r>
            <a:r>
              <a:rPr lang="cs-CZ" sz="2000" b="1"/>
              <a:t>) </a:t>
            </a:r>
            <a:r>
              <a:rPr lang="cs-CZ" sz="2000"/>
              <a:t>a určuje nejkratší cesty k němu.</a:t>
            </a:r>
            <a:r>
              <a:rPr lang="cs-CZ" sz="1400"/>
              <a:t> </a:t>
            </a:r>
            <a:r>
              <a:rPr lang="cs-CZ" sz="1700"/>
              <a:t>Vítězný </a:t>
            </a:r>
            <a:r>
              <a:rPr lang="cs-CZ" sz="1700">
                <a:solidFill>
                  <a:schemeClr val="accent6">
                    <a:lumMod val="75000"/>
                  </a:schemeClr>
                </a:solidFill>
              </a:rPr>
              <a:t>switch</a:t>
            </a:r>
            <a:r>
              <a:rPr lang="cs-CZ" sz="1700"/>
              <a:t> je určen na základě </a:t>
            </a:r>
            <a:r>
              <a:rPr lang="cs-CZ" sz="1700" b="1"/>
              <a:t>nejnižšího </a:t>
            </a:r>
            <a:r>
              <a:rPr lang="cs-CZ" sz="1700" b="1" err="1"/>
              <a:t>Bridge</a:t>
            </a:r>
            <a:r>
              <a:rPr lang="cs-CZ" sz="1700" b="1"/>
              <a:t> ID.</a:t>
            </a:r>
            <a:endParaRPr lang="cs-CZ" sz="1700"/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Aktivace záložních cest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cs-CZ" sz="2000"/>
              <a:t>Pokud dojde k výpadku aktivní cesty,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STP</a:t>
            </a:r>
            <a:r>
              <a:rPr lang="cs-CZ" sz="2000"/>
              <a:t> rychle aktivuje záložní linky, čímž zajišťuje kontinuitu připojení.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Konvergence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:</a:t>
            </a:r>
            <a:r>
              <a:rPr lang="cs-CZ" sz="2000"/>
              <a:t>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STP</a:t>
            </a:r>
            <a:r>
              <a:rPr lang="cs-CZ" sz="2000"/>
              <a:t> obvykle potřebuje </a:t>
            </a:r>
            <a:r>
              <a:rPr lang="cs-CZ" sz="2000" b="1"/>
              <a:t>30–50 sekund</a:t>
            </a:r>
            <a:r>
              <a:rPr lang="cs-CZ" sz="2000"/>
              <a:t> pro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konvergenci</a:t>
            </a:r>
            <a:r>
              <a:rPr lang="cs-CZ" sz="2000"/>
              <a:t>, než se stabilizuje síť po změně </a:t>
            </a:r>
            <a:r>
              <a:rPr lang="cs-CZ" sz="2000" b="1">
                <a:solidFill>
                  <a:schemeClr val="accent6">
                    <a:lumMod val="75000"/>
                  </a:schemeClr>
                </a:solidFill>
              </a:rPr>
              <a:t>topologie</a:t>
            </a:r>
            <a:r>
              <a:rPr lang="cs-CZ" sz="2000"/>
              <a:t>.</a:t>
            </a:r>
          </a:p>
          <a:p>
            <a:r>
              <a:rPr lang="cs-CZ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RSTP</a:t>
            </a:r>
            <a:r>
              <a:rPr lang="cs-CZ" sz="2000"/>
              <a:t> 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Rapid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Spanning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Tree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Protocol</a:t>
            </a:r>
            <a:r>
              <a:rPr lang="cs-CZ" sz="2000"/>
              <a:t>)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cs-CZ" sz="2000"/>
              <a:t>je vylepšenou verzí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STP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,</a:t>
            </a:r>
            <a:r>
              <a:rPr lang="cs-CZ" sz="2000"/>
              <a:t> která rychleji reaguje na změny v </a:t>
            </a:r>
            <a:r>
              <a:rPr lang="cs-CZ" sz="2000" b="1">
                <a:solidFill>
                  <a:schemeClr val="accent6">
                    <a:lumMod val="75000"/>
                  </a:schemeClr>
                </a:solidFill>
              </a:rPr>
              <a:t>topologii sítě</a:t>
            </a:r>
            <a:r>
              <a:rPr lang="cs-CZ" sz="2000"/>
              <a:t>.</a:t>
            </a:r>
          </a:p>
          <a:p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Algoritmus STP </a:t>
            </a:r>
            <a:r>
              <a:rPr lang="cs-CZ" sz="2000"/>
              <a:t>(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Spanning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Tree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Protocol</a:t>
            </a:r>
            <a:r>
              <a:rPr lang="cs-CZ" sz="2000"/>
              <a:t>) je navržen pro prevenci smyček v síti. Každý switch v síti si vyměňuje BPDU </a:t>
            </a:r>
            <a:r>
              <a:rPr lang="cs-CZ" sz="1700"/>
              <a:t>(</a:t>
            </a:r>
            <a:r>
              <a:rPr lang="cs-CZ" sz="17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Bridge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7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Protocol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 Data </a:t>
            </a:r>
            <a:r>
              <a:rPr lang="cs-CZ" sz="17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Units</a:t>
            </a:r>
            <a:r>
              <a:rPr lang="cs-CZ" sz="1700"/>
              <a:t>)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2000"/>
              <a:t>zprávy s informacemi o svém </a:t>
            </a:r>
            <a:r>
              <a:rPr lang="cs-CZ" sz="2000" b="1" err="1"/>
              <a:t>Bridge</a:t>
            </a:r>
            <a:r>
              <a:rPr lang="cs-CZ" sz="2000" b="1"/>
              <a:t> ID</a:t>
            </a:r>
            <a:r>
              <a:rPr lang="cs-CZ" sz="2000"/>
              <a:t>. </a:t>
            </a:r>
          </a:p>
          <a:p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Switch</a:t>
            </a:r>
            <a:r>
              <a:rPr lang="cs-CZ" sz="2000"/>
              <a:t> nejprve zvolí </a:t>
            </a:r>
            <a:r>
              <a:rPr lang="cs-CZ" sz="2000" b="1" err="1"/>
              <a:t>root</a:t>
            </a:r>
            <a:r>
              <a:rPr lang="cs-CZ" sz="2000" b="1"/>
              <a:t> </a:t>
            </a:r>
            <a:r>
              <a:rPr lang="cs-CZ" sz="2000" b="1" err="1"/>
              <a:t>bridge</a:t>
            </a:r>
            <a:r>
              <a:rPr lang="cs-CZ" sz="2000"/>
              <a:t>, </a:t>
            </a:r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ostatní switche </a:t>
            </a:r>
            <a:r>
              <a:rPr lang="cs-CZ" sz="2000"/>
              <a:t>pak volí své </a:t>
            </a:r>
            <a:r>
              <a:rPr lang="cs-CZ" sz="2000" err="1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 porty </a:t>
            </a:r>
            <a:r>
              <a:rPr lang="cs-CZ" sz="1700"/>
              <a:t>(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nejlepší cesta k </a:t>
            </a:r>
            <a:r>
              <a:rPr lang="cs-CZ" sz="17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root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cs-CZ" sz="170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bridge</a:t>
            </a:r>
            <a:r>
              <a:rPr lang="cs-CZ" sz="1700"/>
              <a:t>), </a:t>
            </a:r>
            <a:r>
              <a:rPr lang="cs-CZ" sz="2000" err="1">
                <a:solidFill>
                  <a:schemeClr val="accent6">
                    <a:lumMod val="75000"/>
                  </a:schemeClr>
                </a:solidFill>
              </a:rPr>
              <a:t>designated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 porty</a:t>
            </a:r>
            <a:r>
              <a:rPr lang="cs-CZ" sz="2000"/>
              <a:t>(</a:t>
            </a:r>
            <a:r>
              <a:rPr lang="cs-CZ" sz="1700">
                <a:solidFill>
                  <a:schemeClr val="accent5">
                    <a:lumMod val="60000"/>
                    <a:lumOff val="40000"/>
                  </a:schemeClr>
                </a:solidFill>
              </a:rPr>
              <a:t>odpovědné za přenos dat  v daném segmentu</a:t>
            </a:r>
            <a:r>
              <a:rPr lang="cs-CZ" sz="2000"/>
              <a:t>)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cs-CZ" sz="2000"/>
              <a:t>a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ostatní porty jsou zablokovány</a:t>
            </a:r>
            <a:r>
              <a:rPr lang="cs-CZ" sz="2000"/>
              <a:t>(</a:t>
            </a:r>
            <a:r>
              <a:rPr lang="cs-CZ" sz="2000">
                <a:solidFill>
                  <a:schemeClr val="accent5">
                    <a:lumMod val="60000"/>
                    <a:lumOff val="40000"/>
                  </a:schemeClr>
                </a:solidFill>
              </a:rPr>
              <a:t>aby nevznikali smyčky</a:t>
            </a:r>
            <a:r>
              <a:rPr lang="cs-CZ" sz="2000"/>
              <a:t>). </a:t>
            </a:r>
          </a:p>
          <a:p>
            <a:r>
              <a:rPr lang="cs-CZ" sz="2000">
                <a:solidFill>
                  <a:schemeClr val="tx2">
                    <a:lumMod val="50000"/>
                    <a:lumOff val="50000"/>
                  </a:schemeClr>
                </a:solidFill>
              </a:rPr>
              <a:t>Porty</a:t>
            </a:r>
            <a:r>
              <a:rPr lang="cs-CZ" sz="2000"/>
              <a:t> mohou mít několik </a:t>
            </a:r>
            <a:r>
              <a:rPr lang="cs-CZ" sz="2000">
                <a:solidFill>
                  <a:schemeClr val="accent6">
                    <a:lumMod val="75000"/>
                  </a:schemeClr>
                </a:solidFill>
              </a:rPr>
              <a:t>stavů</a:t>
            </a:r>
            <a:r>
              <a:rPr lang="cs-CZ" sz="2000"/>
              <a:t>, včetně </a:t>
            </a:r>
            <a:r>
              <a:rPr lang="cs-CZ" sz="2000" b="1" err="1"/>
              <a:t>Blocking</a:t>
            </a:r>
            <a:r>
              <a:rPr lang="cs-CZ" sz="2000" b="1"/>
              <a:t>(</a:t>
            </a:r>
            <a:r>
              <a:rPr lang="cs-CZ"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nepřenášejí data</a:t>
            </a:r>
            <a:r>
              <a:rPr lang="cs-CZ" sz="2000" b="1"/>
              <a:t>)</a:t>
            </a:r>
            <a:r>
              <a:rPr lang="cs-CZ" sz="2000"/>
              <a:t>, </a:t>
            </a:r>
            <a:r>
              <a:rPr lang="cs-CZ" sz="2000" b="1" err="1"/>
              <a:t>Listening</a:t>
            </a:r>
            <a:r>
              <a:rPr lang="cs-CZ" sz="2000" b="1"/>
              <a:t>(</a:t>
            </a:r>
            <a:r>
              <a:rPr lang="cs-CZ"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Porty čekají na BPDU zprávy</a:t>
            </a:r>
            <a:r>
              <a:rPr lang="cs-CZ" sz="2000" b="1"/>
              <a:t>)</a:t>
            </a:r>
            <a:r>
              <a:rPr lang="cs-CZ" sz="2000"/>
              <a:t>, </a:t>
            </a:r>
            <a:r>
              <a:rPr lang="cs-CZ" sz="2000" b="1"/>
              <a:t>Learning(</a:t>
            </a:r>
            <a:r>
              <a:rPr lang="pl-PL"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Porty se učí MAC adresy</a:t>
            </a:r>
            <a:r>
              <a:rPr lang="cs-CZ" sz="2000" b="1"/>
              <a:t>)</a:t>
            </a:r>
            <a:r>
              <a:rPr lang="cs-CZ" sz="2000"/>
              <a:t>, </a:t>
            </a:r>
            <a:r>
              <a:rPr lang="cs-CZ" sz="2000" b="1" err="1"/>
              <a:t>Forwarding</a:t>
            </a:r>
            <a:r>
              <a:rPr lang="cs-CZ" sz="2000" b="1"/>
              <a:t>(</a:t>
            </a:r>
            <a:r>
              <a:rPr lang="cs-CZ"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Porty aktivně přenášejí data</a:t>
            </a:r>
            <a:r>
              <a:rPr lang="cs-CZ" sz="2000" b="1"/>
              <a:t>)</a:t>
            </a:r>
            <a:r>
              <a:rPr lang="cs-CZ" sz="2000"/>
              <a:t> a </a:t>
            </a:r>
            <a:r>
              <a:rPr lang="cs-CZ" sz="2000" b="1" err="1"/>
              <a:t>Disabled</a:t>
            </a:r>
            <a:r>
              <a:rPr lang="cs-CZ" sz="2000" b="1"/>
              <a:t>(</a:t>
            </a:r>
            <a:r>
              <a:rPr lang="cs-CZ"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jsou administrativně vypnuté</a:t>
            </a:r>
            <a:r>
              <a:rPr lang="cs-CZ" sz="2000" b="1"/>
              <a:t>)</a:t>
            </a:r>
            <a:r>
              <a:rPr lang="cs-CZ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98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3B632F-B8E5-BF24-7E49-E837EFB3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534" y="360768"/>
            <a:ext cx="5411754" cy="1325563"/>
          </a:xfrm>
        </p:spPr>
        <p:txBody>
          <a:bodyPr>
            <a:normAutofit/>
          </a:bodyPr>
          <a:lstStyle/>
          <a:p>
            <a:r>
              <a:rPr lang="cs-CZ"/>
              <a:t>Praktická ukázka konfigurace Ethernetu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kabel, Elektronické inženýrství, elektronika, text&#10;&#10;Popis byl vytvořen automaticky">
            <a:extLst>
              <a:ext uri="{FF2B5EF4-FFF2-40B4-BE49-F238E27FC236}">
                <a16:creationId xmlns:a16="http://schemas.microsoft.com/office/drawing/2014/main" id="{06F89D22-FBEE-DBA5-87E4-552BABCE4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56" y="1544709"/>
            <a:ext cx="3941691" cy="394169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B6C777C-DDB1-5F27-F1F2-A93F7038A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7549" y="1686331"/>
            <a:ext cx="738051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Nastavení IP adresy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Příkaz: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ip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IP adresa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[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mask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Příklad: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ip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192.168.1.1 255.255.255.0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Konfigurace VLAN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Vytvoření VLAN: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vlan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[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číslo VLAN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Příklad: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vlan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10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Nastavení portů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Přiřazení portu do VLAN: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switchport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access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vlan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číslo VLAN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Příklad: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interface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fastEthernet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0/1</a:t>
            </a:r>
            <a:b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          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switchport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access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vlan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Aktivace STP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Příkaz: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spanning-tree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mode rapid-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pvst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Základní konfigurace </a:t>
            </a:r>
            <a:r>
              <a:rPr kumimoji="0" lang="cs-CZ" altLang="cs-CZ" sz="2400" b="1" i="0" u="none" strike="noStrike" cap="none" normalizeH="0" baseline="0" err="1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switchů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Uložení konfigurace: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cs-CZ" altLang="cs-CZ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memory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nebo 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copy 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running-config</a:t>
            </a:r>
            <a:r>
              <a:rPr kumimoji="0" lang="cs-CZ" altLang="cs-CZ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startup-</a:t>
            </a:r>
            <a:r>
              <a:rPr kumimoji="0" lang="cs-CZ" altLang="cs-CZ" sz="1800" b="0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config</a:t>
            </a:r>
            <a:endParaRPr kumimoji="0" lang="cs-CZ" altLang="cs-CZ" sz="18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51147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Motiv Office</vt:lpstr>
      <vt:lpstr>Vrstva síťového rozhraní se zaměřením na ethernet    Vítězslav Nikel a Patrik Tomaštík </vt:lpstr>
      <vt:lpstr>Fyzická vrstva (Layer 1)</vt:lpstr>
      <vt:lpstr>Linková vrstva (Layer 2)</vt:lpstr>
      <vt:lpstr>Tři typy médií pro přenos v počítačových sítích</vt:lpstr>
      <vt:lpstr>Standardy kabelů Cat3 až Cat6a, T568A/B, konektory, využití křížených kabelů</vt:lpstr>
      <vt:lpstr>Optické rozvody a Snellův zákon</vt:lpstr>
      <vt:lpstr>Základní popis rámce</vt:lpstr>
      <vt:lpstr>Historie Ethernetu, standardy</vt:lpstr>
      <vt:lpstr>Adresace v Ethernetu</vt:lpstr>
      <vt:lpstr>Kolizní doména, přístupová metoda a způsob řešení kolize</vt:lpstr>
      <vt:lpstr>Síťový hardware zajišťující funkcionalitu a jejich rozdíly</vt:lpstr>
      <vt:lpstr>PowerPoint Presentation</vt:lpstr>
      <vt:lpstr>Zajištění redundance a navýšení přenosové kapacity přenosové linky</vt:lpstr>
      <vt:lpstr>STP (Spanning Tree Protocol)</vt:lpstr>
      <vt:lpstr>Praktická ukázka konfigurace Ethernetu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Tomaštík</dc:creator>
  <cp:revision>1</cp:revision>
  <dcterms:created xsi:type="dcterms:W3CDTF">2024-09-09T16:01:36Z</dcterms:created>
  <dcterms:modified xsi:type="dcterms:W3CDTF">2024-12-03T10:16:34Z</dcterms:modified>
</cp:coreProperties>
</file>