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7F131B-FB7C-C1DC-8774-6E07E1FD307E}" v="12" dt="2024-11-26T09:41:17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el Fabián" userId="S::it2106@sspu-opava.cz::5479c31f-e388-4b0e-8cf1-040d5d1a8356" providerId="AD" clId="Web-{ED7F131B-FB7C-C1DC-8774-6E07E1FD307E}"/>
    <pc:docChg chg="modSld">
      <pc:chgData name="Pavel Fabián" userId="S::it2106@sspu-opava.cz::5479c31f-e388-4b0e-8cf1-040d5d1a8356" providerId="AD" clId="Web-{ED7F131B-FB7C-C1DC-8774-6E07E1FD307E}" dt="2024-11-26T09:41:17.322" v="11" actId="20577"/>
      <pc:docMkLst>
        <pc:docMk/>
      </pc:docMkLst>
      <pc:sldChg chg="modSp">
        <pc:chgData name="Pavel Fabián" userId="S::it2106@sspu-opava.cz::5479c31f-e388-4b0e-8cf1-040d5d1a8356" providerId="AD" clId="Web-{ED7F131B-FB7C-C1DC-8774-6E07E1FD307E}" dt="2024-11-26T09:41:17.322" v="11" actId="20577"/>
        <pc:sldMkLst>
          <pc:docMk/>
          <pc:sldMk cId="4015841394" sldId="270"/>
        </pc:sldMkLst>
        <pc:spChg chg="mod">
          <ac:chgData name="Pavel Fabián" userId="S::it2106@sspu-opava.cz::5479c31f-e388-4b0e-8cf1-040d5d1a8356" providerId="AD" clId="Web-{ED7F131B-FB7C-C1DC-8774-6E07E1FD307E}" dt="2024-11-26T09:41:17.322" v="11" actId="20577"/>
          <ac:spMkLst>
            <pc:docMk/>
            <pc:sldMk cId="4015841394" sldId="270"/>
            <ac:spMk id="2" creationId="{4D5FD0E9-E3A2-27EF-FBF5-CC0BB3F4EE0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DADE0234-3CCC-41FE-8FE7-E2D4886EEB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E434361-0155-4EC4-97D8-10481E92BF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81E22-8C76-44B8-8529-DE0560182696}" type="datetime1">
              <a:rPr lang="cs-CZ" smtClean="0"/>
              <a:t>26.11.2024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8FE38ED-6084-4925-B611-F04F2960C0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BBCF3A6-EE37-4DDE-BC1B-6FDB66D075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A8695-D682-4D6B-A815-9BA6D7B1B47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80302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BDD71-927B-4C60-8CA9-BF1633762599}" type="datetime1">
              <a:rPr lang="cs-CZ" smtClean="0"/>
              <a:pPr/>
              <a:t>26.11.2024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Po kliknutí můžete upravovat styly textu v předloze.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D3200-D926-4D72-9086-9598A40CA5EB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2809508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>
          <a:xfrm>
            <a:off x="3756378" y="4423128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D3200-D926-4D72-9086-9598A40CA5EB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4671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rtlCol="0"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1751012" y="3886200"/>
            <a:ext cx="8676222" cy="190500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8BAC63-A8F3-426E-91E4-B39CCA99A513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68EE56-41E8-478E-A063-D39880267FB3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rtlCol="0" anchor="b"/>
          <a:lstStyle>
            <a:lvl1pPr algn="r">
              <a:defRPr sz="4000" b="0" cap="all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73211E-3269-47A5-BC4C-BE4215BE817A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C2BCBF-FFF4-4148-96A8-E88AE2CA7701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FA57FF-EF21-41A8-AF85-06EBE3182141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54A803-60E7-4CB4-8717-AA350840E234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99517E-D56E-4359-9F3C-A8897F29BDEA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B12161-7176-4D5B-8056-430EE5D06A4B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14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 rtlCol="0"/>
          <a:lstStyle/>
          <a:p>
            <a:pPr rtl="0"/>
            <a:fld id="{CF64EAC3-A0E8-44DE-8044-9AE96767D5DD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B0CCB2-C43D-4640-93D1-23CBBA70831D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 a titul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rtlCol="0" anchor="ctr">
            <a:normAutofit/>
          </a:bodyPr>
          <a:lstStyle>
            <a:lvl1pPr algn="l">
              <a:defRPr sz="3200" b="0" cap="all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D2201A-8DD9-4A85-96D5-53325C88F4BF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ové pole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 sz="8000" noProof="0">
                <a:solidFill>
                  <a:schemeClr val="accent1"/>
                </a:solidFill>
              </a:rPr>
              <a:t>„</a:t>
            </a:r>
          </a:p>
        </p:txBody>
      </p:sp>
      <p:sp>
        <p:nvSpPr>
          <p:cNvPr id="15" name="Textové pole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cs-CZ" sz="8000" noProof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rtlCol="0"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10" name="Zástupný symbol pro text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7E1655-7F68-49AF-ABC4-FD65DF6A72CE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rtlCol="0" anchor="b">
            <a:normAutofit/>
          </a:bodyPr>
          <a:lstStyle>
            <a:lvl1pPr algn="l">
              <a:defRPr sz="3200" b="0" cap="all"/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D4323E-3470-4876-BAA3-6CFC35638558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ové pole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 sz="8000" noProof="0">
                <a:solidFill>
                  <a:schemeClr val="accent1"/>
                </a:solidFill>
              </a:rPr>
              <a:t>„</a:t>
            </a:r>
          </a:p>
        </p:txBody>
      </p:sp>
      <p:sp>
        <p:nvSpPr>
          <p:cNvPr id="15" name="Textové pole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cs-CZ" sz="8000" noProof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rtlCol="0"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10" name="Zástupný symbol pro text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4BAD9-815C-4EAE-90B4-3F66DC650CC6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cs-CZ" noProof="0"/>
              <a:t>Kliknutím lze upravit styl.</a:t>
            </a:r>
          </a:p>
        </p:txBody>
      </p:sp>
      <p:sp>
        <p:nvSpPr>
          <p:cNvPr id="10" name="Zástupný symbol pro text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87C48-0B53-45FF-81F4-1EAB788A6043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97F6F1-75C7-4AA8-9FA5-6E1B89FC713E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 rtlCol="0"/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rtlCol="0" anchor="t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E17FAF-227B-4F41-92E7-817005B3887A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cs-CZ" noProof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06D41FCE-064C-4C8A-B38B-A5B7D0335424}" type="datetime1">
              <a:rPr lang="cs-CZ" noProof="0" smtClean="0"/>
              <a:t>26.11.2024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116012" y="257909"/>
            <a:ext cx="9955990" cy="3268784"/>
          </a:xfrm>
        </p:spPr>
        <p:txBody>
          <a:bodyPr rtlCol="0"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8. Modely počítačových sítí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Matěj </a:t>
            </a:r>
            <a:r>
              <a:rPr lang="cs-CZ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Vilášek</a:t>
            </a:r>
          </a:p>
        </p:txBody>
      </p:sp>
    </p:spTree>
    <p:extLst>
      <p:ext uri="{BB962C8B-B14F-4D97-AF65-F5344CB8AC3E}">
        <p14:creationId xmlns:p14="http://schemas.microsoft.com/office/powerpoint/2010/main" val="297922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D8775025-7ECB-4458-BBCE-0F67B8B23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1E7E66F-9926-9D72-394E-E98DEBDF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cs-CZ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Úvod: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63E5C1-04CA-0798-8101-67EF51E4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6393712" cy="3216276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cs-CZ" sz="1800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Definice:</a:t>
            </a:r>
            <a:r>
              <a:rPr lang="cs-CZ" sz="1800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Skupina propojených zařízení (počítačů, serverů) pro sdílení dat a zdrojů.</a:t>
            </a:r>
            <a:endParaRPr lang="cs-CZ" sz="1800">
              <a:solidFill>
                <a:schemeClr val="bg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Typy sítí:</a:t>
            </a:r>
            <a:endParaRPr lang="cs-CZ" sz="1800">
              <a:solidFill>
                <a:schemeClr val="bg1"/>
              </a:solidFill>
              <a:effectLst>
                <a:glow rad="38100">
                  <a:prstClr val="white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LAN:</a:t>
            </a:r>
            <a:r>
              <a:rPr lang="cs-CZ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Místní síť (např. kancelář).</a:t>
            </a:r>
            <a:endParaRPr lang="cs-CZ">
              <a:solidFill>
                <a:schemeClr val="bg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WAN:</a:t>
            </a:r>
            <a:r>
              <a:rPr lang="cs-CZ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Rozlehlá síť (např. mezi městy).</a:t>
            </a:r>
            <a:endParaRPr lang="cs-CZ">
              <a:solidFill>
                <a:schemeClr val="bg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MAN:</a:t>
            </a:r>
            <a:r>
              <a:rPr lang="cs-CZ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Regionální síť (např. město).</a:t>
            </a:r>
            <a:endParaRPr lang="cs-CZ">
              <a:solidFill>
                <a:schemeClr val="bg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None/>
            </a:pPr>
            <a:r>
              <a:rPr lang="cs-CZ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Význam síťových modelů</a:t>
            </a:r>
            <a:endParaRPr lang="cs-CZ">
              <a:solidFill>
                <a:schemeClr val="bg1"/>
              </a:solidFill>
              <a:effectLst>
                <a:glow rad="38100">
                  <a:prstClr val="white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Standardizace komunikace:</a:t>
            </a:r>
            <a:r>
              <a:rPr lang="cs-CZ" sz="1800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Zajištění, aby zařízení od různých výrobců spolupracovala.</a:t>
            </a:r>
            <a:endParaRPr lang="cs-CZ" sz="1800">
              <a:solidFill>
                <a:schemeClr val="bg1"/>
              </a:solidFill>
              <a:effectLst>
                <a:glow rad="38100">
                  <a:prstClr val="white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Dva hlavní modely:</a:t>
            </a:r>
            <a:r>
              <a:rPr lang="cs-CZ" sz="1800">
                <a:solidFill>
                  <a:schemeClr val="bg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OSI a TCP/IP model.</a:t>
            </a:r>
            <a:endParaRPr lang="cs-CZ" sz="1800">
              <a:solidFill>
                <a:schemeClr val="bg1"/>
              </a:solidFill>
            </a:endParaRPr>
          </a:p>
          <a:p>
            <a:pPr marL="457200" lvl="1" indent="0">
              <a:lnSpc>
                <a:spcPct val="90000"/>
              </a:lnSpc>
              <a:buFont typeface="Courier New"/>
              <a:buNone/>
            </a:pPr>
            <a:endParaRPr lang="cs-CZ" sz="140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400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DC1507B9-61AE-4D79-BA04-EF381B54E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0839" y="620720"/>
            <a:ext cx="4001315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LAN - FineProxy Glosář">
            <a:extLst>
              <a:ext uri="{FF2B5EF4-FFF2-40B4-BE49-F238E27FC236}">
                <a16:creationId xmlns:a16="http://schemas.microsoft.com/office/drawing/2014/main" id="{F47B4116-F777-85A6-261B-4B2503E0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715" y="2498396"/>
            <a:ext cx="3033562" cy="151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68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262C7C-ABCF-20C6-11B9-CA99BDEC3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813" y="234122"/>
            <a:ext cx="5122606" cy="1905000"/>
          </a:xfrm>
        </p:spPr>
        <p:txBody>
          <a:bodyPr>
            <a:normAutofit/>
          </a:bodyPr>
          <a:lstStyle/>
          <a:p>
            <a:r>
              <a:rPr lang="cs-CZ" cap="small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Co je OSI model?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C7FEE3-E5D0-ED45-43F0-EDDDCF89C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162" y="1485347"/>
            <a:ext cx="6525125" cy="386784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OSI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OSI model (Open Systems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Interconnection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je referenční model pro síťovou komunikaci vytvořený organizací ISO.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Slouží jako standard pro porozumění a návrh síťových protokolů a jejich interakcí.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Účel a význam OSI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Standardizace: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Umožňuje různým systémům od různých výrobců vzájemně komunikovat.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Vrstevnatá struktura: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Rozděluje síťové funkce do 7 jasně definovaných vrstev, což usnadňuje jejich správu a porozumění.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Hlavní výhody OSI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Modularita: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Každá vrstva má specifickou funkci a může být upravena nebo vyměněna bez ovlivnění ostatních vrstev.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Flexibilita: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Usnadňuje vývoj a integraci nových technologií.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9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Obrázek 3" descr="What Can the OSI Model Teach You About Data Transportation?">
            <a:extLst>
              <a:ext uri="{FF2B5EF4-FFF2-40B4-BE49-F238E27FC236}">
                <a16:creationId xmlns:a16="http://schemas.microsoft.com/office/drawing/2014/main" id="{2813CDB6-A5E0-7D01-3044-C00A04F2B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2" y="1813933"/>
            <a:ext cx="4899454" cy="321931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6761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45CC2B-5283-18C8-F893-61B645B1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22" y="228600"/>
            <a:ext cx="6573685" cy="1572847"/>
          </a:xfrm>
        </p:spPr>
        <p:txBody>
          <a:bodyPr>
            <a:normAutofit/>
          </a:bodyPr>
          <a:lstStyle/>
          <a:p>
            <a:r>
              <a:rPr lang="cs-CZ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7 vrstev OSI modelu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4BB559-86A3-E8CC-CF33-D320CE741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577" y="1797538"/>
            <a:ext cx="7325914" cy="456442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Přehled vrstev OSI modelu: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1. Fyzická vrstva (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Physical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Přenos surových dat (bitů) přes fyzická média.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2. Linková vrstva (Data Link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Zajišťuje správu přenosu dat na lokální síti (rámce).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3. Síťová vrstva (Network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Řídí směrování paketů v síti (IP adresy).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4. Transportní vrstva (Transport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Poskytuje spolehlivý přenos dat mezi zařízeními (TCP/UDP).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5. Relační vrstva (Session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Spravuje a udržuje komunikační relace mezi aplikacemi.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6. Prezentační vrstva (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Presentation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Převádí data do srozumitelného formátu (kódování, šifrování).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7. Aplikační vrstva (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Application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Nabízí služby pro koncové uživatele (e-maily, web).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 vrstev: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Každá vrstva plní specifickou roli v procesu síťové komunikace.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Spolupráce vrstev zajišťuje plynulý tok informací od odesílatele k příjemci.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0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Obrázek 4" descr="What is OSI Model in Computer Network | 7 Layers Explained - CodeRepublics">
            <a:extLst>
              <a:ext uri="{FF2B5EF4-FFF2-40B4-BE49-F238E27FC236}">
                <a16:creationId xmlns:a16="http://schemas.microsoft.com/office/drawing/2014/main" id="{1EE785A2-C207-CA2C-5795-184FE47A5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531" y="2130106"/>
            <a:ext cx="4426172" cy="260013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181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4CBC33-3EFA-160A-1D7B-19048162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696172" cy="1441174"/>
          </a:xfrm>
        </p:spPr>
        <p:txBody>
          <a:bodyPr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Fyzická a Linková vrstva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D34B44-989F-C4B9-67DB-46C6CB6FC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761" y="2644912"/>
            <a:ext cx="11474171" cy="336715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1. Fyzická vrstva (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Physical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Zajišťuje fyzický přenos dat (bitů) mezi zařízeními přes různá média (kabely, optická vlákna, bezdrátové signály).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Ethernet kabely, Wi-Fi signály, optické vlákno.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Role: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Převádí digitální data na elektrické, světelné nebo rádiové signály.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2. Linková vrstva (Data Link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Řídí komunikaci mezi zařízeními na stejné síti a zajišťuje spolehlivý přenos dat (rámcování).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Rozdělení: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Skládá se ze dvou podvrstev: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MAC (Media Access 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Kontroluje přístup k síťovému médiu.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LLC (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Logical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Link 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Zajišťuje řízení toku a detekci chyb.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 protokolů: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Ethernet, PPP (Point-to-Point 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62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E62DC1-84E0-2F49-32C6-5DB1183C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08226"/>
            <a:ext cx="9905998" cy="1905000"/>
          </a:xfrm>
        </p:spPr>
        <p:txBody>
          <a:bodyPr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Síťová a Transportní vrstva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317A41-64E7-8C5F-B0C8-E6EF6BB2A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435086"/>
            <a:ext cx="10248345" cy="357698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3. Síťová vrstva (Network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Řídí směrování datových paketů mezi sítěmi a zajišťuje jejich doručení na správnou adresu.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 protokolů: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IP (Internet 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), ICMP (Internet 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Message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Role: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Přiděluje adresy, směruje pakety a rozhoduje o nejlepších cestách pro jejich přenos.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4. Transportní vrstva (Transport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Zajišťuje spolehlivý nebo nespolehlivý přenos dat mezi koncovými zařízeními.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Protokoly: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TCP (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Transmission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Spolehlivý přenos dat (kontrola spojení, oprava chyb).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UDP (User Datagram </a:t>
            </a:r>
            <a:r>
              <a:rPr lang="cs-CZ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Nespolehlivý přenos (rychlý, ale bez záruky doručení).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Role: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Řídí rozdělení dat na segmenty, kontrolu chyb a řízení toku.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508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5246C0-7126-E434-CF2D-2B1BE43D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66" y="425072"/>
            <a:ext cx="3431919" cy="2840900"/>
          </a:xfrm>
        </p:spPr>
        <p:txBody>
          <a:bodyPr>
            <a:normAutofit/>
          </a:bodyPr>
          <a:lstStyle/>
          <a:p>
            <a:r>
              <a:rPr lang="cs-CZ" sz="28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Relační, Prezentační a Aplikační vrstva</a:t>
            </a:r>
            <a:endParaRPr lang="cs-CZ" sz="28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4FA0D1-B597-1F9A-F35A-A12F0BEB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5" y="668029"/>
            <a:ext cx="7468663" cy="547371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5. Relační vrstva (Session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Spravuje a udržuje komunikační relace mezi aplikacemi.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Role: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Nastavuje, spravuje a ukončuje spojení (relace) mezi koncovými body.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Protokoly pro správu relací jako RPC (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Remote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8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Procedure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Call).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6. Prezentační vrstva (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Presentation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Převádí data do formátu srozumitelného pro aplikační vrstvu.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Role: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Zajišťuje kódování, šifrování a kompresi dat.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Formáty dat jako JPEG, GIF (pro obrázky) a SSL/TLS (pro šifrování).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7. Aplikační vrstva (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Application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Funkce: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Poskytuje síťové služby přímo koncovým uživatelům.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Role: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Zajišťuje přístup aplikací k síťovým funkcím.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Příklady:</a:t>
            </a: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Protokoly jako HTTP, FTP, SMTP (pro web, soubory a e-maily).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1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Obrázek 3" descr="Jiří Peterka:">
            <a:extLst>
              <a:ext uri="{FF2B5EF4-FFF2-40B4-BE49-F238E27FC236}">
                <a16:creationId xmlns:a16="http://schemas.microsoft.com/office/drawing/2014/main" id="{1D2B51E1-17FA-FFD2-2EBA-0ADADB9F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8" y="4189763"/>
            <a:ext cx="3558596" cy="1647873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835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2778EC-1FE1-CF71-57A9-E15289AB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3908"/>
            <a:ext cx="6573685" cy="1455616"/>
          </a:xfrm>
        </p:spPr>
        <p:txBody>
          <a:bodyPr>
            <a:normAutofit/>
          </a:bodyPr>
          <a:lstStyle/>
          <a:p>
            <a:r>
              <a:rPr lang="cs-CZ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Co je TCP/IP model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63782B-2761-2F37-4FBF-8AF148B9D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1338384"/>
            <a:ext cx="6573684" cy="530689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TCP/IP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TCP/IP model (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Transmission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/Internet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je sada komunikačních protokolů používaná pro propojení zařízení v síti a přenos dat přes internet.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Vznikl jako praktická implementace pro komunikaci v reálných sítích, čímž se odlišuje od teoretického OSI modelu.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Struktura a vrstvy TCP/IP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Skládá se ze 4 vrstev (na rozdíl od 7 vrstev OSI modelu):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Síťové rozhraní (Network Interface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Internetová vrstva (Internet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Transportní vrstva (Transport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Aplikační vrstva (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Application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Význam TCP/IP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Standard internetu: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TCP/IP je základem komunikace v dnešním internetu.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Flexibilita a jednoduchost: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Díky své jednoduché struktuře je široce používán a snadno implementovatelný.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9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Obrázek 4" descr="Tcp ip - transmission control protocol internet Vector Image">
            <a:extLst>
              <a:ext uri="{FF2B5EF4-FFF2-40B4-BE49-F238E27FC236}">
                <a16:creationId xmlns:a16="http://schemas.microsoft.com/office/drawing/2014/main" id="{64911D8F-3D6E-64F5-AC5B-78DA633DD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915" y="2319338"/>
            <a:ext cx="20574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7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C58EB8-FAC3-27B4-7E8F-6F4D4BD8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234122"/>
            <a:ext cx="6573685" cy="1905000"/>
          </a:xfrm>
        </p:spPr>
        <p:txBody>
          <a:bodyPr>
            <a:normAutofit/>
          </a:bodyPr>
          <a:lstStyle/>
          <a:p>
            <a:r>
              <a:rPr lang="cs-CZ"/>
              <a:t>Vrstvy TCP/IP modelu</a:t>
            </a:r>
          </a:p>
          <a:p>
            <a:pPr marL="285750" indent="-285750">
              <a:buFont typeface="Arial"/>
              <a:buChar char="•"/>
            </a:pPr>
            <a:endParaRPr lang="cs-CZ"/>
          </a:p>
          <a:p>
            <a:endParaRPr lang="cs-CZ"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2C8791-4B88-BF82-8F21-1FD22414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40" y="1187173"/>
            <a:ext cx="6739336" cy="381262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Přehled vrstev TCP/IP modelu: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1. Síťové rozhraní (Network Interface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Odpovídá za fyzický přenos dat mezi zařízeními.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Obsahuje protokoly pro práci s fyzickými médii, jako jsou Ethernet nebo Wi-Fi.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2. Internetová vrstva (Internet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Zajišťuje směrování datových paketů mezi sítěmi.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Klíčový protokol: 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IP (Internet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který určuje adresování a trasování paketů.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3. Transportní vrstva (Transport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Poskytuje spolehlivý nebo nespolehlivý přenos dat mezi aplikacemi.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Klíčové protokoly: 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TCP (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Transmission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 spolehlivý přenos a 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UDP (User Datagram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 rychlý, ale nespolehlivý přenos.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4. Aplikační vrstva (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Application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Nabízí síťové služby koncovým uživatelům.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Obsahuje protokoly jako 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HTTP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FTP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SMTP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které jsou použité pro webové stránky, přenos souborů a e-maily.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7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5" name="Obrázek 4" descr="What is TCP IP">
            <a:extLst>
              <a:ext uri="{FF2B5EF4-FFF2-40B4-BE49-F238E27FC236}">
                <a16:creationId xmlns:a16="http://schemas.microsoft.com/office/drawing/2014/main" id="{3AF45452-C25A-0301-84F6-1355F1659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9" y="2145537"/>
            <a:ext cx="3976788" cy="311931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9248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188977-C59E-B23C-0A47-16473933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77" y="-650818"/>
            <a:ext cx="3431919" cy="5215247"/>
          </a:xfrm>
        </p:spPr>
        <p:txBody>
          <a:bodyPr>
            <a:normAutofit/>
          </a:bodyPr>
          <a:lstStyle/>
          <a:p>
            <a:r>
              <a:rPr lang="cs-CZ" sz="28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Enkapsulace a dekapsulace</a:t>
            </a:r>
            <a:endParaRPr lang="cs-CZ" sz="2800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9F19D7-00F7-4CD6-7D35-E356B2B6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100" y="912260"/>
            <a:ext cx="6828142" cy="529744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enkapsulace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Enkapsulace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je proces, při kterém se data odesílaná přes síť "obalují" do různých vrstev protokolů na základě modelu (např. OSI nebo TCP/IP).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Každá vrstva přidává své vlastní hlavičky (a někdy i patičky) k datům, čímž vytváří "datagramy" nebo "pakety".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Jak funguje </a:t>
            </a:r>
            <a:r>
              <a:rPr lang="cs-CZ" sz="15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enkapsulace</a:t>
            </a: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Aplikační vrstva: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Uživatelé generují data, která jsou poslána do aplikační vrstvy.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Transportní vrstva: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Přidává hlavičku obsahující informace o přenosu (např. čísla portů).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Síťová vrstva: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Přidává hlavičku s informacemi o směrování (např. IP adresy).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Linková vrstva: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Přidává hlavičku s informacemi o přístupu k médiu (např. MAC adresy).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dekapsulace: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Dekapsulace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je proces na příjemní straně, kdy se data postupně "odbaluji" z protokolových vrstev.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Každá vrstva odstraní svou hlavičku a předá data vrstvě nad ní.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Význam: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5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Enkapsulace</a:t>
            </a:r>
            <a:r>
              <a:rPr lang="cs-CZ" sz="15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 dekapsulace zajišťují, že data jsou správně přenášena mezi zařízeními a že každá vrstva ví, jaká data zpracovává.</a:t>
            </a:r>
            <a:endParaRPr lang="cs-CZ" sz="15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9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Obrázek 3" descr="KONFIGURACE SÍŤOVÝCH PRVKŦ A PROTOKOLŦ">
            <a:extLst>
              <a:ext uri="{FF2B5EF4-FFF2-40B4-BE49-F238E27FC236}">
                <a16:creationId xmlns:a16="http://schemas.microsoft.com/office/drawing/2014/main" id="{8FB0A49E-50FB-804B-9A45-D418AA656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37" y="4108211"/>
            <a:ext cx="3123881" cy="1647873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39660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FE22B1-0FC6-5341-B85C-ADAE9B9C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96573"/>
            <a:ext cx="9905998" cy="1905000"/>
          </a:xfrm>
        </p:spPr>
        <p:txBody>
          <a:bodyPr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Směrování a řízení toku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A1E59C-C569-15BC-8E05-D07E9170E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70042"/>
            <a:ext cx="9905998" cy="387515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směrování: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Směrování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je proces, při kterém jsou datové pakety směrovány z jednoho zařízení na druhé v rámci různých sítí.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Směrovače (</a:t>
            </a:r>
            <a:r>
              <a:rPr lang="cs-CZ" sz="140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routers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 používají směrovací tabulky a protokoly k určení nejlepší cesty pro přenos dat.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Hlavní typy směrování: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Statické směrování: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Směrovací tabulky jsou manuálně konfigurovány administrátorem.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Používá se v menších nebo stabilních sítích.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Dynamické směrování: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Směrovací tabulky se automaticky aktualizují pomocí směrovacích protokolů (např. RIP, OSPF, BGP).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Používá se v větších nebo měnících se sítích.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řízení toku: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Řízení toku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je technika používaná k zajištění efektivního a bezpečného přenosu dat mezi zařízeními.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Zajišťuje, že odesílatel nevysílá data rychleji, než je příjemce schopen zpracovat.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Metody řízení toku: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Stop-and-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Wait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Odesílatel čeká na potvrzení od příjemce před odesláním dalšího segmentu.</a:t>
            </a:r>
            <a:endParaRPr lang="cs-CZ" sz="14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Sliding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4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Window</a:t>
            </a:r>
            <a:r>
              <a:rPr lang="cs-CZ" sz="14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:</a:t>
            </a:r>
            <a:r>
              <a:rPr lang="cs-CZ" sz="1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Odesílatel může odeslat více segmentů, než dostane potvrzení, čímž se zvyšuje efektivita.</a:t>
            </a:r>
            <a:endParaRPr lang="cs-CZ" sz="2400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009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E57884-9492-C97D-9EF4-EEAA1D73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cs-CZ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Protokoly v TCP/IP modelu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2C53CB-811B-C088-546B-7E26B8D3E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022230"/>
            <a:ext cx="6573684" cy="32162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Definice protokolů: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Protokoly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jsou soubory pravidel a standardů, které určují, jak se data přenášejí mezi zařízeními v síti.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Každá vrstva TCP/IP modelu využívá různé protokoly k plnění svých funkcí.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Hlavní protokoly podle vrstev TCP/IP modelu: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Síťové rozhraní (Network Interface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Ethernet: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Nejčastěji používaný protokol pro místní sítě (LAN).</a:t>
            </a: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Wi-Fi: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Bezdrátový protokol pro přenos dat.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Internetová vrstva (Internet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Layer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pPr lvl="1">
              <a:lnSpc>
                <a:spcPct val="90000"/>
              </a:lnSpc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IP (Internet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Základní protokol pro adresaci a směrování datových paketů.</a:t>
            </a:r>
          </a:p>
          <a:p>
            <a:pPr lvl="2">
              <a:lnSpc>
                <a:spcPct val="90000"/>
              </a:lnSpc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IPv4: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Starší verze s 32bitovými adresami.</a:t>
            </a:r>
          </a:p>
          <a:p>
            <a:pPr lvl="2">
              <a:lnSpc>
                <a:spcPct val="90000"/>
              </a:lnSpc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IPv6: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Novější verze s 128bitovými adresami, určená pro rozšíření adresního prostoru.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cs-CZ" sz="1000" b="1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Obrázek 3" descr="Internetové služby. Protokoly FTP, HTTP/HTTPS, SSH, TFTP, NFS, NTP, ICMP,  DNS, Telnet, XMPP">
            <a:extLst>
              <a:ext uri="{FF2B5EF4-FFF2-40B4-BE49-F238E27FC236}">
                <a16:creationId xmlns:a16="http://schemas.microsoft.com/office/drawing/2014/main" id="{BDC9B7A1-0DB0-8EAA-699B-95D9CFA7F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9" y="2170392"/>
            <a:ext cx="3976788" cy="219717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9896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222BDC-ECD5-1A08-8AFA-60F62FCA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3687"/>
            <a:ext cx="9905998" cy="1905000"/>
          </a:xfrm>
        </p:spPr>
        <p:txBody>
          <a:bodyPr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Protokoly v TCP/IP modelu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03F0C9-8629-4CEE-ABF1-A172A09AC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810564"/>
            <a:ext cx="9905998" cy="312420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Hlavní protokoly podle vrstev TCP/IP modelu (pokračování):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Transportní vrstva (Transport Layer):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TCP (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Transmission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Control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 pro spolehlivý přenos dat s kontrolou chyb a řízením toku.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UDP (User Datagram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Rychlý, nespolehlivý protokol bez zajištění doručení.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Aplikační vrstva (</a:t>
            </a:r>
            <a:r>
              <a:rPr lang="cs-CZ" sz="18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Application</a:t>
            </a:r>
            <a:r>
              <a:rPr lang="cs-CZ" sz="18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Layer):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HTTP (Hypertext Transfer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 pro přenos webových stránek.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FTP (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File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Transfer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 pro přenos souborů.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SMTP (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Simple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Mail Transfer </a:t>
            </a:r>
            <a:r>
              <a:rPr lang="cs-CZ" sz="1600" b="1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Protocol</a:t>
            </a: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):</a:t>
            </a:r>
            <a:r>
              <a:rPr lang="cs-CZ" sz="16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 pro odesílání e-mailů.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</a:pPr>
            <a:r>
              <a:rPr lang="cs-CZ" sz="1600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Význam protokolů:</a:t>
            </a:r>
            <a:endParaRPr lang="cs-CZ" sz="16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Zajišťují interoperabilitu mezi různými zařízeními a aplikacemi.</a:t>
            </a:r>
            <a:endParaRPr lang="cs-CZ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sz="1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Umožňují efektivní a bezpečnou komunikaci v síti.</a:t>
            </a:r>
            <a:endParaRPr lang="cs-CZ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2391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62CB44-CBC4-DDA7-D73D-F17BAB2C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Praktické aplikace modelů počítačových sítí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B5DE13-8189-0A85-9FEB-BA62E6308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4029765"/>
          </a:xfrm>
        </p:spPr>
        <p:txBody>
          <a:bodyPr>
            <a:normAutofit fontScale="92500" lnSpcReduction="10000"/>
          </a:bodyPr>
          <a:lstStyle/>
          <a:p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Využití OSI modelu:</a:t>
            </a:r>
            <a:endParaRPr lang="cs-CZ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Diagnostika: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Umožňuje identifikovat problémy s přenosem dat podle vrstev.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Standardizace: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Rámec pro vývoj nových protokolů a technologií.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Využití TCP/IP modelu:</a:t>
            </a:r>
            <a:endParaRPr lang="cs-CZ"/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Internet: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Základní model pro internetové protokoly a komunikaci.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Síťové aplikace: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Většina moderních aplikací (webové prohlížeče, e-mailové klienty) používá TCP/IP.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Příklady použití:</a:t>
            </a:r>
            <a:endParaRPr lang="cs-CZ"/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E-maily: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Protokoly SMTP (odesílání), POP3/IMAP (příjem).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Webový provoz: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HTTP/HTTPS pro komunikaci mezi servery a prohlížeči.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cs-CZ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Databázové aplikace:</a:t>
            </a:r>
            <a:r>
              <a:rPr lang="cs-CZ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ODBC/JDBC pro připojení k databázím.</a:t>
            </a: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3205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5FD0E9-E3A2-27EF-FBF5-CC0BB3F4E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4859E2-B56B-4D79-0951-76C7F714A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5841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íť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TC103457485[[fn=Mesh]]</Template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Síť</vt:lpstr>
      <vt:lpstr>8. Modely počítačových sítí</vt:lpstr>
      <vt:lpstr>Úvod:</vt:lpstr>
      <vt:lpstr>Co je OSI model?</vt:lpstr>
      <vt:lpstr>7 vrstev OSI modelu</vt:lpstr>
      <vt:lpstr>Fyzická a Linková vrstva</vt:lpstr>
      <vt:lpstr>Síťová a Transportní vrstva</vt:lpstr>
      <vt:lpstr>Relační, Prezentační a Aplikační vrstva</vt:lpstr>
      <vt:lpstr>Co je TCP/IP model</vt:lpstr>
      <vt:lpstr>Vrstvy TCP/IP modelu  </vt:lpstr>
      <vt:lpstr>Enkapsulace a dekapsulace</vt:lpstr>
      <vt:lpstr>Směrování a řízení toku</vt:lpstr>
      <vt:lpstr>Protokoly v TCP/IP modelu</vt:lpstr>
      <vt:lpstr>Protokoly v TCP/IP modelu</vt:lpstr>
      <vt:lpstr>Praktické aplikace modelů počítačových sítí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2024-10-13T14:55:13Z</dcterms:created>
  <dcterms:modified xsi:type="dcterms:W3CDTF">2024-11-26T09:41:57Z</dcterms:modified>
</cp:coreProperties>
</file>